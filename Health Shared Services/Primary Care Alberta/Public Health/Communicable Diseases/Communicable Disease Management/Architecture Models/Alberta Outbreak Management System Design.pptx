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35" r:id="rId4"/>
  </p:sldMasterIdLst>
  <p:notesMasterIdLst>
    <p:notesMasterId r:id="rId25"/>
  </p:notesMasterIdLst>
  <p:sldIdLst>
    <p:sldId id="256" r:id="rId5"/>
    <p:sldId id="340" r:id="rId6"/>
    <p:sldId id="281" r:id="rId7"/>
    <p:sldId id="341" r:id="rId8"/>
    <p:sldId id="282" r:id="rId9"/>
    <p:sldId id="280" r:id="rId10"/>
    <p:sldId id="275" r:id="rId11"/>
    <p:sldId id="276" r:id="rId12"/>
    <p:sldId id="342" r:id="rId13"/>
    <p:sldId id="269" r:id="rId14"/>
    <p:sldId id="270" r:id="rId15"/>
    <p:sldId id="274" r:id="rId16"/>
    <p:sldId id="343" r:id="rId17"/>
    <p:sldId id="272" r:id="rId18"/>
    <p:sldId id="277" r:id="rId19"/>
    <p:sldId id="279" r:id="rId20"/>
    <p:sldId id="273" r:id="rId21"/>
    <p:sldId id="265" r:id="rId22"/>
    <p:sldId id="261" r:id="rId23"/>
    <p:sldId id="267"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45860"/>
    <a:srgbClr val="C7EAFB"/>
    <a:srgbClr val="D0001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D751509-141B-5714-B06A-3DBC4310063E}" v="45" dt="2026-06-02T17:45:10.71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c Blair" userId="S::alec.blair@healthsharedservices.ca::d695081c-6e54-4126-9b9c-e49c5dae6350" providerId="AD" clId="Web-{C4681B83-7471-8B2D-6569-EE0E18E6D773}"/>
    <pc:docChg chg="modSld">
      <pc:chgData name="Alec Blair" userId="S::alec.blair@healthsharedservices.ca::d695081c-6e54-4126-9b9c-e49c5dae6350" providerId="AD" clId="Web-{C4681B83-7471-8B2D-6569-EE0E18E6D773}" dt="2026-05-26T18:56:03.948" v="91" actId="20577"/>
      <pc:docMkLst>
        <pc:docMk/>
      </pc:docMkLst>
      <pc:sldChg chg="addSp modSp">
        <pc:chgData name="Alec Blair" userId="S::alec.blair@healthsharedservices.ca::d695081c-6e54-4126-9b9c-e49c5dae6350" providerId="AD" clId="Web-{C4681B83-7471-8B2D-6569-EE0E18E6D773}" dt="2026-05-26T18:56:03.948" v="91" actId="20577"/>
        <pc:sldMkLst>
          <pc:docMk/>
          <pc:sldMk cId="3476336478" sldId="270"/>
        </pc:sldMkLst>
        <pc:spChg chg="mod">
          <ac:chgData name="Alec Blair" userId="S::alec.blair@healthsharedservices.ca::d695081c-6e54-4126-9b9c-e49c5dae6350" providerId="AD" clId="Web-{C4681B83-7471-8B2D-6569-EE0E18E6D773}" dt="2026-05-26T18:55:51.479" v="76" actId="1076"/>
          <ac:spMkLst>
            <pc:docMk/>
            <pc:sldMk cId="3476336478" sldId="270"/>
            <ac:spMk id="14" creationId="{ECFFAE69-752A-9DE0-59A9-968AAFC96C36}"/>
          </ac:spMkLst>
        </pc:spChg>
        <pc:spChg chg="mod">
          <ac:chgData name="Alec Blair" userId="S::alec.blair@healthsharedservices.ca::d695081c-6e54-4126-9b9c-e49c5dae6350" providerId="AD" clId="Web-{C4681B83-7471-8B2D-6569-EE0E18E6D773}" dt="2026-05-26T18:55:51.511" v="77" actId="1076"/>
          <ac:spMkLst>
            <pc:docMk/>
            <pc:sldMk cId="3476336478" sldId="270"/>
            <ac:spMk id="15" creationId="{14BC39EF-D36C-6B21-119F-4A64813E0788}"/>
          </ac:spMkLst>
        </pc:spChg>
        <pc:spChg chg="mod">
          <ac:chgData name="Alec Blair" userId="S::alec.blair@healthsharedservices.ca::d695081c-6e54-4126-9b9c-e49c5dae6350" providerId="AD" clId="Web-{C4681B83-7471-8B2D-6569-EE0E18E6D773}" dt="2026-05-26T18:55:51.511" v="78" actId="1076"/>
          <ac:spMkLst>
            <pc:docMk/>
            <pc:sldMk cId="3476336478" sldId="270"/>
            <ac:spMk id="17" creationId="{B3E7B327-58F0-54D8-340C-7406CCCC6282}"/>
          </ac:spMkLst>
        </pc:spChg>
        <pc:spChg chg="mod">
          <ac:chgData name="Alec Blair" userId="S::alec.blair@healthsharedservices.ca::d695081c-6e54-4126-9b9c-e49c5dae6350" providerId="AD" clId="Web-{C4681B83-7471-8B2D-6569-EE0E18E6D773}" dt="2026-05-26T18:55:51.526" v="79" actId="1076"/>
          <ac:spMkLst>
            <pc:docMk/>
            <pc:sldMk cId="3476336478" sldId="270"/>
            <ac:spMk id="18" creationId="{67466432-B1F4-F966-0637-08B782F8C143}"/>
          </ac:spMkLst>
        </pc:spChg>
        <pc:spChg chg="mod">
          <ac:chgData name="Alec Blair" userId="S::alec.blair@healthsharedservices.ca::d695081c-6e54-4126-9b9c-e49c5dae6350" providerId="AD" clId="Web-{C4681B83-7471-8B2D-6569-EE0E18E6D773}" dt="2026-05-26T18:55:51.542" v="80" actId="1076"/>
          <ac:spMkLst>
            <pc:docMk/>
            <pc:sldMk cId="3476336478" sldId="270"/>
            <ac:spMk id="19" creationId="{42D3B5F4-AA35-7BB3-2071-916E791C907D}"/>
          </ac:spMkLst>
        </pc:spChg>
        <pc:spChg chg="mod">
          <ac:chgData name="Alec Blair" userId="S::alec.blair@healthsharedservices.ca::d695081c-6e54-4126-9b9c-e49c5dae6350" providerId="AD" clId="Web-{C4681B83-7471-8B2D-6569-EE0E18E6D773}" dt="2026-05-26T18:55:51.558" v="81" actId="1076"/>
          <ac:spMkLst>
            <pc:docMk/>
            <pc:sldMk cId="3476336478" sldId="270"/>
            <ac:spMk id="20" creationId="{989ADF33-D5B3-3AB4-7B1A-35C65F9B6613}"/>
          </ac:spMkLst>
        </pc:spChg>
        <pc:spChg chg="mod">
          <ac:chgData name="Alec Blair" userId="S::alec.blair@healthsharedservices.ca::d695081c-6e54-4126-9b9c-e49c5dae6350" providerId="AD" clId="Web-{C4681B83-7471-8B2D-6569-EE0E18E6D773}" dt="2026-05-26T18:55:51.573" v="82" actId="1076"/>
          <ac:spMkLst>
            <pc:docMk/>
            <pc:sldMk cId="3476336478" sldId="270"/>
            <ac:spMk id="26" creationId="{5C626A96-BD35-BBF7-C8D3-6DCB56CEE2FD}"/>
          </ac:spMkLst>
        </pc:spChg>
        <pc:spChg chg="mod">
          <ac:chgData name="Alec Blair" userId="S::alec.blair@healthsharedservices.ca::d695081c-6e54-4126-9b9c-e49c5dae6350" providerId="AD" clId="Web-{C4681B83-7471-8B2D-6569-EE0E18E6D773}" dt="2026-05-26T18:55:51.589" v="83" actId="1076"/>
          <ac:spMkLst>
            <pc:docMk/>
            <pc:sldMk cId="3476336478" sldId="270"/>
            <ac:spMk id="30" creationId="{0CB8DF07-76EB-29A1-87BE-8391126BCC5D}"/>
          </ac:spMkLst>
        </pc:spChg>
        <pc:spChg chg="add mod">
          <ac:chgData name="Alec Blair" userId="S::alec.blair@healthsharedservices.ca::d695081c-6e54-4126-9b9c-e49c5dae6350" providerId="AD" clId="Web-{C4681B83-7471-8B2D-6569-EE0E18E6D773}" dt="2026-05-26T18:56:03.948" v="91" actId="20577"/>
          <ac:spMkLst>
            <pc:docMk/>
            <pc:sldMk cId="3476336478" sldId="270"/>
            <ac:spMk id="35" creationId="{F3A08920-92EE-3734-2CE5-D0CCB85DE9A8}"/>
          </ac:spMkLst>
        </pc:spChg>
        <pc:spChg chg="add mod">
          <ac:chgData name="Alec Blair" userId="S::alec.blair@healthsharedservices.ca::d695081c-6e54-4126-9b9c-e49c5dae6350" providerId="AD" clId="Web-{C4681B83-7471-8B2D-6569-EE0E18E6D773}" dt="2026-05-26T18:55:59.183" v="87" actId="1076"/>
          <ac:spMkLst>
            <pc:docMk/>
            <pc:sldMk cId="3476336478" sldId="270"/>
            <ac:spMk id="36" creationId="{F4F364BC-43E7-6FF8-F5B5-DC1B2D5C9B18}"/>
          </ac:spMkLst>
        </pc:spChg>
      </pc:sldChg>
      <pc:sldChg chg="addSp delSp modSp">
        <pc:chgData name="Alec Blair" userId="S::alec.blair@healthsharedservices.ca::d695081c-6e54-4126-9b9c-e49c5dae6350" providerId="AD" clId="Web-{C4681B83-7471-8B2D-6569-EE0E18E6D773}" dt="2026-05-26T18:55:10.370" v="75" actId="1076"/>
        <pc:sldMkLst>
          <pc:docMk/>
          <pc:sldMk cId="2796830572" sldId="275"/>
        </pc:sldMkLst>
        <pc:spChg chg="mod">
          <ac:chgData name="Alec Blair" userId="S::alec.blair@healthsharedservices.ca::d695081c-6e54-4126-9b9c-e49c5dae6350" providerId="AD" clId="Web-{C4681B83-7471-8B2D-6569-EE0E18E6D773}" dt="2026-05-26T18:54:07.698" v="55" actId="1076"/>
          <ac:spMkLst>
            <pc:docMk/>
            <pc:sldMk cId="2796830572" sldId="275"/>
            <ac:spMk id="3" creationId="{B4D3ACDB-16A5-D136-E311-34BB3D8479F1}"/>
          </ac:spMkLst>
        </pc:spChg>
        <pc:spChg chg="mod">
          <ac:chgData name="Alec Blair" userId="S::alec.blair@healthsharedservices.ca::d695081c-6e54-4126-9b9c-e49c5dae6350" providerId="AD" clId="Web-{C4681B83-7471-8B2D-6569-EE0E18E6D773}" dt="2026-05-26T18:54:56.245" v="72" actId="1076"/>
          <ac:spMkLst>
            <pc:docMk/>
            <pc:sldMk cId="2796830572" sldId="275"/>
            <ac:spMk id="13" creationId="{ABADBB7B-86EE-90B1-2182-93740A8464E1}"/>
          </ac:spMkLst>
        </pc:spChg>
        <pc:spChg chg="mod">
          <ac:chgData name="Alec Blair" userId="S::alec.blair@healthsharedservices.ca::d695081c-6e54-4126-9b9c-e49c5dae6350" providerId="AD" clId="Web-{C4681B83-7471-8B2D-6569-EE0E18E6D773}" dt="2026-05-26T18:53:43.510" v="29" actId="1076"/>
          <ac:spMkLst>
            <pc:docMk/>
            <pc:sldMk cId="2796830572" sldId="275"/>
            <ac:spMk id="14" creationId="{5C91786E-7739-A7E5-EDDC-035DF53438F3}"/>
          </ac:spMkLst>
        </pc:spChg>
        <pc:spChg chg="mod">
          <ac:chgData name="Alec Blair" userId="S::alec.blair@healthsharedservices.ca::d695081c-6e54-4126-9b9c-e49c5dae6350" providerId="AD" clId="Web-{C4681B83-7471-8B2D-6569-EE0E18E6D773}" dt="2026-05-26T18:53:43.526" v="30" actId="1076"/>
          <ac:spMkLst>
            <pc:docMk/>
            <pc:sldMk cId="2796830572" sldId="275"/>
            <ac:spMk id="15" creationId="{0B594EE2-567B-7C0A-C320-655A6346E32F}"/>
          </ac:spMkLst>
        </pc:spChg>
        <pc:spChg chg="mod">
          <ac:chgData name="Alec Blair" userId="S::alec.blair@healthsharedservices.ca::d695081c-6e54-4126-9b9c-e49c5dae6350" providerId="AD" clId="Web-{C4681B83-7471-8B2D-6569-EE0E18E6D773}" dt="2026-05-26T18:53:34.964" v="16" actId="1076"/>
          <ac:spMkLst>
            <pc:docMk/>
            <pc:sldMk cId="2796830572" sldId="275"/>
            <ac:spMk id="17" creationId="{B8E288B8-FB45-EB25-0B68-E4751E115FBE}"/>
          </ac:spMkLst>
        </pc:spChg>
        <pc:spChg chg="mod">
          <ac:chgData name="Alec Blair" userId="S::alec.blair@healthsharedservices.ca::d695081c-6e54-4126-9b9c-e49c5dae6350" providerId="AD" clId="Web-{C4681B83-7471-8B2D-6569-EE0E18E6D773}" dt="2026-05-26T18:53:34.979" v="17" actId="1076"/>
          <ac:spMkLst>
            <pc:docMk/>
            <pc:sldMk cId="2796830572" sldId="275"/>
            <ac:spMk id="18" creationId="{8EB5766C-6BC0-F4E9-357A-A2CAB226143E}"/>
          </ac:spMkLst>
        </pc:spChg>
        <pc:spChg chg="mod">
          <ac:chgData name="Alec Blair" userId="S::alec.blair@healthsharedservices.ca::d695081c-6e54-4126-9b9c-e49c5dae6350" providerId="AD" clId="Web-{C4681B83-7471-8B2D-6569-EE0E18E6D773}" dt="2026-05-26T18:53:34.995" v="18" actId="1076"/>
          <ac:spMkLst>
            <pc:docMk/>
            <pc:sldMk cId="2796830572" sldId="275"/>
            <ac:spMk id="19" creationId="{1D81C51D-423F-3F1B-AC89-9AC04B2F483A}"/>
          </ac:spMkLst>
        </pc:spChg>
        <pc:spChg chg="mod">
          <ac:chgData name="Alec Blair" userId="S::alec.blair@healthsharedservices.ca::d695081c-6e54-4126-9b9c-e49c5dae6350" providerId="AD" clId="Web-{C4681B83-7471-8B2D-6569-EE0E18E6D773}" dt="2026-05-26T18:53:56.323" v="54" actId="20577"/>
          <ac:spMkLst>
            <pc:docMk/>
            <pc:sldMk cId="2796830572" sldId="275"/>
            <ac:spMk id="20" creationId="{C0AEB3AD-0E8D-4FE7-229A-E869949171BD}"/>
          </ac:spMkLst>
        </pc:spChg>
        <pc:spChg chg="mod">
          <ac:chgData name="Alec Blair" userId="S::alec.blair@healthsharedservices.ca::d695081c-6e54-4126-9b9c-e49c5dae6350" providerId="AD" clId="Web-{C4681B83-7471-8B2D-6569-EE0E18E6D773}" dt="2026-05-26T18:53:35.120" v="23" actId="1076"/>
          <ac:spMkLst>
            <pc:docMk/>
            <pc:sldMk cId="2796830572" sldId="275"/>
            <ac:spMk id="21" creationId="{284525E2-A86D-7771-746C-779DBE697BEB}"/>
          </ac:spMkLst>
        </pc:spChg>
        <pc:spChg chg="mod">
          <ac:chgData name="Alec Blair" userId="S::alec.blair@healthsharedservices.ca::d695081c-6e54-4126-9b9c-e49c5dae6350" providerId="AD" clId="Web-{C4681B83-7471-8B2D-6569-EE0E18E6D773}" dt="2026-05-26T18:53:35.135" v="24" actId="1076"/>
          <ac:spMkLst>
            <pc:docMk/>
            <pc:sldMk cId="2796830572" sldId="275"/>
            <ac:spMk id="22" creationId="{1E1A3834-1750-C488-6D84-55D2BEB75245}"/>
          </ac:spMkLst>
        </pc:spChg>
        <pc:spChg chg="mod">
          <ac:chgData name="Alec Blair" userId="S::alec.blair@healthsharedservices.ca::d695081c-6e54-4126-9b9c-e49c5dae6350" providerId="AD" clId="Web-{C4681B83-7471-8B2D-6569-EE0E18E6D773}" dt="2026-05-26T18:53:35.042" v="20" actId="1076"/>
          <ac:spMkLst>
            <pc:docMk/>
            <pc:sldMk cId="2796830572" sldId="275"/>
            <ac:spMk id="23" creationId="{D94F2C8E-AAB3-05F2-FA0A-E470529913E7}"/>
          </ac:spMkLst>
        </pc:spChg>
        <pc:spChg chg="mod">
          <ac:chgData name="Alec Blair" userId="S::alec.blair@healthsharedservices.ca::d695081c-6e54-4126-9b9c-e49c5dae6350" providerId="AD" clId="Web-{C4681B83-7471-8B2D-6569-EE0E18E6D773}" dt="2026-05-26T18:53:35.073" v="21" actId="1076"/>
          <ac:spMkLst>
            <pc:docMk/>
            <pc:sldMk cId="2796830572" sldId="275"/>
            <ac:spMk id="24" creationId="{462CFBC3-39A5-5319-EA31-92A275C07319}"/>
          </ac:spMkLst>
        </pc:spChg>
        <pc:spChg chg="mod">
          <ac:chgData name="Alec Blair" userId="S::alec.blair@healthsharedservices.ca::d695081c-6e54-4126-9b9c-e49c5dae6350" providerId="AD" clId="Web-{C4681B83-7471-8B2D-6569-EE0E18E6D773}" dt="2026-05-26T18:54:32.151" v="67" actId="20577"/>
          <ac:spMkLst>
            <pc:docMk/>
            <pc:sldMk cId="2796830572" sldId="275"/>
            <ac:spMk id="27" creationId="{1198472B-1D35-C115-0C13-6D92AC62BDBD}"/>
          </ac:spMkLst>
        </pc:spChg>
        <pc:spChg chg="mod">
          <ac:chgData name="Alec Blair" userId="S::alec.blair@healthsharedservices.ca::d695081c-6e54-4126-9b9c-e49c5dae6350" providerId="AD" clId="Web-{C4681B83-7471-8B2D-6569-EE0E18E6D773}" dt="2026-05-26T18:55:10.354" v="74" actId="1076"/>
          <ac:spMkLst>
            <pc:docMk/>
            <pc:sldMk cId="2796830572" sldId="275"/>
            <ac:spMk id="29" creationId="{3DC296B3-E60A-53AC-6FFB-9A839FC8E13E}"/>
          </ac:spMkLst>
        </pc:spChg>
        <pc:spChg chg="mod">
          <ac:chgData name="Alec Blair" userId="S::alec.blair@healthsharedservices.ca::d695081c-6e54-4126-9b9c-e49c5dae6350" providerId="AD" clId="Web-{C4681B83-7471-8B2D-6569-EE0E18E6D773}" dt="2026-05-26T18:55:10.370" v="75" actId="1076"/>
          <ac:spMkLst>
            <pc:docMk/>
            <pc:sldMk cId="2796830572" sldId="275"/>
            <ac:spMk id="30" creationId="{F2B320F4-1098-5E57-E2B9-0FD86B6D9A6F}"/>
          </ac:spMkLst>
        </pc:spChg>
        <pc:spChg chg="mod">
          <ac:chgData name="Alec Blair" userId="S::alec.blair@healthsharedservices.ca::d695081c-6e54-4126-9b9c-e49c5dae6350" providerId="AD" clId="Web-{C4681B83-7471-8B2D-6569-EE0E18E6D773}" dt="2026-05-26T18:53:35.167" v="25" actId="1076"/>
          <ac:spMkLst>
            <pc:docMk/>
            <pc:sldMk cId="2796830572" sldId="275"/>
            <ac:spMk id="31" creationId="{5A687F53-0716-12D1-F68F-4E830D7FC23F}"/>
          </ac:spMkLst>
        </pc:spChg>
        <pc:spChg chg="add mod">
          <ac:chgData name="Alec Blair" userId="S::alec.blair@healthsharedservices.ca::d695081c-6e54-4126-9b9c-e49c5dae6350" providerId="AD" clId="Web-{C4681B83-7471-8B2D-6569-EE0E18E6D773}" dt="2026-05-26T18:53:35.182" v="26" actId="1076"/>
          <ac:spMkLst>
            <pc:docMk/>
            <pc:sldMk cId="2796830572" sldId="275"/>
            <ac:spMk id="35" creationId="{7874A785-1EA4-69C2-A7E5-7BCE75F4062D}"/>
          </ac:spMkLst>
        </pc:spChg>
        <pc:spChg chg="add mod">
          <ac:chgData name="Alec Blair" userId="S::alec.blair@healthsharedservices.ca::d695081c-6e54-4126-9b9c-e49c5dae6350" providerId="AD" clId="Web-{C4681B83-7471-8B2D-6569-EE0E18E6D773}" dt="2026-05-26T18:53:35.198" v="27" actId="1076"/>
          <ac:spMkLst>
            <pc:docMk/>
            <pc:sldMk cId="2796830572" sldId="275"/>
            <ac:spMk id="36" creationId="{D0941194-D723-C4AA-B228-6062519A3264}"/>
          </ac:spMkLst>
        </pc:spChg>
        <pc:spChg chg="add mod">
          <ac:chgData name="Alec Blair" userId="S::alec.blair@healthsharedservices.ca::d695081c-6e54-4126-9b9c-e49c5dae6350" providerId="AD" clId="Web-{C4681B83-7471-8B2D-6569-EE0E18E6D773}" dt="2026-05-26T18:55:00.667" v="73" actId="1076"/>
          <ac:spMkLst>
            <pc:docMk/>
            <pc:sldMk cId="2796830572" sldId="275"/>
            <ac:spMk id="37" creationId="{57366775-9DF0-3DF3-7319-E2B00DC3FB2E}"/>
          </ac:spMkLst>
        </pc:spChg>
        <pc:grpChg chg="mod">
          <ac:chgData name="Alec Blair" userId="S::alec.blair@healthsharedservices.ca::d695081c-6e54-4126-9b9c-e49c5dae6350" providerId="AD" clId="Web-{C4681B83-7471-8B2D-6569-EE0E18E6D773}" dt="2026-05-26T18:53:35.104" v="22" actId="1076"/>
          <ac:grpSpMkLst>
            <pc:docMk/>
            <pc:sldMk cId="2796830572" sldId="275"/>
            <ac:grpSpMk id="16" creationId="{3F8B856D-9217-7391-0FE7-C95C9FAF9688}"/>
          </ac:grpSpMkLst>
        </pc:grpChg>
        <pc:graphicFrameChg chg="mod">
          <ac:chgData name="Alec Blair" userId="S::alec.blair@healthsharedservices.ca::d695081c-6e54-4126-9b9c-e49c5dae6350" providerId="AD" clId="Web-{C4681B83-7471-8B2D-6569-EE0E18E6D773}" dt="2026-05-26T18:54:35.776" v="68" actId="1076"/>
          <ac:graphicFrameMkLst>
            <pc:docMk/>
            <pc:sldMk cId="2796830572" sldId="275"/>
            <ac:graphicFrameMk id="26" creationId="{EBA50446-F87B-0055-37F8-2EAC34EA033D}"/>
          </ac:graphicFrameMkLst>
        </pc:graphicFrameChg>
      </pc:sldChg>
    </pc:docChg>
  </pc:docChgLst>
  <pc:docChgLst>
    <pc:chgData name="Alec Blair" userId="S::alec.blair@healthsharedservices.ca::d695081c-6e54-4126-9b9c-e49c5dae6350" providerId="AD" clId="Web-{AF54F933-6477-3D0E-828F-19A5034F39C3}"/>
    <pc:docChg chg="modSld">
      <pc:chgData name="Alec Blair" userId="S::alec.blair@healthsharedservices.ca::d695081c-6e54-4126-9b9c-e49c5dae6350" providerId="AD" clId="Web-{AF54F933-6477-3D0E-828F-19A5034F39C3}" dt="2026-05-26T20:19:20.802" v="80" actId="14100"/>
      <pc:docMkLst>
        <pc:docMk/>
      </pc:docMkLst>
      <pc:sldChg chg="addSp modSp">
        <pc:chgData name="Alec Blair" userId="S::alec.blair@healthsharedservices.ca::d695081c-6e54-4126-9b9c-e49c5dae6350" providerId="AD" clId="Web-{AF54F933-6477-3D0E-828F-19A5034F39C3}" dt="2026-05-26T20:19:20.802" v="80" actId="14100"/>
        <pc:sldMkLst>
          <pc:docMk/>
          <pc:sldMk cId="3476336478" sldId="270"/>
        </pc:sldMkLst>
        <pc:spChg chg="mod">
          <ac:chgData name="Alec Blair" userId="S::alec.blair@healthsharedservices.ca::d695081c-6e54-4126-9b9c-e49c5dae6350" providerId="AD" clId="Web-{AF54F933-6477-3D0E-828F-19A5034F39C3}" dt="2026-05-26T20:18:09.974" v="25" actId="14100"/>
          <ac:spMkLst>
            <pc:docMk/>
            <pc:sldMk cId="3476336478" sldId="270"/>
            <ac:spMk id="3" creationId="{C6B7FC82-DC00-EEB7-E248-CAD9DEB50AAC}"/>
          </ac:spMkLst>
        </pc:spChg>
        <pc:spChg chg="mod">
          <ac:chgData name="Alec Blair" userId="S::alec.blair@healthsharedservices.ca::d695081c-6e54-4126-9b9c-e49c5dae6350" providerId="AD" clId="Web-{AF54F933-6477-3D0E-828F-19A5034F39C3}" dt="2026-05-26T20:18:38.161" v="36" actId="1076"/>
          <ac:spMkLst>
            <pc:docMk/>
            <pc:sldMk cId="3476336478" sldId="270"/>
            <ac:spMk id="7" creationId="{BF4D4742-2E80-8684-7EA1-2EAAECEA7370}"/>
          </ac:spMkLst>
        </pc:spChg>
        <pc:spChg chg="mod">
          <ac:chgData name="Alec Blair" userId="S::alec.blair@healthsharedservices.ca::d695081c-6e54-4126-9b9c-e49c5dae6350" providerId="AD" clId="Web-{AF54F933-6477-3D0E-828F-19A5034F39C3}" dt="2026-05-26T20:18:38.177" v="37" actId="1076"/>
          <ac:spMkLst>
            <pc:docMk/>
            <pc:sldMk cId="3476336478" sldId="270"/>
            <ac:spMk id="8" creationId="{66F8F9B3-67BD-DE06-4071-AC2202CFAB64}"/>
          </ac:spMkLst>
        </pc:spChg>
        <pc:spChg chg="mod">
          <ac:chgData name="Alec Blair" userId="S::alec.blair@healthsharedservices.ca::d695081c-6e54-4126-9b9c-e49c5dae6350" providerId="AD" clId="Web-{AF54F933-6477-3D0E-828F-19A5034F39C3}" dt="2026-05-26T20:18:38.208" v="38" actId="1076"/>
          <ac:spMkLst>
            <pc:docMk/>
            <pc:sldMk cId="3476336478" sldId="270"/>
            <ac:spMk id="9" creationId="{894BAA7B-74EF-DC6A-45FA-81391470F3F5}"/>
          </ac:spMkLst>
        </pc:spChg>
        <pc:spChg chg="mod">
          <ac:chgData name="Alec Blair" userId="S::alec.blair@healthsharedservices.ca::d695081c-6e54-4126-9b9c-e49c5dae6350" providerId="AD" clId="Web-{AF54F933-6477-3D0E-828F-19A5034F39C3}" dt="2026-05-26T20:18:38.224" v="39" actId="1076"/>
          <ac:spMkLst>
            <pc:docMk/>
            <pc:sldMk cId="3476336478" sldId="270"/>
            <ac:spMk id="10" creationId="{526D9CAB-6C0C-D3DD-0A96-1BFCD6419A8B}"/>
          </ac:spMkLst>
        </pc:spChg>
        <pc:spChg chg="mod">
          <ac:chgData name="Alec Blair" userId="S::alec.blair@healthsharedservices.ca::d695081c-6e54-4126-9b9c-e49c5dae6350" providerId="AD" clId="Web-{AF54F933-6477-3D0E-828F-19A5034F39C3}" dt="2026-05-26T20:18:46.740" v="42" actId="14100"/>
          <ac:spMkLst>
            <pc:docMk/>
            <pc:sldMk cId="3476336478" sldId="270"/>
            <ac:spMk id="13" creationId="{E88E2841-1DCB-BB5B-AA58-5B8D541CCC18}"/>
          </ac:spMkLst>
        </pc:spChg>
        <pc:spChg chg="add mod">
          <ac:chgData name="Alec Blair" userId="S::alec.blair@healthsharedservices.ca::d695081c-6e54-4126-9b9c-e49c5dae6350" providerId="AD" clId="Web-{AF54F933-6477-3D0E-828F-19A5034F39C3}" dt="2026-05-26T20:19:08.896" v="78" actId="20577"/>
          <ac:spMkLst>
            <pc:docMk/>
            <pc:sldMk cId="3476336478" sldId="270"/>
            <ac:spMk id="37" creationId="{F49FD5BC-1D04-8682-A782-8071048A4B63}"/>
          </ac:spMkLst>
        </pc:spChg>
        <pc:spChg chg="add mod">
          <ac:chgData name="Alec Blair" userId="S::alec.blair@healthsharedservices.ca::d695081c-6e54-4126-9b9c-e49c5dae6350" providerId="AD" clId="Web-{AF54F933-6477-3D0E-828F-19A5034F39C3}" dt="2026-05-26T20:19:20.802" v="80" actId="14100"/>
          <ac:spMkLst>
            <pc:docMk/>
            <pc:sldMk cId="3476336478" sldId="270"/>
            <ac:spMk id="38" creationId="{47E4D9DB-6352-B412-085D-77ECD175B96B}"/>
          </ac:spMkLst>
        </pc:spChg>
        <pc:picChg chg="mod">
          <ac:chgData name="Alec Blair" userId="S::alec.blair@healthsharedservices.ca::d695081c-6e54-4126-9b9c-e49c5dae6350" providerId="AD" clId="Web-{AF54F933-6477-3D0E-828F-19A5034F39C3}" dt="2026-05-26T20:18:43.365" v="41" actId="1076"/>
          <ac:picMkLst>
            <pc:docMk/>
            <pc:sldMk cId="3476336478" sldId="270"/>
            <ac:picMk id="16" creationId="{3D6F7E3F-8A7D-135A-0661-6B18F4BF6C85}"/>
          </ac:picMkLst>
        </pc:picChg>
        <pc:picChg chg="mod">
          <ac:chgData name="Alec Blair" userId="S::alec.blair@healthsharedservices.ca::d695081c-6e54-4126-9b9c-e49c5dae6350" providerId="AD" clId="Web-{AF54F933-6477-3D0E-828F-19A5034F39C3}" dt="2026-05-26T20:18:38.240" v="40" actId="1076"/>
          <ac:picMkLst>
            <pc:docMk/>
            <pc:sldMk cId="3476336478" sldId="270"/>
            <ac:picMk id="23" creationId="{4BBE6F7E-532C-1474-EDA2-FC81FB002591}"/>
          </ac:picMkLst>
        </pc:picChg>
      </pc:sldChg>
      <pc:sldChg chg="addSp modSp">
        <pc:chgData name="Alec Blair" userId="S::alec.blair@healthsharedservices.ca::d695081c-6e54-4126-9b9c-e49c5dae6350" providerId="AD" clId="Web-{AF54F933-6477-3D0E-828F-19A5034F39C3}" dt="2026-05-26T19:46:42.932" v="24"/>
        <pc:sldMkLst>
          <pc:docMk/>
          <pc:sldMk cId="2796830572" sldId="275"/>
        </pc:sldMkLst>
        <pc:spChg chg="add mod">
          <ac:chgData name="Alec Blair" userId="S::alec.blair@healthsharedservices.ca::d695081c-6e54-4126-9b9c-e49c5dae6350" providerId="AD" clId="Web-{AF54F933-6477-3D0E-828F-19A5034F39C3}" dt="2026-05-26T19:46:42.932" v="24"/>
          <ac:spMkLst>
            <pc:docMk/>
            <pc:sldMk cId="2796830572" sldId="275"/>
            <ac:spMk id="8" creationId="{C0A5AE83-8932-E142-24D8-9C93848A5976}"/>
          </ac:spMkLst>
        </pc:spChg>
        <pc:spChg chg="add mod">
          <ac:chgData name="Alec Blair" userId="S::alec.blair@healthsharedservices.ca::d695081c-6e54-4126-9b9c-e49c5dae6350" providerId="AD" clId="Web-{AF54F933-6477-3D0E-828F-19A5034F39C3}" dt="2026-05-26T19:46:07.806" v="22" actId="20577"/>
          <ac:spMkLst>
            <pc:docMk/>
            <pc:sldMk cId="2796830572" sldId="275"/>
            <ac:spMk id="9" creationId="{015FBDF6-EE06-401A-A5A3-9AE7427B27B1}"/>
          </ac:spMkLst>
        </pc:spChg>
        <pc:spChg chg="mod">
          <ac:chgData name="Alec Blair" userId="S::alec.blair@healthsharedservices.ca::d695081c-6e54-4126-9b9c-e49c5dae6350" providerId="AD" clId="Web-{AF54F933-6477-3D0E-828F-19A5034F39C3}" dt="2026-05-26T19:44:44.288" v="7" actId="20577"/>
          <ac:spMkLst>
            <pc:docMk/>
            <pc:sldMk cId="2796830572" sldId="275"/>
            <ac:spMk id="10" creationId="{E25F5CF6-8444-864C-99D5-6832DE5CA1FF}"/>
          </ac:spMkLst>
        </pc:spChg>
        <pc:spChg chg="mod">
          <ac:chgData name="Alec Blair" userId="S::alec.blair@healthsharedservices.ca::d695081c-6e54-4126-9b9c-e49c5dae6350" providerId="AD" clId="Web-{AF54F933-6477-3D0E-828F-19A5034F39C3}" dt="2026-05-26T19:41:48.190" v="1" actId="20577"/>
          <ac:spMkLst>
            <pc:docMk/>
            <pc:sldMk cId="2796830572" sldId="275"/>
            <ac:spMk id="13" creationId="{ABADBB7B-86EE-90B1-2182-93740A8464E1}"/>
          </ac:spMkLst>
        </pc:spChg>
        <pc:spChg chg="mod">
          <ac:chgData name="Alec Blair" userId="S::alec.blair@healthsharedservices.ca::d695081c-6e54-4126-9b9c-e49c5dae6350" providerId="AD" clId="Web-{AF54F933-6477-3D0E-828F-19A5034F39C3}" dt="2026-05-26T19:42:50.785" v="5" actId="20577"/>
          <ac:spMkLst>
            <pc:docMk/>
            <pc:sldMk cId="2796830572" sldId="275"/>
            <ac:spMk id="23" creationId="{D94F2C8E-AAB3-05F2-FA0A-E470529913E7}"/>
          </ac:spMkLst>
        </pc:spChg>
        <pc:spChg chg="mod">
          <ac:chgData name="Alec Blair" userId="S::alec.blair@healthsharedservices.ca::d695081c-6e54-4126-9b9c-e49c5dae6350" providerId="AD" clId="Web-{AF54F933-6477-3D0E-828F-19A5034F39C3}" dt="2026-05-26T19:45:55.759" v="13" actId="1076"/>
          <ac:spMkLst>
            <pc:docMk/>
            <pc:sldMk cId="2796830572" sldId="275"/>
            <ac:spMk id="27" creationId="{1198472B-1D35-C115-0C13-6D92AC62BDBD}"/>
          </ac:spMkLst>
        </pc:spChg>
        <pc:spChg chg="mod">
          <ac:chgData name="Alec Blair" userId="S::alec.blair@healthsharedservices.ca::d695081c-6e54-4126-9b9c-e49c5dae6350" providerId="AD" clId="Web-{AF54F933-6477-3D0E-828F-19A5034F39C3}" dt="2026-05-26T19:46:00.056" v="14" actId="1076"/>
          <ac:spMkLst>
            <pc:docMk/>
            <pc:sldMk cId="2796830572" sldId="275"/>
            <ac:spMk id="37" creationId="{57366775-9DF0-3DF3-7319-E2B00DC3FB2E}"/>
          </ac:spMkLst>
        </pc:spChg>
        <pc:graphicFrameChg chg="mod">
          <ac:chgData name="Alec Blair" userId="S::alec.blair@healthsharedservices.ca::d695081c-6e54-4126-9b9c-e49c5dae6350" providerId="AD" clId="Web-{AF54F933-6477-3D0E-828F-19A5034F39C3}" dt="2026-05-26T19:45:55.727" v="12" actId="1076"/>
          <ac:graphicFrameMkLst>
            <pc:docMk/>
            <pc:sldMk cId="2796830572" sldId="275"/>
            <ac:graphicFrameMk id="26" creationId="{EBA50446-F87B-0055-37F8-2EAC34EA033D}"/>
          </ac:graphicFrameMkLst>
        </pc:graphicFrameChg>
      </pc:sldChg>
    </pc:docChg>
  </pc:docChgLst>
  <pc:docChgLst>
    <pc:chgData name="Alec Blair" userId="S::alec.blair@healthsharedservices.ca::d695081c-6e54-4126-9b9c-e49c5dae6350" providerId="AD" clId="Web-{DD751509-141B-5714-B06A-3DBC4310063E}"/>
    <pc:docChg chg="modSld">
      <pc:chgData name="Alec Blair" userId="S::alec.blair@healthsharedservices.ca::d695081c-6e54-4126-9b9c-e49c5dae6350" providerId="AD" clId="Web-{DD751509-141B-5714-B06A-3DBC4310063E}" dt="2026-06-02T17:45:09.856" v="42" actId="20577"/>
      <pc:docMkLst>
        <pc:docMk/>
      </pc:docMkLst>
      <pc:sldChg chg="modSp">
        <pc:chgData name="Alec Blair" userId="S::alec.blair@healthsharedservices.ca::d695081c-6e54-4126-9b9c-e49c5dae6350" providerId="AD" clId="Web-{DD751509-141B-5714-B06A-3DBC4310063E}" dt="2026-06-02T16:47:13.923" v="34" actId="20577"/>
        <pc:sldMkLst>
          <pc:docMk/>
          <pc:sldMk cId="2071440706" sldId="256"/>
        </pc:sldMkLst>
        <pc:spChg chg="mod">
          <ac:chgData name="Alec Blair" userId="S::alec.blair@healthsharedservices.ca::d695081c-6e54-4126-9b9c-e49c5dae6350" providerId="AD" clId="Web-{DD751509-141B-5714-B06A-3DBC4310063E}" dt="2026-06-02T16:47:13.923" v="34" actId="20577"/>
          <ac:spMkLst>
            <pc:docMk/>
            <pc:sldMk cId="2071440706" sldId="256"/>
            <ac:spMk id="3" creationId="{00000000-0000-0000-0000-000000000000}"/>
          </ac:spMkLst>
        </pc:spChg>
      </pc:sldChg>
      <pc:sldChg chg="modSp">
        <pc:chgData name="Alec Blair" userId="S::alec.blair@healthsharedservices.ca::d695081c-6e54-4126-9b9c-e49c5dae6350" providerId="AD" clId="Web-{DD751509-141B-5714-B06A-3DBC4310063E}" dt="2026-06-02T17:45:09.856" v="42" actId="20577"/>
        <pc:sldMkLst>
          <pc:docMk/>
          <pc:sldMk cId="2796830572" sldId="275"/>
        </pc:sldMkLst>
        <pc:spChg chg="mod">
          <ac:chgData name="Alec Blair" userId="S::alec.blair@healthsharedservices.ca::d695081c-6e54-4126-9b9c-e49c5dae6350" providerId="AD" clId="Web-{DD751509-141B-5714-B06A-3DBC4310063E}" dt="2026-06-02T17:45:09.856" v="42" actId="20577"/>
          <ac:spMkLst>
            <pc:docMk/>
            <pc:sldMk cId="2796830572" sldId="275"/>
            <ac:spMk id="9" creationId="{015FBDF6-EE06-401A-A5A3-9AE7427B27B1}"/>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49E447D-298F-4292-885B-C9D8F2C23512}"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en-CA"/>
        </a:p>
      </dgm:t>
    </dgm:pt>
    <dgm:pt modelId="{FF3C2F85-495D-45FE-9AB3-81E3674891B1}">
      <dgm:prSet phldrT="[Text]" phldr="0"/>
      <dgm:spPr/>
      <dgm:t>
        <a:bodyPr/>
        <a:lstStyle/>
        <a:p>
          <a:r>
            <a:rPr lang="en-US"/>
            <a:t>Analysis</a:t>
          </a:r>
          <a:endParaRPr lang="en-CA"/>
        </a:p>
      </dgm:t>
    </dgm:pt>
    <dgm:pt modelId="{D068A276-B562-4B55-96EC-4E2CE3116DAA}" type="parTrans" cxnId="{937CA2CC-77E4-429B-AB26-74AA2E8C368A}">
      <dgm:prSet/>
      <dgm:spPr/>
      <dgm:t>
        <a:bodyPr/>
        <a:lstStyle/>
        <a:p>
          <a:endParaRPr lang="en-CA"/>
        </a:p>
      </dgm:t>
    </dgm:pt>
    <dgm:pt modelId="{C1509B24-2674-4A66-8B71-FD5D8DA6E421}" type="sibTrans" cxnId="{937CA2CC-77E4-429B-AB26-74AA2E8C368A}">
      <dgm:prSet/>
      <dgm:spPr/>
      <dgm:t>
        <a:bodyPr/>
        <a:lstStyle/>
        <a:p>
          <a:endParaRPr lang="en-CA"/>
        </a:p>
      </dgm:t>
    </dgm:pt>
    <dgm:pt modelId="{B577E41E-820F-435A-8DFF-D454E96995E6}">
      <dgm:prSet phldrT="[Text]" phldr="0"/>
      <dgm:spPr/>
      <dgm:t>
        <a:bodyPr/>
        <a:lstStyle/>
        <a:p>
          <a:r>
            <a:rPr lang="en-US"/>
            <a:t>Design</a:t>
          </a:r>
          <a:endParaRPr lang="en-CA"/>
        </a:p>
      </dgm:t>
    </dgm:pt>
    <dgm:pt modelId="{7D229C6E-5166-43A9-BB3F-206AE4EE49B0}" type="parTrans" cxnId="{DB0C773A-DCD3-4561-B323-22F330F5A9CE}">
      <dgm:prSet/>
      <dgm:spPr/>
      <dgm:t>
        <a:bodyPr/>
        <a:lstStyle/>
        <a:p>
          <a:endParaRPr lang="en-CA"/>
        </a:p>
      </dgm:t>
    </dgm:pt>
    <dgm:pt modelId="{C2EF2C10-4503-4777-B807-E1FA2FB3D191}" type="sibTrans" cxnId="{DB0C773A-DCD3-4561-B323-22F330F5A9CE}">
      <dgm:prSet/>
      <dgm:spPr/>
      <dgm:t>
        <a:bodyPr/>
        <a:lstStyle/>
        <a:p>
          <a:endParaRPr lang="en-CA"/>
        </a:p>
      </dgm:t>
    </dgm:pt>
    <dgm:pt modelId="{359EFC49-F3EE-477F-9F2E-A099395707E8}">
      <dgm:prSet phldrT="[Text]" phldr="0"/>
      <dgm:spPr/>
      <dgm:t>
        <a:bodyPr/>
        <a:lstStyle/>
        <a:p>
          <a:r>
            <a:rPr lang="en-US"/>
            <a:t>Build</a:t>
          </a:r>
          <a:endParaRPr lang="en-CA"/>
        </a:p>
      </dgm:t>
    </dgm:pt>
    <dgm:pt modelId="{6F15E895-0F4D-4EDF-BEA4-6813F1F5F3CA}" type="parTrans" cxnId="{E229FC08-E396-4C9E-93F6-E43A6FD5338F}">
      <dgm:prSet/>
      <dgm:spPr/>
      <dgm:t>
        <a:bodyPr/>
        <a:lstStyle/>
        <a:p>
          <a:endParaRPr lang="en-CA"/>
        </a:p>
      </dgm:t>
    </dgm:pt>
    <dgm:pt modelId="{29DBB9B2-DF4E-4370-A132-5804BCD48AEA}" type="sibTrans" cxnId="{E229FC08-E396-4C9E-93F6-E43A6FD5338F}">
      <dgm:prSet/>
      <dgm:spPr/>
      <dgm:t>
        <a:bodyPr/>
        <a:lstStyle/>
        <a:p>
          <a:endParaRPr lang="en-CA"/>
        </a:p>
      </dgm:t>
    </dgm:pt>
    <dgm:pt modelId="{0A40F709-74CB-453F-B054-8EC49194F49A}">
      <dgm:prSet phldrT="[Text]" phldr="0"/>
      <dgm:spPr/>
      <dgm:t>
        <a:bodyPr/>
        <a:lstStyle/>
        <a:p>
          <a:r>
            <a:rPr lang="en-US"/>
            <a:t>Validate</a:t>
          </a:r>
          <a:endParaRPr lang="en-CA"/>
        </a:p>
      </dgm:t>
    </dgm:pt>
    <dgm:pt modelId="{5945F69D-679A-4E49-8596-9C7B00537E98}" type="parTrans" cxnId="{BFBC3436-F4CE-4ACF-ABE7-F03C13447884}">
      <dgm:prSet/>
      <dgm:spPr/>
      <dgm:t>
        <a:bodyPr/>
        <a:lstStyle/>
        <a:p>
          <a:endParaRPr lang="en-CA"/>
        </a:p>
      </dgm:t>
    </dgm:pt>
    <dgm:pt modelId="{40FFEAAE-E074-40BF-8E3A-6DAF46ED1318}" type="sibTrans" cxnId="{BFBC3436-F4CE-4ACF-ABE7-F03C13447884}">
      <dgm:prSet/>
      <dgm:spPr/>
      <dgm:t>
        <a:bodyPr/>
        <a:lstStyle/>
        <a:p>
          <a:endParaRPr lang="en-CA"/>
        </a:p>
      </dgm:t>
    </dgm:pt>
    <dgm:pt modelId="{11762008-CF4C-4735-AF24-02AC0ED9C06B}" type="pres">
      <dgm:prSet presAssocID="{449E447D-298F-4292-885B-C9D8F2C23512}" presName="Name0" presStyleCnt="0">
        <dgm:presLayoutVars>
          <dgm:dir/>
          <dgm:animLvl val="lvl"/>
          <dgm:resizeHandles val="exact"/>
        </dgm:presLayoutVars>
      </dgm:prSet>
      <dgm:spPr/>
    </dgm:pt>
    <dgm:pt modelId="{1723E91D-7654-4328-BB3A-21C411FE3E8C}" type="pres">
      <dgm:prSet presAssocID="{FF3C2F85-495D-45FE-9AB3-81E3674891B1}" presName="parTxOnly" presStyleLbl="node1" presStyleIdx="0" presStyleCnt="4">
        <dgm:presLayoutVars>
          <dgm:chMax val="0"/>
          <dgm:chPref val="0"/>
          <dgm:bulletEnabled val="1"/>
        </dgm:presLayoutVars>
      </dgm:prSet>
      <dgm:spPr/>
    </dgm:pt>
    <dgm:pt modelId="{4D6E9398-283F-4A37-84E6-14592824F2C7}" type="pres">
      <dgm:prSet presAssocID="{C1509B24-2674-4A66-8B71-FD5D8DA6E421}" presName="parTxOnlySpace" presStyleCnt="0"/>
      <dgm:spPr/>
    </dgm:pt>
    <dgm:pt modelId="{C4AA9BC9-D69B-462D-B96A-2BEAFF136815}" type="pres">
      <dgm:prSet presAssocID="{B577E41E-820F-435A-8DFF-D454E96995E6}" presName="parTxOnly" presStyleLbl="node1" presStyleIdx="1" presStyleCnt="4">
        <dgm:presLayoutVars>
          <dgm:chMax val="0"/>
          <dgm:chPref val="0"/>
          <dgm:bulletEnabled val="1"/>
        </dgm:presLayoutVars>
      </dgm:prSet>
      <dgm:spPr/>
    </dgm:pt>
    <dgm:pt modelId="{269D6972-55B9-4A2F-ADAF-8CB5B16FCA55}" type="pres">
      <dgm:prSet presAssocID="{C2EF2C10-4503-4777-B807-E1FA2FB3D191}" presName="parTxOnlySpace" presStyleCnt="0"/>
      <dgm:spPr/>
    </dgm:pt>
    <dgm:pt modelId="{16826AD9-3992-460E-BA2C-90274517F856}" type="pres">
      <dgm:prSet presAssocID="{359EFC49-F3EE-477F-9F2E-A099395707E8}" presName="parTxOnly" presStyleLbl="node1" presStyleIdx="2" presStyleCnt="4">
        <dgm:presLayoutVars>
          <dgm:chMax val="0"/>
          <dgm:chPref val="0"/>
          <dgm:bulletEnabled val="1"/>
        </dgm:presLayoutVars>
      </dgm:prSet>
      <dgm:spPr/>
    </dgm:pt>
    <dgm:pt modelId="{AA493CBD-8512-4FC4-8862-DCA2D75087F9}" type="pres">
      <dgm:prSet presAssocID="{29DBB9B2-DF4E-4370-A132-5804BCD48AEA}" presName="parTxOnlySpace" presStyleCnt="0"/>
      <dgm:spPr/>
    </dgm:pt>
    <dgm:pt modelId="{9109FC96-1511-4B51-8902-4803CAE4B447}" type="pres">
      <dgm:prSet presAssocID="{0A40F709-74CB-453F-B054-8EC49194F49A}" presName="parTxOnly" presStyleLbl="node1" presStyleIdx="3" presStyleCnt="4">
        <dgm:presLayoutVars>
          <dgm:chMax val="0"/>
          <dgm:chPref val="0"/>
          <dgm:bulletEnabled val="1"/>
        </dgm:presLayoutVars>
      </dgm:prSet>
      <dgm:spPr/>
    </dgm:pt>
  </dgm:ptLst>
  <dgm:cxnLst>
    <dgm:cxn modelId="{E229FC08-E396-4C9E-93F6-E43A6FD5338F}" srcId="{449E447D-298F-4292-885B-C9D8F2C23512}" destId="{359EFC49-F3EE-477F-9F2E-A099395707E8}" srcOrd="2" destOrd="0" parTransId="{6F15E895-0F4D-4EDF-BEA4-6813F1F5F3CA}" sibTransId="{29DBB9B2-DF4E-4370-A132-5804BCD48AEA}"/>
    <dgm:cxn modelId="{983DE133-D5C2-4A9F-B915-1F86EF42BBFD}" type="presOf" srcId="{0A40F709-74CB-453F-B054-8EC49194F49A}" destId="{9109FC96-1511-4B51-8902-4803CAE4B447}" srcOrd="0" destOrd="0" presId="urn:microsoft.com/office/officeart/2005/8/layout/chevron1"/>
    <dgm:cxn modelId="{BFBC3436-F4CE-4ACF-ABE7-F03C13447884}" srcId="{449E447D-298F-4292-885B-C9D8F2C23512}" destId="{0A40F709-74CB-453F-B054-8EC49194F49A}" srcOrd="3" destOrd="0" parTransId="{5945F69D-679A-4E49-8596-9C7B00537E98}" sibTransId="{40FFEAAE-E074-40BF-8E3A-6DAF46ED1318}"/>
    <dgm:cxn modelId="{DB0C773A-DCD3-4561-B323-22F330F5A9CE}" srcId="{449E447D-298F-4292-885B-C9D8F2C23512}" destId="{B577E41E-820F-435A-8DFF-D454E96995E6}" srcOrd="1" destOrd="0" parTransId="{7D229C6E-5166-43A9-BB3F-206AE4EE49B0}" sibTransId="{C2EF2C10-4503-4777-B807-E1FA2FB3D191}"/>
    <dgm:cxn modelId="{E1510D47-F9D9-4A24-B109-BDBF653D7617}" type="presOf" srcId="{359EFC49-F3EE-477F-9F2E-A099395707E8}" destId="{16826AD9-3992-460E-BA2C-90274517F856}" srcOrd="0" destOrd="0" presId="urn:microsoft.com/office/officeart/2005/8/layout/chevron1"/>
    <dgm:cxn modelId="{937CA2CC-77E4-429B-AB26-74AA2E8C368A}" srcId="{449E447D-298F-4292-885B-C9D8F2C23512}" destId="{FF3C2F85-495D-45FE-9AB3-81E3674891B1}" srcOrd="0" destOrd="0" parTransId="{D068A276-B562-4B55-96EC-4E2CE3116DAA}" sibTransId="{C1509B24-2674-4A66-8B71-FD5D8DA6E421}"/>
    <dgm:cxn modelId="{E8422ACE-006C-4A45-9219-F758103A8CB4}" type="presOf" srcId="{449E447D-298F-4292-885B-C9D8F2C23512}" destId="{11762008-CF4C-4735-AF24-02AC0ED9C06B}" srcOrd="0" destOrd="0" presId="urn:microsoft.com/office/officeart/2005/8/layout/chevron1"/>
    <dgm:cxn modelId="{E8D645E6-E91C-47A4-A509-8BBE49469279}" type="presOf" srcId="{FF3C2F85-495D-45FE-9AB3-81E3674891B1}" destId="{1723E91D-7654-4328-BB3A-21C411FE3E8C}" srcOrd="0" destOrd="0" presId="urn:microsoft.com/office/officeart/2005/8/layout/chevron1"/>
    <dgm:cxn modelId="{3FA917EA-0821-44BF-BDA7-48FC07EFD5AB}" type="presOf" srcId="{B577E41E-820F-435A-8DFF-D454E96995E6}" destId="{C4AA9BC9-D69B-462D-B96A-2BEAFF136815}" srcOrd="0" destOrd="0" presId="urn:microsoft.com/office/officeart/2005/8/layout/chevron1"/>
    <dgm:cxn modelId="{4A829AB9-732D-4590-9264-64938C5638E4}" type="presParOf" srcId="{11762008-CF4C-4735-AF24-02AC0ED9C06B}" destId="{1723E91D-7654-4328-BB3A-21C411FE3E8C}" srcOrd="0" destOrd="0" presId="urn:microsoft.com/office/officeart/2005/8/layout/chevron1"/>
    <dgm:cxn modelId="{6F8B9A2D-9964-4D03-8D23-8535AF4E7B83}" type="presParOf" srcId="{11762008-CF4C-4735-AF24-02AC0ED9C06B}" destId="{4D6E9398-283F-4A37-84E6-14592824F2C7}" srcOrd="1" destOrd="0" presId="urn:microsoft.com/office/officeart/2005/8/layout/chevron1"/>
    <dgm:cxn modelId="{3D2B8B52-ECE0-48F3-A37E-851E405ED923}" type="presParOf" srcId="{11762008-CF4C-4735-AF24-02AC0ED9C06B}" destId="{C4AA9BC9-D69B-462D-B96A-2BEAFF136815}" srcOrd="2" destOrd="0" presId="urn:microsoft.com/office/officeart/2005/8/layout/chevron1"/>
    <dgm:cxn modelId="{42A49E35-DADD-4AFE-A3AA-6CF10E6B2E96}" type="presParOf" srcId="{11762008-CF4C-4735-AF24-02AC0ED9C06B}" destId="{269D6972-55B9-4A2F-ADAF-8CB5B16FCA55}" srcOrd="3" destOrd="0" presId="urn:microsoft.com/office/officeart/2005/8/layout/chevron1"/>
    <dgm:cxn modelId="{2A85ED99-9E8D-4EA5-AE72-3760A5F007C5}" type="presParOf" srcId="{11762008-CF4C-4735-AF24-02AC0ED9C06B}" destId="{16826AD9-3992-460E-BA2C-90274517F856}" srcOrd="4" destOrd="0" presId="urn:microsoft.com/office/officeart/2005/8/layout/chevron1"/>
    <dgm:cxn modelId="{ED2C7F23-7B6C-46FA-BDDC-D54608398442}" type="presParOf" srcId="{11762008-CF4C-4735-AF24-02AC0ED9C06B}" destId="{AA493CBD-8512-4FC4-8862-DCA2D75087F9}" srcOrd="5" destOrd="0" presId="urn:microsoft.com/office/officeart/2005/8/layout/chevron1"/>
    <dgm:cxn modelId="{D02D705C-EE23-4F20-93F0-C57870D320AA}" type="presParOf" srcId="{11762008-CF4C-4735-AF24-02AC0ED9C06B}" destId="{9109FC96-1511-4B51-8902-4803CAE4B447}" srcOrd="6"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FE81648-00F5-1C43-8611-EB412925AB27}" type="doc">
      <dgm:prSet loTypeId="urn:microsoft.com/office/officeart/2005/8/layout/chevron1" loCatId="" qsTypeId="urn:microsoft.com/office/officeart/2005/8/quickstyle/simple1" qsCatId="simple" csTypeId="urn:microsoft.com/office/officeart/2005/8/colors/accent1_3" csCatId="accent1" phldr="1"/>
      <dgm:spPr/>
      <dgm:t>
        <a:bodyPr/>
        <a:lstStyle/>
        <a:p>
          <a:endParaRPr lang="en-CA"/>
        </a:p>
      </dgm:t>
    </dgm:pt>
    <dgm:pt modelId="{978E3FA0-AD1A-6F4E-A754-A38E158F36AD}">
      <dgm:prSet phldrT="[Text]"/>
      <dgm:spPr/>
      <dgm:t>
        <a:bodyPr/>
        <a:lstStyle/>
        <a:p>
          <a:r>
            <a:rPr lang="en-US"/>
            <a:t>Confirm</a:t>
          </a:r>
        </a:p>
      </dgm:t>
    </dgm:pt>
    <dgm:pt modelId="{95B12F1D-A180-424A-8FC7-540056D48D9B}" type="parTrans" cxnId="{0AFF6A09-806B-B648-B54D-BA6457C18CB9}">
      <dgm:prSet/>
      <dgm:spPr/>
      <dgm:t>
        <a:bodyPr/>
        <a:lstStyle/>
        <a:p>
          <a:endParaRPr lang="en-US"/>
        </a:p>
      </dgm:t>
    </dgm:pt>
    <dgm:pt modelId="{9742A25A-F7E2-6A4B-B20E-EABF8E451D23}" type="sibTrans" cxnId="{0AFF6A09-806B-B648-B54D-BA6457C18CB9}">
      <dgm:prSet/>
      <dgm:spPr/>
      <dgm:t>
        <a:bodyPr/>
        <a:lstStyle/>
        <a:p>
          <a:endParaRPr lang="en-US"/>
        </a:p>
      </dgm:t>
    </dgm:pt>
    <dgm:pt modelId="{81FED903-8879-944D-8982-5676C5161F67}">
      <dgm:prSet phldrT="[Text]"/>
      <dgm:spPr/>
      <dgm:t>
        <a:bodyPr/>
        <a:lstStyle/>
        <a:p>
          <a:pPr rtl="0"/>
          <a:r>
            <a:rPr lang="en-US">
              <a:latin typeface="Arial" panose="020B0604020202020204"/>
            </a:rPr>
            <a:t> Exposure Trace</a:t>
          </a:r>
          <a:endParaRPr lang="en-US"/>
        </a:p>
      </dgm:t>
    </dgm:pt>
    <dgm:pt modelId="{A2069193-BD8F-7E49-A86C-4E690D38A5B1}" type="parTrans" cxnId="{E0893582-09E0-6548-AF37-E59238A09F11}">
      <dgm:prSet/>
      <dgm:spPr/>
      <dgm:t>
        <a:bodyPr/>
        <a:lstStyle/>
        <a:p>
          <a:endParaRPr lang="en-US"/>
        </a:p>
      </dgm:t>
    </dgm:pt>
    <dgm:pt modelId="{175BF783-860D-424F-86A2-905AD3063C46}" type="sibTrans" cxnId="{E0893582-09E0-6548-AF37-E59238A09F11}">
      <dgm:prSet/>
      <dgm:spPr/>
      <dgm:t>
        <a:bodyPr/>
        <a:lstStyle/>
        <a:p>
          <a:endParaRPr lang="en-US"/>
        </a:p>
      </dgm:t>
    </dgm:pt>
    <dgm:pt modelId="{75BBCB12-748D-9148-B049-48880838F889}">
      <dgm:prSet phldrT="[Text]"/>
      <dgm:spPr/>
      <dgm:t>
        <a:bodyPr/>
        <a:lstStyle/>
        <a:p>
          <a:r>
            <a:rPr lang="en-US">
              <a:latin typeface="Arial" panose="020B0604020202020204"/>
            </a:rPr>
            <a:t>Manage</a:t>
          </a:r>
          <a:endParaRPr lang="en-US"/>
        </a:p>
      </dgm:t>
    </dgm:pt>
    <dgm:pt modelId="{4957B683-6FA4-E34D-805F-F34F03977FD1}" type="parTrans" cxnId="{7DD4C601-39B3-3D4A-811D-6507A3D6080A}">
      <dgm:prSet/>
      <dgm:spPr/>
      <dgm:t>
        <a:bodyPr/>
        <a:lstStyle/>
        <a:p>
          <a:endParaRPr lang="en-US"/>
        </a:p>
      </dgm:t>
    </dgm:pt>
    <dgm:pt modelId="{46BF243B-5D4B-8D43-A61D-1D2292D7D9F9}" type="sibTrans" cxnId="{7DD4C601-39B3-3D4A-811D-6507A3D6080A}">
      <dgm:prSet/>
      <dgm:spPr/>
      <dgm:t>
        <a:bodyPr/>
        <a:lstStyle/>
        <a:p>
          <a:endParaRPr lang="en-US"/>
        </a:p>
      </dgm:t>
    </dgm:pt>
    <dgm:pt modelId="{4C753CF8-7028-4443-959E-916EBBF23870}">
      <dgm:prSet phldrT="[Text]"/>
      <dgm:spPr/>
      <dgm:t>
        <a:bodyPr/>
        <a:lstStyle/>
        <a:p>
          <a:r>
            <a:rPr lang="en-US"/>
            <a:t>Close</a:t>
          </a:r>
        </a:p>
      </dgm:t>
    </dgm:pt>
    <dgm:pt modelId="{D79DE87A-DB9E-E246-B110-F7AE72DE4121}" type="parTrans" cxnId="{11F41B9B-0C4C-5E49-A9DF-C91F7C949732}">
      <dgm:prSet/>
      <dgm:spPr/>
      <dgm:t>
        <a:bodyPr/>
        <a:lstStyle/>
        <a:p>
          <a:endParaRPr lang="en-US"/>
        </a:p>
      </dgm:t>
    </dgm:pt>
    <dgm:pt modelId="{F629573D-9CAA-6041-B678-163D62B0283B}" type="sibTrans" cxnId="{11F41B9B-0C4C-5E49-A9DF-C91F7C949732}">
      <dgm:prSet/>
      <dgm:spPr/>
      <dgm:t>
        <a:bodyPr/>
        <a:lstStyle/>
        <a:p>
          <a:endParaRPr lang="en-US"/>
        </a:p>
      </dgm:t>
    </dgm:pt>
    <dgm:pt modelId="{51ECB86A-98C8-3E4C-AD78-4F92BFE45F1A}" type="pres">
      <dgm:prSet presAssocID="{2FE81648-00F5-1C43-8611-EB412925AB27}" presName="Name0" presStyleCnt="0">
        <dgm:presLayoutVars>
          <dgm:dir/>
          <dgm:animLvl val="lvl"/>
          <dgm:resizeHandles val="exact"/>
        </dgm:presLayoutVars>
      </dgm:prSet>
      <dgm:spPr/>
    </dgm:pt>
    <dgm:pt modelId="{B4AAF00F-BDA6-5442-A732-AE0783CF1E08}" type="pres">
      <dgm:prSet presAssocID="{978E3FA0-AD1A-6F4E-A754-A38E158F36AD}" presName="parTxOnly" presStyleLbl="node1" presStyleIdx="0" presStyleCnt="4">
        <dgm:presLayoutVars>
          <dgm:chMax val="0"/>
          <dgm:chPref val="0"/>
          <dgm:bulletEnabled val="1"/>
        </dgm:presLayoutVars>
      </dgm:prSet>
      <dgm:spPr/>
    </dgm:pt>
    <dgm:pt modelId="{A4630F62-0BA1-EC42-95C9-02124C5B3162}" type="pres">
      <dgm:prSet presAssocID="{9742A25A-F7E2-6A4B-B20E-EABF8E451D23}" presName="parTxOnlySpace" presStyleCnt="0"/>
      <dgm:spPr/>
    </dgm:pt>
    <dgm:pt modelId="{7C4CC9D4-B4FE-004E-8987-43FD33926934}" type="pres">
      <dgm:prSet presAssocID="{81FED903-8879-944D-8982-5676C5161F67}" presName="parTxOnly" presStyleLbl="node1" presStyleIdx="1" presStyleCnt="4">
        <dgm:presLayoutVars>
          <dgm:chMax val="0"/>
          <dgm:chPref val="0"/>
          <dgm:bulletEnabled val="1"/>
        </dgm:presLayoutVars>
      </dgm:prSet>
      <dgm:spPr/>
    </dgm:pt>
    <dgm:pt modelId="{3ABA4A82-8D1F-1846-96FA-720AFD39BF77}" type="pres">
      <dgm:prSet presAssocID="{175BF783-860D-424F-86A2-905AD3063C46}" presName="parTxOnlySpace" presStyleCnt="0"/>
      <dgm:spPr/>
    </dgm:pt>
    <dgm:pt modelId="{FD2F74A0-F60A-324E-A365-7DC2D88B9D45}" type="pres">
      <dgm:prSet presAssocID="{75BBCB12-748D-9148-B049-48880838F889}" presName="parTxOnly" presStyleLbl="node1" presStyleIdx="2" presStyleCnt="4">
        <dgm:presLayoutVars>
          <dgm:chMax val="0"/>
          <dgm:chPref val="0"/>
          <dgm:bulletEnabled val="1"/>
        </dgm:presLayoutVars>
      </dgm:prSet>
      <dgm:spPr/>
    </dgm:pt>
    <dgm:pt modelId="{7C1A35F9-704B-D64F-BB7B-D79A51F8320E}" type="pres">
      <dgm:prSet presAssocID="{46BF243B-5D4B-8D43-A61D-1D2292D7D9F9}" presName="parTxOnlySpace" presStyleCnt="0"/>
      <dgm:spPr/>
    </dgm:pt>
    <dgm:pt modelId="{F4F1613F-603F-FC43-A7BA-52D6712139BB}" type="pres">
      <dgm:prSet presAssocID="{4C753CF8-7028-4443-959E-916EBBF23870}" presName="parTxOnly" presStyleLbl="node1" presStyleIdx="3" presStyleCnt="4">
        <dgm:presLayoutVars>
          <dgm:chMax val="0"/>
          <dgm:chPref val="0"/>
          <dgm:bulletEnabled val="1"/>
        </dgm:presLayoutVars>
      </dgm:prSet>
      <dgm:spPr/>
    </dgm:pt>
  </dgm:ptLst>
  <dgm:cxnLst>
    <dgm:cxn modelId="{7DD4C601-39B3-3D4A-811D-6507A3D6080A}" srcId="{2FE81648-00F5-1C43-8611-EB412925AB27}" destId="{75BBCB12-748D-9148-B049-48880838F889}" srcOrd="2" destOrd="0" parTransId="{4957B683-6FA4-E34D-805F-F34F03977FD1}" sibTransId="{46BF243B-5D4B-8D43-A61D-1D2292D7D9F9}"/>
    <dgm:cxn modelId="{0AFF6A09-806B-B648-B54D-BA6457C18CB9}" srcId="{2FE81648-00F5-1C43-8611-EB412925AB27}" destId="{978E3FA0-AD1A-6F4E-A754-A38E158F36AD}" srcOrd="0" destOrd="0" parTransId="{95B12F1D-A180-424A-8FC7-540056D48D9B}" sibTransId="{9742A25A-F7E2-6A4B-B20E-EABF8E451D23}"/>
    <dgm:cxn modelId="{CB918F0C-98D2-2B4E-8BC8-7B7E4AD2AC12}" type="presOf" srcId="{978E3FA0-AD1A-6F4E-A754-A38E158F36AD}" destId="{B4AAF00F-BDA6-5442-A732-AE0783CF1E08}" srcOrd="0" destOrd="0" presId="urn:microsoft.com/office/officeart/2005/8/layout/chevron1"/>
    <dgm:cxn modelId="{BED2A334-C7DC-F04D-8F6B-E5AB1F25155A}" type="presOf" srcId="{75BBCB12-748D-9148-B049-48880838F889}" destId="{FD2F74A0-F60A-324E-A365-7DC2D88B9D45}" srcOrd="0" destOrd="0" presId="urn:microsoft.com/office/officeart/2005/8/layout/chevron1"/>
    <dgm:cxn modelId="{C46AB25E-65C3-D944-A044-0426A16FD57F}" type="presOf" srcId="{2FE81648-00F5-1C43-8611-EB412925AB27}" destId="{51ECB86A-98C8-3E4C-AD78-4F92BFE45F1A}" srcOrd="0" destOrd="0" presId="urn:microsoft.com/office/officeart/2005/8/layout/chevron1"/>
    <dgm:cxn modelId="{1E33B866-DF46-904F-B1E6-3513112FF3A8}" type="presOf" srcId="{81FED903-8879-944D-8982-5676C5161F67}" destId="{7C4CC9D4-B4FE-004E-8987-43FD33926934}" srcOrd="0" destOrd="0" presId="urn:microsoft.com/office/officeart/2005/8/layout/chevron1"/>
    <dgm:cxn modelId="{808B8171-31BB-754D-B866-9359F27497CC}" type="presOf" srcId="{4C753CF8-7028-4443-959E-916EBBF23870}" destId="{F4F1613F-603F-FC43-A7BA-52D6712139BB}" srcOrd="0" destOrd="0" presId="urn:microsoft.com/office/officeart/2005/8/layout/chevron1"/>
    <dgm:cxn modelId="{E0893582-09E0-6548-AF37-E59238A09F11}" srcId="{2FE81648-00F5-1C43-8611-EB412925AB27}" destId="{81FED903-8879-944D-8982-5676C5161F67}" srcOrd="1" destOrd="0" parTransId="{A2069193-BD8F-7E49-A86C-4E690D38A5B1}" sibTransId="{175BF783-860D-424F-86A2-905AD3063C46}"/>
    <dgm:cxn modelId="{11F41B9B-0C4C-5E49-A9DF-C91F7C949732}" srcId="{2FE81648-00F5-1C43-8611-EB412925AB27}" destId="{4C753CF8-7028-4443-959E-916EBBF23870}" srcOrd="3" destOrd="0" parTransId="{D79DE87A-DB9E-E246-B110-F7AE72DE4121}" sibTransId="{F629573D-9CAA-6041-B678-163D62B0283B}"/>
    <dgm:cxn modelId="{84362786-32CB-714D-8D4B-AB54554D8B45}" type="presParOf" srcId="{51ECB86A-98C8-3E4C-AD78-4F92BFE45F1A}" destId="{B4AAF00F-BDA6-5442-A732-AE0783CF1E08}" srcOrd="0" destOrd="0" presId="urn:microsoft.com/office/officeart/2005/8/layout/chevron1"/>
    <dgm:cxn modelId="{C7A7453A-40D3-6048-9294-0E695AADB0AD}" type="presParOf" srcId="{51ECB86A-98C8-3E4C-AD78-4F92BFE45F1A}" destId="{A4630F62-0BA1-EC42-95C9-02124C5B3162}" srcOrd="1" destOrd="0" presId="urn:microsoft.com/office/officeart/2005/8/layout/chevron1"/>
    <dgm:cxn modelId="{4424902E-C8C0-BD44-909D-0561617B4544}" type="presParOf" srcId="{51ECB86A-98C8-3E4C-AD78-4F92BFE45F1A}" destId="{7C4CC9D4-B4FE-004E-8987-43FD33926934}" srcOrd="2" destOrd="0" presId="urn:microsoft.com/office/officeart/2005/8/layout/chevron1"/>
    <dgm:cxn modelId="{EAB4A7D1-BFCF-9744-A302-9C1CDA3554F7}" type="presParOf" srcId="{51ECB86A-98C8-3E4C-AD78-4F92BFE45F1A}" destId="{3ABA4A82-8D1F-1846-96FA-720AFD39BF77}" srcOrd="3" destOrd="0" presId="urn:microsoft.com/office/officeart/2005/8/layout/chevron1"/>
    <dgm:cxn modelId="{CFEF1B53-D964-5744-9DCB-4F427E2DB956}" type="presParOf" srcId="{51ECB86A-98C8-3E4C-AD78-4F92BFE45F1A}" destId="{FD2F74A0-F60A-324E-A365-7DC2D88B9D45}" srcOrd="4" destOrd="0" presId="urn:microsoft.com/office/officeart/2005/8/layout/chevron1"/>
    <dgm:cxn modelId="{435BF238-2F70-1F4F-8374-EC9649923E0D}" type="presParOf" srcId="{51ECB86A-98C8-3E4C-AD78-4F92BFE45F1A}" destId="{7C1A35F9-704B-D64F-BB7B-D79A51F8320E}" srcOrd="5" destOrd="0" presId="urn:microsoft.com/office/officeart/2005/8/layout/chevron1"/>
    <dgm:cxn modelId="{48B8D52C-EDAF-104D-841C-C944ECD4429D}" type="presParOf" srcId="{51ECB86A-98C8-3E4C-AD78-4F92BFE45F1A}" destId="{F4F1613F-603F-FC43-A7BA-52D6712139BB}" srcOrd="6"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23E91D-7654-4328-BB3A-21C411FE3E8C}">
      <dsp:nvSpPr>
        <dsp:cNvPr id="0" name=""/>
        <dsp:cNvSpPr/>
      </dsp:nvSpPr>
      <dsp:spPr>
        <a:xfrm>
          <a:off x="4033" y="0"/>
          <a:ext cx="2348004" cy="838841"/>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6015" tIns="38672" rIns="38672" bIns="38672" numCol="1" spcCol="1270" anchor="ctr" anchorCtr="0">
          <a:noAutofit/>
        </a:bodyPr>
        <a:lstStyle/>
        <a:p>
          <a:pPr marL="0" lvl="0" indent="0" algn="ctr" defTabSz="1289050">
            <a:lnSpc>
              <a:spcPct val="90000"/>
            </a:lnSpc>
            <a:spcBef>
              <a:spcPct val="0"/>
            </a:spcBef>
            <a:spcAft>
              <a:spcPct val="35000"/>
            </a:spcAft>
            <a:buNone/>
          </a:pPr>
          <a:r>
            <a:rPr lang="en-US" sz="2900" kern="1200"/>
            <a:t>Analysis</a:t>
          </a:r>
          <a:endParaRPr lang="en-CA" sz="2900" kern="1200"/>
        </a:p>
      </dsp:txBody>
      <dsp:txXfrm>
        <a:off x="423454" y="0"/>
        <a:ext cx="1509163" cy="838841"/>
      </dsp:txXfrm>
    </dsp:sp>
    <dsp:sp modelId="{C4AA9BC9-D69B-462D-B96A-2BEAFF136815}">
      <dsp:nvSpPr>
        <dsp:cNvPr id="0" name=""/>
        <dsp:cNvSpPr/>
      </dsp:nvSpPr>
      <dsp:spPr>
        <a:xfrm>
          <a:off x="2117237" y="0"/>
          <a:ext cx="2348004" cy="838841"/>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6015" tIns="38672" rIns="38672" bIns="38672" numCol="1" spcCol="1270" anchor="ctr" anchorCtr="0">
          <a:noAutofit/>
        </a:bodyPr>
        <a:lstStyle/>
        <a:p>
          <a:pPr marL="0" lvl="0" indent="0" algn="ctr" defTabSz="1289050">
            <a:lnSpc>
              <a:spcPct val="90000"/>
            </a:lnSpc>
            <a:spcBef>
              <a:spcPct val="0"/>
            </a:spcBef>
            <a:spcAft>
              <a:spcPct val="35000"/>
            </a:spcAft>
            <a:buNone/>
          </a:pPr>
          <a:r>
            <a:rPr lang="en-US" sz="2900" kern="1200"/>
            <a:t>Design</a:t>
          </a:r>
          <a:endParaRPr lang="en-CA" sz="2900" kern="1200"/>
        </a:p>
      </dsp:txBody>
      <dsp:txXfrm>
        <a:off x="2536658" y="0"/>
        <a:ext cx="1509163" cy="838841"/>
      </dsp:txXfrm>
    </dsp:sp>
    <dsp:sp modelId="{16826AD9-3992-460E-BA2C-90274517F856}">
      <dsp:nvSpPr>
        <dsp:cNvPr id="0" name=""/>
        <dsp:cNvSpPr/>
      </dsp:nvSpPr>
      <dsp:spPr>
        <a:xfrm>
          <a:off x="4230441" y="0"/>
          <a:ext cx="2348004" cy="838841"/>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6015" tIns="38672" rIns="38672" bIns="38672" numCol="1" spcCol="1270" anchor="ctr" anchorCtr="0">
          <a:noAutofit/>
        </a:bodyPr>
        <a:lstStyle/>
        <a:p>
          <a:pPr marL="0" lvl="0" indent="0" algn="ctr" defTabSz="1289050">
            <a:lnSpc>
              <a:spcPct val="90000"/>
            </a:lnSpc>
            <a:spcBef>
              <a:spcPct val="0"/>
            </a:spcBef>
            <a:spcAft>
              <a:spcPct val="35000"/>
            </a:spcAft>
            <a:buNone/>
          </a:pPr>
          <a:r>
            <a:rPr lang="en-US" sz="2900" kern="1200"/>
            <a:t>Build</a:t>
          </a:r>
          <a:endParaRPr lang="en-CA" sz="2900" kern="1200"/>
        </a:p>
      </dsp:txBody>
      <dsp:txXfrm>
        <a:off x="4649862" y="0"/>
        <a:ext cx="1509163" cy="838841"/>
      </dsp:txXfrm>
    </dsp:sp>
    <dsp:sp modelId="{9109FC96-1511-4B51-8902-4803CAE4B447}">
      <dsp:nvSpPr>
        <dsp:cNvPr id="0" name=""/>
        <dsp:cNvSpPr/>
      </dsp:nvSpPr>
      <dsp:spPr>
        <a:xfrm>
          <a:off x="6343645" y="0"/>
          <a:ext cx="2348004" cy="838841"/>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6015" tIns="38672" rIns="38672" bIns="38672" numCol="1" spcCol="1270" anchor="ctr" anchorCtr="0">
          <a:noAutofit/>
        </a:bodyPr>
        <a:lstStyle/>
        <a:p>
          <a:pPr marL="0" lvl="0" indent="0" algn="ctr" defTabSz="1289050">
            <a:lnSpc>
              <a:spcPct val="90000"/>
            </a:lnSpc>
            <a:spcBef>
              <a:spcPct val="0"/>
            </a:spcBef>
            <a:spcAft>
              <a:spcPct val="35000"/>
            </a:spcAft>
            <a:buNone/>
          </a:pPr>
          <a:r>
            <a:rPr lang="en-US" sz="2900" kern="1200"/>
            <a:t>Validate</a:t>
          </a:r>
          <a:endParaRPr lang="en-CA" sz="2900" kern="1200"/>
        </a:p>
      </dsp:txBody>
      <dsp:txXfrm>
        <a:off x="6763066" y="0"/>
        <a:ext cx="1509163" cy="83884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AAF00F-BDA6-5442-A732-AE0783CF1E08}">
      <dsp:nvSpPr>
        <dsp:cNvPr id="0" name=""/>
        <dsp:cNvSpPr/>
      </dsp:nvSpPr>
      <dsp:spPr>
        <a:xfrm>
          <a:off x="3572" y="56569"/>
          <a:ext cx="2079838" cy="831935"/>
        </a:xfrm>
        <a:prstGeom prst="chevron">
          <a:avLst/>
        </a:prstGeom>
        <a:solidFill>
          <a:schemeClr val="accent1">
            <a:shade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010" tIns="25337" rIns="25337" bIns="25337" numCol="1" spcCol="1270" anchor="ctr" anchorCtr="0">
          <a:noAutofit/>
        </a:bodyPr>
        <a:lstStyle/>
        <a:p>
          <a:pPr marL="0" lvl="0" indent="0" algn="ctr" defTabSz="844550">
            <a:lnSpc>
              <a:spcPct val="90000"/>
            </a:lnSpc>
            <a:spcBef>
              <a:spcPct val="0"/>
            </a:spcBef>
            <a:spcAft>
              <a:spcPct val="35000"/>
            </a:spcAft>
            <a:buNone/>
          </a:pPr>
          <a:r>
            <a:rPr lang="en-US" sz="1900" kern="1200"/>
            <a:t>Confirm</a:t>
          </a:r>
        </a:p>
      </dsp:txBody>
      <dsp:txXfrm>
        <a:off x="419540" y="56569"/>
        <a:ext cx="1247903" cy="831935"/>
      </dsp:txXfrm>
    </dsp:sp>
    <dsp:sp modelId="{7C4CC9D4-B4FE-004E-8987-43FD33926934}">
      <dsp:nvSpPr>
        <dsp:cNvPr id="0" name=""/>
        <dsp:cNvSpPr/>
      </dsp:nvSpPr>
      <dsp:spPr>
        <a:xfrm>
          <a:off x="1875428" y="56569"/>
          <a:ext cx="2079838" cy="831935"/>
        </a:xfrm>
        <a:prstGeom prst="chevron">
          <a:avLst/>
        </a:prstGeom>
        <a:solidFill>
          <a:schemeClr val="accent1">
            <a:shade val="80000"/>
            <a:hueOff val="74757"/>
            <a:satOff val="-18"/>
            <a:lumOff val="836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010" tIns="25337" rIns="25337" bIns="25337" numCol="1" spcCol="1270" anchor="ctr" anchorCtr="0">
          <a:noAutofit/>
        </a:bodyPr>
        <a:lstStyle/>
        <a:p>
          <a:pPr marL="0" lvl="0" indent="0" algn="ctr" defTabSz="844550" rtl="0">
            <a:lnSpc>
              <a:spcPct val="90000"/>
            </a:lnSpc>
            <a:spcBef>
              <a:spcPct val="0"/>
            </a:spcBef>
            <a:spcAft>
              <a:spcPct val="35000"/>
            </a:spcAft>
            <a:buNone/>
          </a:pPr>
          <a:r>
            <a:rPr lang="en-US" sz="1900" kern="1200">
              <a:latin typeface="Arial" panose="020B0604020202020204"/>
            </a:rPr>
            <a:t> Exposure Trace</a:t>
          </a:r>
          <a:endParaRPr lang="en-US" sz="1900" kern="1200"/>
        </a:p>
      </dsp:txBody>
      <dsp:txXfrm>
        <a:off x="2291396" y="56569"/>
        <a:ext cx="1247903" cy="831935"/>
      </dsp:txXfrm>
    </dsp:sp>
    <dsp:sp modelId="{FD2F74A0-F60A-324E-A365-7DC2D88B9D45}">
      <dsp:nvSpPr>
        <dsp:cNvPr id="0" name=""/>
        <dsp:cNvSpPr/>
      </dsp:nvSpPr>
      <dsp:spPr>
        <a:xfrm>
          <a:off x="3747283" y="56569"/>
          <a:ext cx="2079838" cy="831935"/>
        </a:xfrm>
        <a:prstGeom prst="chevron">
          <a:avLst/>
        </a:prstGeom>
        <a:solidFill>
          <a:schemeClr val="accent1">
            <a:shade val="80000"/>
            <a:hueOff val="149515"/>
            <a:satOff val="-36"/>
            <a:lumOff val="1673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010" tIns="25337" rIns="25337" bIns="25337" numCol="1" spcCol="1270" anchor="ctr" anchorCtr="0">
          <a:noAutofit/>
        </a:bodyPr>
        <a:lstStyle/>
        <a:p>
          <a:pPr marL="0" lvl="0" indent="0" algn="ctr" defTabSz="844550">
            <a:lnSpc>
              <a:spcPct val="90000"/>
            </a:lnSpc>
            <a:spcBef>
              <a:spcPct val="0"/>
            </a:spcBef>
            <a:spcAft>
              <a:spcPct val="35000"/>
            </a:spcAft>
            <a:buNone/>
          </a:pPr>
          <a:r>
            <a:rPr lang="en-US" sz="1900" kern="1200">
              <a:latin typeface="Arial" panose="020B0604020202020204"/>
            </a:rPr>
            <a:t>Manage</a:t>
          </a:r>
          <a:endParaRPr lang="en-US" sz="1900" kern="1200"/>
        </a:p>
      </dsp:txBody>
      <dsp:txXfrm>
        <a:off x="4163251" y="56569"/>
        <a:ext cx="1247903" cy="831935"/>
      </dsp:txXfrm>
    </dsp:sp>
    <dsp:sp modelId="{F4F1613F-603F-FC43-A7BA-52D6712139BB}">
      <dsp:nvSpPr>
        <dsp:cNvPr id="0" name=""/>
        <dsp:cNvSpPr/>
      </dsp:nvSpPr>
      <dsp:spPr>
        <a:xfrm>
          <a:off x="5619138" y="56569"/>
          <a:ext cx="2079838" cy="831935"/>
        </a:xfrm>
        <a:prstGeom prst="chevron">
          <a:avLst/>
        </a:prstGeom>
        <a:solidFill>
          <a:schemeClr val="accent1">
            <a:shade val="80000"/>
            <a:hueOff val="224272"/>
            <a:satOff val="-54"/>
            <a:lumOff val="2509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010" tIns="25337" rIns="25337" bIns="25337" numCol="1" spcCol="1270" anchor="ctr" anchorCtr="0">
          <a:noAutofit/>
        </a:bodyPr>
        <a:lstStyle/>
        <a:p>
          <a:pPr marL="0" lvl="0" indent="0" algn="ctr" defTabSz="844550">
            <a:lnSpc>
              <a:spcPct val="90000"/>
            </a:lnSpc>
            <a:spcBef>
              <a:spcPct val="0"/>
            </a:spcBef>
            <a:spcAft>
              <a:spcPct val="35000"/>
            </a:spcAft>
            <a:buNone/>
          </a:pPr>
          <a:r>
            <a:rPr lang="en-US" sz="1900" kern="1200"/>
            <a:t>Close</a:t>
          </a:r>
        </a:p>
      </dsp:txBody>
      <dsp:txXfrm>
        <a:off x="6035106" y="56569"/>
        <a:ext cx="1247903" cy="831935"/>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E247F5-1965-448E-9951-5393B59C36DE}" type="datetimeFigureOut">
              <a:rPr lang="en-US" smtClean="0"/>
              <a:t>6/2/2026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5E05BB-C60C-4B92-8126-408E7DF4F8F1}" type="slidenum">
              <a:rPr lang="en-US" smtClean="0"/>
              <a:t>‹#›</a:t>
            </a:fld>
            <a:endParaRPr lang="en-US"/>
          </a:p>
        </p:txBody>
      </p:sp>
    </p:spTree>
    <p:extLst>
      <p:ext uri="{BB962C8B-B14F-4D97-AF65-F5344CB8AC3E}">
        <p14:creationId xmlns:p14="http://schemas.microsoft.com/office/powerpoint/2010/main" val="37407599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onenote:https://albertahealthservices.sharepoint.com/teams/M365TCCNotifiableDiseaseProjects/SiteAssets/M365T%20-%20CC%20Notifiable%20Disease%20Projects%20Notebook/Outbreak%20Management%20Application%20Design.one#section-id={B18CEF0A-7F53-4AAA-959D-FAA331DCD0FD}&amp;end" TargetMode="External"/><Relationship Id="rId2" Type="http://schemas.openxmlformats.org/officeDocument/2006/relationships/slide" Target="../slides/slide1.xml"/><Relationship Id="rId1" Type="http://schemas.openxmlformats.org/officeDocument/2006/relationships/notesMaster" Target="../notesMasters/notesMaster1.xml"/><Relationship Id="rId4" Type="http://schemas.openxmlformats.org/officeDocument/2006/relationships/hyperlink" Target="https://albertahealthservices.sharepoint.com/teams/M365TCCNotifiableDiseaseProjects/_layouts/Doc.aspx?sourcedoc=%7b49042283-743A-4BCA-BA5D-02B10ECBAA82%7d&amp;wd=target%28Outbreak%20Management%20Application%20Design.one%7CB18CEF0A-7F53-4AAA-959D-FAA331DCD0FD%2F%29&amp;wdsectionfileid=%7bA432F085-5798-4D2A-ADBF-0750A9F49D81%7d&amp;end"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following presentation is intended for use for presenting the design planned for the new Alberta Outbreak Management System as part of the overall Communicable Disease Solution program. This presentation is intended to also be reviewed with the </a:t>
            </a:r>
            <a:r>
              <a:rPr lang="en-CA">
                <a:hlinkClick r:id="rId3"/>
              </a:rPr>
              <a:t>Outbreak Management Application Design</a:t>
            </a:r>
            <a:r>
              <a:rPr lang="en-CA"/>
              <a:t>  (</a:t>
            </a:r>
            <a:r>
              <a:rPr lang="en-CA">
                <a:hlinkClick r:id="rId4"/>
              </a:rPr>
              <a:t>Web view</a:t>
            </a:r>
            <a:r>
              <a:rPr lang="en-CA"/>
              <a:t>) screen specifications and database design.</a:t>
            </a:r>
            <a:endParaRPr lang="en-US"/>
          </a:p>
          <a:p>
            <a:endParaRPr lang="en-CA">
              <a:ea typeface="Calibri"/>
              <a:cs typeface="Calibri"/>
            </a:endParaRPr>
          </a:p>
          <a:p>
            <a:r>
              <a:rPr lang="en-CA" b="1">
                <a:ea typeface="Calibri"/>
                <a:cs typeface="Calibri"/>
              </a:rPr>
              <a:t>Presentation Approach</a:t>
            </a:r>
          </a:p>
          <a:p>
            <a:endParaRPr lang="en-CA">
              <a:ea typeface="Calibri"/>
              <a:cs typeface="Calibri"/>
            </a:endParaRPr>
          </a:p>
          <a:p>
            <a:pPr marL="228600" indent="-228600">
              <a:buAutoNum type="arabicPeriod"/>
            </a:pPr>
            <a:r>
              <a:rPr lang="en-CA">
                <a:ea typeface="Calibri"/>
                <a:cs typeface="Calibri"/>
              </a:rPr>
              <a:t>This presentation will be used initially with all affected user stakeholders in one meeting together. This includes CDC, SHE, PPHS, and TB with STI as optional </a:t>
            </a:r>
          </a:p>
          <a:p>
            <a:pPr marL="228600" indent="-228600">
              <a:buAutoNum type="arabicPeriod"/>
            </a:pPr>
            <a:r>
              <a:rPr lang="en-CA">
                <a:ea typeface="Calibri"/>
                <a:cs typeface="Calibri"/>
              </a:rPr>
              <a:t>There will need to be additional working sessions on a screen by screen basis to confirm the build specifications before the developers actually start programming.</a:t>
            </a:r>
          </a:p>
          <a:p>
            <a:pPr marL="228600" indent="-228600">
              <a:buAutoNum type="arabicPeriod"/>
            </a:pPr>
            <a:endParaRPr lang="en-CA">
              <a:ea typeface="Calibri"/>
              <a:cs typeface="Calibri"/>
            </a:endParaRPr>
          </a:p>
          <a:p>
            <a:r>
              <a:rPr lang="en-CA" b="1">
                <a:ea typeface="Calibri"/>
                <a:cs typeface="Calibri"/>
              </a:rPr>
              <a:t>Note</a:t>
            </a:r>
            <a:r>
              <a:rPr lang="en-CA">
                <a:ea typeface="Calibri"/>
                <a:cs typeface="Calibri"/>
              </a:rPr>
              <a:t> - The wireframe is intended to be just enough design to be able to start building the screens in the new application.</a:t>
            </a:r>
          </a:p>
          <a:p>
            <a:endParaRPr lang="en-US"/>
          </a:p>
          <a:p>
            <a:r>
              <a:rPr lang="en-US" b="1"/>
              <a:t>Version History</a:t>
            </a:r>
          </a:p>
          <a:p>
            <a:endParaRPr lang="en-US"/>
          </a:p>
          <a:p>
            <a:pPr marL="171450" indent="-171450">
              <a:buAutoNum type="arabicPeriod"/>
            </a:pPr>
            <a:r>
              <a:rPr lang="en-CA"/>
              <a:t>March 16 &amp; 18, 2026 (Alec Blair and Juliane Mueller) – Initial draft with candidate slide notes</a:t>
            </a:r>
            <a:endParaRPr lang="en-CA">
              <a:ea typeface="Calibri" panose="020F0502020204030204"/>
              <a:cs typeface="Calibri" panose="020F0502020204030204"/>
            </a:endParaRPr>
          </a:p>
        </p:txBody>
      </p:sp>
      <p:sp>
        <p:nvSpPr>
          <p:cNvPr id="4" name="Slide Number Placeholder 3"/>
          <p:cNvSpPr>
            <a:spLocks noGrp="1"/>
          </p:cNvSpPr>
          <p:nvPr>
            <p:ph type="sldNum" sz="quarter" idx="5"/>
          </p:nvPr>
        </p:nvSpPr>
        <p:spPr/>
        <p:txBody>
          <a:bodyPr/>
          <a:lstStyle/>
          <a:p>
            <a:fld id="{2A5E05BB-C60C-4B92-8126-408E7DF4F8F1}" type="slidenum">
              <a:rPr lang="en-US" smtClean="0"/>
              <a:t>1</a:t>
            </a:fld>
            <a:endParaRPr lang="en-US"/>
          </a:p>
        </p:txBody>
      </p:sp>
    </p:spTree>
    <p:extLst>
      <p:ext uri="{BB962C8B-B14F-4D97-AF65-F5344CB8AC3E}">
        <p14:creationId xmlns:p14="http://schemas.microsoft.com/office/powerpoint/2010/main" val="27457328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From a Communicable Disease Solution perspective, we’re just finishing up the design stage of the project so that we can then move into the build phase of the project.</a:t>
            </a:r>
            <a:endParaRPr lang="en-CA"/>
          </a:p>
        </p:txBody>
      </p:sp>
      <p:sp>
        <p:nvSpPr>
          <p:cNvPr id="4" name="Slide Number Placeholder 3"/>
          <p:cNvSpPr>
            <a:spLocks noGrp="1"/>
          </p:cNvSpPr>
          <p:nvPr>
            <p:ph type="sldNum" sz="quarter" idx="5"/>
          </p:nvPr>
        </p:nvSpPr>
        <p:spPr/>
        <p:txBody>
          <a:bodyPr/>
          <a:lstStyle/>
          <a:p>
            <a:fld id="{2A5E05BB-C60C-4B92-8126-408E7DF4F8F1}" type="slidenum">
              <a:rPr lang="en-US" smtClean="0"/>
              <a:t>2</a:t>
            </a:fld>
            <a:endParaRPr lang="en-US"/>
          </a:p>
        </p:txBody>
      </p:sp>
    </p:spTree>
    <p:extLst>
      <p:ext uri="{BB962C8B-B14F-4D97-AF65-F5344CB8AC3E}">
        <p14:creationId xmlns:p14="http://schemas.microsoft.com/office/powerpoint/2010/main" val="29243606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Wireframes are intended to provide a quick sense of what the application user experience will look like. Aligned to the wireframes are the design specifications for each of the screens that also link to the application’s data model.  The goal at this stage is not to go down to the complete level of detail for the whole solution. Rather, at this point we have moved from the conceptual to the logical level of design that will form the scaffolding required to start the detailed build.</a:t>
            </a:r>
            <a:endParaRPr lang="en-CA"/>
          </a:p>
        </p:txBody>
      </p:sp>
      <p:sp>
        <p:nvSpPr>
          <p:cNvPr id="4" name="Slide Number Placeholder 3"/>
          <p:cNvSpPr>
            <a:spLocks noGrp="1"/>
          </p:cNvSpPr>
          <p:nvPr>
            <p:ph type="sldNum" sz="quarter" idx="5"/>
          </p:nvPr>
        </p:nvSpPr>
        <p:spPr/>
        <p:txBody>
          <a:bodyPr/>
          <a:lstStyle/>
          <a:p>
            <a:fld id="{2A5E05BB-C60C-4B92-8126-408E7DF4F8F1}" type="slidenum">
              <a:rPr lang="en-US" smtClean="0"/>
              <a:t>3</a:t>
            </a:fld>
            <a:endParaRPr lang="en-US"/>
          </a:p>
        </p:txBody>
      </p:sp>
    </p:spTree>
    <p:extLst>
      <p:ext uri="{BB962C8B-B14F-4D97-AF65-F5344CB8AC3E}">
        <p14:creationId xmlns:p14="http://schemas.microsoft.com/office/powerpoint/2010/main" val="13460662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Through the design process, a number of things have changed since the conceptual design was first drafted in December 2025.  This includes the following changes</a:t>
            </a:r>
          </a:p>
          <a:p>
            <a:endParaRPr lang="en-US"/>
          </a:p>
          <a:p>
            <a:pPr marL="171450" indent="-171450">
              <a:buFont typeface="Arial" panose="020B0604020202020204" pitchFamily="34" charset="0"/>
              <a:buChar char="•"/>
            </a:pPr>
            <a:r>
              <a:rPr lang="en-CA"/>
              <a:t>The interface to access the EMPI and perform user validation was taken out since it will be easier to just open a communicable disease episode and lookup the patient in Connect Care. This decision may be revisited when we get to health care facility reporting that does allow for the provision of a ULI for patients.</a:t>
            </a:r>
          </a:p>
          <a:p>
            <a:pPr marL="171450" indent="-171450">
              <a:buFont typeface="Arial" panose="020B0604020202020204" pitchFamily="34" charset="0"/>
              <a:buChar char="•"/>
            </a:pPr>
            <a:r>
              <a:rPr lang="en-CA"/>
              <a:t>A closed loop for Outbreak ID has been added to the design to reduce the probability of error when looking up a possible outbreak for  given communicable disease </a:t>
            </a:r>
          </a:p>
          <a:p>
            <a:pPr marL="171450" indent="-171450">
              <a:buFont typeface="Arial" panose="020B0604020202020204" pitchFamily="34" charset="0"/>
              <a:buChar char="•"/>
            </a:pPr>
            <a:r>
              <a:rPr lang="en-CA"/>
              <a:t>The Outbreak Application functional decomposition now reflects the new screens and associated wireframes.</a:t>
            </a:r>
          </a:p>
        </p:txBody>
      </p:sp>
      <p:sp>
        <p:nvSpPr>
          <p:cNvPr id="4" name="Slide Number Placeholder 3"/>
          <p:cNvSpPr>
            <a:spLocks noGrp="1"/>
          </p:cNvSpPr>
          <p:nvPr>
            <p:ph type="sldNum" sz="quarter" idx="5"/>
          </p:nvPr>
        </p:nvSpPr>
        <p:spPr/>
        <p:txBody>
          <a:bodyPr/>
          <a:lstStyle/>
          <a:p>
            <a:fld id="{2A5E05BB-C60C-4B92-8126-408E7DF4F8F1}" type="slidenum">
              <a:rPr lang="en-US" smtClean="0"/>
              <a:t>4</a:t>
            </a:fld>
            <a:endParaRPr lang="en-US"/>
          </a:p>
        </p:txBody>
      </p:sp>
    </p:spTree>
    <p:extLst>
      <p:ext uri="{BB962C8B-B14F-4D97-AF65-F5344CB8AC3E}">
        <p14:creationId xmlns:p14="http://schemas.microsoft.com/office/powerpoint/2010/main" val="31030048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As part of the overall design, it will be useful to start with the foundational data that will be pre-loaded into the new AOMS application, but will need to be updated over time. </a:t>
            </a:r>
            <a:r>
              <a:rPr lang="en-US" err="1"/>
              <a:t>E.g</a:t>
            </a:r>
            <a:r>
              <a:rPr lang="en-US"/>
              <a:t> data lake house</a:t>
            </a:r>
            <a:endParaRPr lang="en-CA"/>
          </a:p>
        </p:txBody>
      </p:sp>
      <p:sp>
        <p:nvSpPr>
          <p:cNvPr id="4" name="Slide Number Placeholder 3"/>
          <p:cNvSpPr>
            <a:spLocks noGrp="1"/>
          </p:cNvSpPr>
          <p:nvPr>
            <p:ph type="sldNum" sz="quarter" idx="5"/>
          </p:nvPr>
        </p:nvSpPr>
        <p:spPr/>
        <p:txBody>
          <a:bodyPr/>
          <a:lstStyle/>
          <a:p>
            <a:fld id="{2A5E05BB-C60C-4B92-8126-408E7DF4F8F1}" type="slidenum">
              <a:rPr lang="en-US" smtClean="0"/>
              <a:t>5</a:t>
            </a:fld>
            <a:endParaRPr lang="en-US"/>
          </a:p>
        </p:txBody>
      </p:sp>
    </p:spTree>
    <p:extLst>
      <p:ext uri="{BB962C8B-B14F-4D97-AF65-F5344CB8AC3E}">
        <p14:creationId xmlns:p14="http://schemas.microsoft.com/office/powerpoint/2010/main" val="18917118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First off, we will need to provide access to the appropriate people. We will be leveraging Active Directory to look someone up so that we can then add a role and department for role-based access. A list of existing users will be at the bottom of the screen so that we avoid adding duplicates.  This screen will be accessible from the Create Outbreak and the Outbreak Investigation Details screen. Existing user list optional for Quality Assurance to prevent duplicates.</a:t>
            </a:r>
            <a:endParaRPr lang="en-US">
              <a:ea typeface="Calibri"/>
              <a:cs typeface="Calibri"/>
            </a:endParaRPr>
          </a:p>
        </p:txBody>
      </p:sp>
      <p:sp>
        <p:nvSpPr>
          <p:cNvPr id="4" name="Slide Number Placeholder 3"/>
          <p:cNvSpPr>
            <a:spLocks noGrp="1"/>
          </p:cNvSpPr>
          <p:nvPr>
            <p:ph type="sldNum" sz="quarter" idx="5"/>
          </p:nvPr>
        </p:nvSpPr>
        <p:spPr/>
        <p:txBody>
          <a:bodyPr/>
          <a:lstStyle/>
          <a:p>
            <a:fld id="{2A5E05BB-C60C-4B92-8126-408E7DF4F8F1}" type="slidenum">
              <a:rPr lang="en-US" smtClean="0"/>
              <a:t>6</a:t>
            </a:fld>
            <a:endParaRPr lang="en-US"/>
          </a:p>
        </p:txBody>
      </p:sp>
    </p:spTree>
    <p:extLst>
      <p:ext uri="{BB962C8B-B14F-4D97-AF65-F5344CB8AC3E}">
        <p14:creationId xmlns:p14="http://schemas.microsoft.com/office/powerpoint/2010/main" val="5843956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goal with this screen will be to create and maintain data about facilities down to the unit, floor and room level.  There is a plan to be able to sync with the </a:t>
            </a:r>
            <a:r>
              <a:rPr lang="en-US" err="1"/>
              <a:t>ePHIS</a:t>
            </a:r>
            <a:r>
              <a:rPr lang="en-US"/>
              <a:t> and Connect Care to have a master location cross reference across those applications.  Other authoritative sources may also be added as they become available.</a:t>
            </a:r>
          </a:p>
          <a:p>
            <a:endParaRPr lang="en-US">
              <a:ea typeface="Calibri"/>
              <a:cs typeface="Calibri"/>
            </a:endParaRPr>
          </a:p>
          <a:p>
            <a:r>
              <a:rPr lang="en-CA">
                <a:ea typeface="Calibri"/>
                <a:cs typeface="Calibri"/>
              </a:rPr>
              <a:t>Need to confirm if we need total facility and client counts defined as well so that % of staff or patients affected can be calculated.</a:t>
            </a:r>
            <a:endParaRPr lang="en-US" err="1">
              <a:ea typeface="Calibri"/>
              <a:cs typeface="Calibri"/>
            </a:endParaRPr>
          </a:p>
        </p:txBody>
      </p:sp>
      <p:sp>
        <p:nvSpPr>
          <p:cNvPr id="4" name="Slide Number Placeholder 3"/>
          <p:cNvSpPr>
            <a:spLocks noGrp="1"/>
          </p:cNvSpPr>
          <p:nvPr>
            <p:ph type="sldNum" sz="quarter" idx="5"/>
          </p:nvPr>
        </p:nvSpPr>
        <p:spPr/>
        <p:txBody>
          <a:bodyPr/>
          <a:lstStyle/>
          <a:p>
            <a:fld id="{2A5E05BB-C60C-4B92-8126-408E7DF4F8F1}" type="slidenum">
              <a:rPr lang="en-US" smtClean="0"/>
              <a:t>7</a:t>
            </a:fld>
            <a:endParaRPr lang="en-US"/>
          </a:p>
        </p:txBody>
      </p:sp>
    </p:spTree>
    <p:extLst>
      <p:ext uri="{BB962C8B-B14F-4D97-AF65-F5344CB8AC3E}">
        <p14:creationId xmlns:p14="http://schemas.microsoft.com/office/powerpoint/2010/main" val="39678245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key enhancement will be adding and maintaining organism attributes as well as outbreak criteria. This data will be loaded from the existing outbreak case definitions so that an automated check can be made to alert when an outbreak has met the appropriate criteria. It will also ensure that outbreak screens will be populated with only the fields that are appropriate for the given disease. For example, no fields for vaccine if the organism is not vaccine preventable.</a:t>
            </a:r>
            <a:endParaRPr lang="en-CA"/>
          </a:p>
        </p:txBody>
      </p:sp>
      <p:sp>
        <p:nvSpPr>
          <p:cNvPr id="4" name="Slide Number Placeholder 3"/>
          <p:cNvSpPr>
            <a:spLocks noGrp="1"/>
          </p:cNvSpPr>
          <p:nvPr>
            <p:ph type="sldNum" sz="quarter" idx="5"/>
          </p:nvPr>
        </p:nvSpPr>
        <p:spPr/>
        <p:txBody>
          <a:bodyPr/>
          <a:lstStyle/>
          <a:p>
            <a:fld id="{2A5E05BB-C60C-4B92-8126-408E7DF4F8F1}" type="slidenum">
              <a:rPr lang="en-US" smtClean="0"/>
              <a:t>8</a:t>
            </a:fld>
            <a:endParaRPr lang="en-US"/>
          </a:p>
        </p:txBody>
      </p:sp>
    </p:spTree>
    <p:extLst>
      <p:ext uri="{BB962C8B-B14F-4D97-AF65-F5344CB8AC3E}">
        <p14:creationId xmlns:p14="http://schemas.microsoft.com/office/powerpoint/2010/main" val="33206322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This screen will be available within the Outbreak application and accessible from Connect Care as button on the Communicable Disease Abstract. We need to confirm if we can have the Outbreak Investigation ID sent back to Connect Care to auto populate the Communicable Disease Abstract.</a:t>
            </a:r>
          </a:p>
          <a:p>
            <a:endParaRPr lang="en-US">
              <a:ea typeface="Calibri"/>
              <a:cs typeface="Calibri"/>
            </a:endParaRPr>
          </a:p>
          <a:p>
            <a:r>
              <a:rPr lang="en-US">
                <a:ea typeface="Calibri"/>
                <a:cs typeface="Calibri"/>
              </a:rPr>
              <a:t>This is a screen that will be used to lookup an existing outbreak to go into the further details as well as support the ability the creation of a new outbreak.</a:t>
            </a:r>
          </a:p>
        </p:txBody>
      </p:sp>
      <p:sp>
        <p:nvSpPr>
          <p:cNvPr id="4" name="Slide Number Placeholder 3"/>
          <p:cNvSpPr>
            <a:spLocks noGrp="1"/>
          </p:cNvSpPr>
          <p:nvPr>
            <p:ph type="sldNum" sz="quarter" idx="5"/>
          </p:nvPr>
        </p:nvSpPr>
        <p:spPr/>
        <p:txBody>
          <a:bodyPr/>
          <a:lstStyle/>
          <a:p>
            <a:fld id="{2A5E05BB-C60C-4B92-8126-408E7DF4F8F1}" type="slidenum">
              <a:rPr lang="en-US" smtClean="0"/>
              <a:t>10</a:t>
            </a:fld>
            <a:endParaRPr lang="en-US"/>
          </a:p>
        </p:txBody>
      </p:sp>
    </p:spTree>
    <p:extLst>
      <p:ext uri="{BB962C8B-B14F-4D97-AF65-F5344CB8AC3E}">
        <p14:creationId xmlns:p14="http://schemas.microsoft.com/office/powerpoint/2010/main" val="6753258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A design principle was to have a Create Outbreak screen that would only contain the minimum mandatory fields to quicky create the outbreak and the associated auto-generated Outbreak Investigation ID and potentially a Name formula.</a:t>
            </a:r>
          </a:p>
        </p:txBody>
      </p:sp>
      <p:sp>
        <p:nvSpPr>
          <p:cNvPr id="4" name="Slide Number Placeholder 3"/>
          <p:cNvSpPr>
            <a:spLocks noGrp="1"/>
          </p:cNvSpPr>
          <p:nvPr>
            <p:ph type="sldNum" sz="quarter" idx="5"/>
          </p:nvPr>
        </p:nvSpPr>
        <p:spPr/>
        <p:txBody>
          <a:bodyPr/>
          <a:lstStyle/>
          <a:p>
            <a:fld id="{2A5E05BB-C60C-4B92-8126-408E7DF4F8F1}" type="slidenum">
              <a:rPr lang="en-US" smtClean="0"/>
              <a:t>11</a:t>
            </a:fld>
            <a:endParaRPr lang="en-US"/>
          </a:p>
        </p:txBody>
      </p:sp>
    </p:spTree>
    <p:extLst>
      <p:ext uri="{BB962C8B-B14F-4D97-AF65-F5344CB8AC3E}">
        <p14:creationId xmlns:p14="http://schemas.microsoft.com/office/powerpoint/2010/main" val="24735092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ea typeface="Calibri"/>
                <a:cs typeface="Calibri"/>
              </a:rPr>
              <a:t>The investigation details screen is where the details required for AORF submissions as well as non-</a:t>
            </a:r>
            <a:r>
              <a:rPr lang="en-CA" err="1">
                <a:ea typeface="Calibri"/>
                <a:cs typeface="Calibri"/>
              </a:rPr>
              <a:t>manda</a:t>
            </a:r>
            <a:r>
              <a:rPr lang="en-CA">
                <a:ea typeface="Calibri"/>
                <a:cs typeface="Calibri"/>
              </a:rPr>
              <a:t>tory fields are updated throughout the Outbreak lifecycle. </a:t>
            </a:r>
          </a:p>
          <a:p>
            <a:endParaRPr lang="en-CA">
              <a:ea typeface="Calibri"/>
              <a:cs typeface="Calibri"/>
            </a:endParaRPr>
          </a:p>
          <a:p>
            <a:r>
              <a:rPr lang="en-CA">
                <a:ea typeface="Calibri"/>
                <a:cs typeface="Calibri"/>
              </a:rPr>
              <a:t>Note that the intent with the Cluster ID is that a 'master outbreak investigation' can be created that aggregates multiple other investigations together.</a:t>
            </a:r>
          </a:p>
        </p:txBody>
      </p:sp>
      <p:sp>
        <p:nvSpPr>
          <p:cNvPr id="4" name="Slide Number Placeholder 3"/>
          <p:cNvSpPr>
            <a:spLocks noGrp="1"/>
          </p:cNvSpPr>
          <p:nvPr>
            <p:ph type="sldNum" sz="quarter" idx="5"/>
          </p:nvPr>
        </p:nvSpPr>
        <p:spPr/>
        <p:txBody>
          <a:bodyPr/>
          <a:lstStyle/>
          <a:p>
            <a:fld id="{2A5E05BB-C60C-4B92-8126-408E7DF4F8F1}" type="slidenum">
              <a:rPr lang="en-US" smtClean="0"/>
              <a:t>12</a:t>
            </a:fld>
            <a:endParaRPr lang="en-US"/>
          </a:p>
        </p:txBody>
      </p:sp>
    </p:spTree>
    <p:extLst>
      <p:ext uri="{BB962C8B-B14F-4D97-AF65-F5344CB8AC3E}">
        <p14:creationId xmlns:p14="http://schemas.microsoft.com/office/powerpoint/2010/main" val="33778019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E59CA-098B-0726-D61F-FBC8D532AA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69801B-E295-5125-029A-C7B46CBF2B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1D1A52-0E1A-FB90-6C8A-B22187C983DC}"/>
              </a:ext>
            </a:extLst>
          </p:cNvPr>
          <p:cNvSpPr>
            <a:spLocks noGrp="1"/>
          </p:cNvSpPr>
          <p:nvPr>
            <p:ph type="body" idx="1"/>
          </p:nvPr>
        </p:nvSpPr>
        <p:spPr/>
        <p:txBody>
          <a:bodyPr/>
          <a:lstStyle/>
          <a:p>
            <a:r>
              <a:rPr lang="en-US">
                <a:ea typeface="Calibri"/>
                <a:cs typeface="Calibri"/>
              </a:rPr>
              <a:t>This screen will be available within the Outbreak application and accessible from Connect Care as button on the Communicable Disease Abstract. We need to confirm if we can have the Outbreak Investigation ID sent back to Connect Care to auto populate the Communicable Disease Abstract.</a:t>
            </a:r>
          </a:p>
          <a:p>
            <a:endParaRPr lang="en-US">
              <a:ea typeface="Calibri"/>
              <a:cs typeface="Calibri"/>
            </a:endParaRPr>
          </a:p>
          <a:p>
            <a:r>
              <a:rPr lang="en-US">
                <a:ea typeface="Calibri"/>
                <a:cs typeface="Calibri"/>
              </a:rPr>
              <a:t>This is a screen that will be used to lookup an existing outbreak to go into the further details as well as support the ability the creation of a new outbreak.</a:t>
            </a:r>
          </a:p>
        </p:txBody>
      </p:sp>
      <p:sp>
        <p:nvSpPr>
          <p:cNvPr id="4" name="Slide Number Placeholder 3">
            <a:extLst>
              <a:ext uri="{FF2B5EF4-FFF2-40B4-BE49-F238E27FC236}">
                <a16:creationId xmlns:a16="http://schemas.microsoft.com/office/drawing/2014/main" id="{B915A83D-1E9F-B387-61A8-9A0293B7B1D1}"/>
              </a:ext>
            </a:extLst>
          </p:cNvPr>
          <p:cNvSpPr>
            <a:spLocks noGrp="1"/>
          </p:cNvSpPr>
          <p:nvPr>
            <p:ph type="sldNum" sz="quarter" idx="5"/>
          </p:nvPr>
        </p:nvSpPr>
        <p:spPr/>
        <p:txBody>
          <a:bodyPr/>
          <a:lstStyle/>
          <a:p>
            <a:fld id="{2A5E05BB-C60C-4B92-8126-408E7DF4F8F1}" type="slidenum">
              <a:rPr lang="en-US" smtClean="0"/>
              <a:t>13</a:t>
            </a:fld>
            <a:endParaRPr lang="en-US"/>
          </a:p>
        </p:txBody>
      </p:sp>
    </p:spTree>
    <p:extLst>
      <p:ext uri="{BB962C8B-B14F-4D97-AF65-F5344CB8AC3E}">
        <p14:creationId xmlns:p14="http://schemas.microsoft.com/office/powerpoint/2010/main" val="3513254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This needs more feedback on the types of tasks that need to be added</a:t>
            </a:r>
          </a:p>
        </p:txBody>
      </p:sp>
      <p:sp>
        <p:nvSpPr>
          <p:cNvPr id="4" name="Slide Number Placeholder 3"/>
          <p:cNvSpPr>
            <a:spLocks noGrp="1"/>
          </p:cNvSpPr>
          <p:nvPr>
            <p:ph type="sldNum" sz="quarter" idx="5"/>
          </p:nvPr>
        </p:nvSpPr>
        <p:spPr/>
        <p:txBody>
          <a:bodyPr/>
          <a:lstStyle/>
          <a:p>
            <a:fld id="{2A5E05BB-C60C-4B92-8126-408E7DF4F8F1}" type="slidenum">
              <a:rPr lang="en-US" smtClean="0"/>
              <a:t>14</a:t>
            </a:fld>
            <a:endParaRPr lang="en-US"/>
          </a:p>
        </p:txBody>
      </p:sp>
    </p:spTree>
    <p:extLst>
      <p:ext uri="{BB962C8B-B14F-4D97-AF65-F5344CB8AC3E}">
        <p14:creationId xmlns:p14="http://schemas.microsoft.com/office/powerpoint/2010/main" val="41128708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The Create Questionnaire form will use the organism table information automatically create a default Facility or Outbreak questionnaire. This can be aggregate to line list. Additional fields can be added if needed for questions beyond the initial base design.  </a:t>
            </a:r>
          </a:p>
        </p:txBody>
      </p:sp>
      <p:sp>
        <p:nvSpPr>
          <p:cNvPr id="4" name="Slide Number Placeholder 3"/>
          <p:cNvSpPr>
            <a:spLocks noGrp="1"/>
          </p:cNvSpPr>
          <p:nvPr>
            <p:ph type="sldNum" sz="quarter" idx="5"/>
          </p:nvPr>
        </p:nvSpPr>
        <p:spPr/>
        <p:txBody>
          <a:bodyPr/>
          <a:lstStyle/>
          <a:p>
            <a:fld id="{2A5E05BB-C60C-4B92-8126-408E7DF4F8F1}" type="slidenum">
              <a:rPr lang="en-US" smtClean="0"/>
              <a:t>15</a:t>
            </a:fld>
            <a:endParaRPr lang="en-US"/>
          </a:p>
        </p:txBody>
      </p:sp>
    </p:spTree>
    <p:extLst>
      <p:ext uri="{BB962C8B-B14F-4D97-AF65-F5344CB8AC3E}">
        <p14:creationId xmlns:p14="http://schemas.microsoft.com/office/powerpoint/2010/main" val="3505588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Once the questionnaire has been created, there will a dedicated web page that can be in three ways:</a:t>
            </a:r>
          </a:p>
          <a:p>
            <a:pPr marL="228600" indent="-228600">
              <a:buAutoNum type="arabicPeriod"/>
            </a:pPr>
            <a:r>
              <a:rPr lang="en-US">
                <a:ea typeface="Calibri"/>
                <a:cs typeface="Calibri"/>
              </a:rPr>
              <a:t>Fill additional/updated data in the web page directly.</a:t>
            </a:r>
          </a:p>
          <a:p>
            <a:pPr marL="228600" indent="-228600">
              <a:buAutoNum type="arabicPeriod"/>
            </a:pPr>
            <a:r>
              <a:rPr lang="en-US">
                <a:ea typeface="Calibri"/>
                <a:cs typeface="Calibri"/>
              </a:rPr>
              <a:t>Download a </a:t>
            </a:r>
            <a:r>
              <a:rPr lang="en-US" err="1">
                <a:ea typeface="Calibri"/>
                <a:cs typeface="Calibri"/>
              </a:rPr>
              <a:t>custo</a:t>
            </a:r>
            <a:r>
              <a:rPr lang="en-US">
                <a:ea typeface="Calibri"/>
                <a:cs typeface="Calibri"/>
              </a:rPr>
              <a:t>m Excel spreadsheet that can filled in and uploaded by the facility each day or;</a:t>
            </a:r>
          </a:p>
          <a:p>
            <a:pPr marL="228600" indent="-228600">
              <a:buAutoNum type="arabicPeriod"/>
            </a:pPr>
            <a:r>
              <a:rPr lang="en-US">
                <a:ea typeface="Calibri"/>
                <a:cs typeface="Calibri"/>
              </a:rPr>
              <a:t>Create a fillable .pdf that can be submitted, but then would need to be transcribed if manually completed.</a:t>
            </a:r>
          </a:p>
        </p:txBody>
      </p:sp>
      <p:sp>
        <p:nvSpPr>
          <p:cNvPr id="4" name="Slide Number Placeholder 3"/>
          <p:cNvSpPr>
            <a:spLocks noGrp="1"/>
          </p:cNvSpPr>
          <p:nvPr>
            <p:ph type="sldNum" sz="quarter" idx="5"/>
          </p:nvPr>
        </p:nvSpPr>
        <p:spPr/>
        <p:txBody>
          <a:bodyPr/>
          <a:lstStyle/>
          <a:p>
            <a:fld id="{2A5E05BB-C60C-4B92-8126-408E7DF4F8F1}" type="slidenum">
              <a:rPr lang="en-US" smtClean="0"/>
              <a:t>16</a:t>
            </a:fld>
            <a:endParaRPr lang="en-US"/>
          </a:p>
        </p:txBody>
      </p:sp>
    </p:spTree>
    <p:extLst>
      <p:ext uri="{BB962C8B-B14F-4D97-AF65-F5344CB8AC3E}">
        <p14:creationId xmlns:p14="http://schemas.microsoft.com/office/powerpoint/2010/main" val="19862348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The Outbreak Case Count Screen is an overall report that supports AORF submission detail.  This will have both summary and where there is a line list, individual questionnaire entries aggregated</a:t>
            </a:r>
          </a:p>
        </p:txBody>
      </p:sp>
      <p:sp>
        <p:nvSpPr>
          <p:cNvPr id="4" name="Slide Number Placeholder 3"/>
          <p:cNvSpPr>
            <a:spLocks noGrp="1"/>
          </p:cNvSpPr>
          <p:nvPr>
            <p:ph type="sldNum" sz="quarter" idx="5"/>
          </p:nvPr>
        </p:nvSpPr>
        <p:spPr/>
        <p:txBody>
          <a:bodyPr/>
          <a:lstStyle/>
          <a:p>
            <a:fld id="{2A5E05BB-C60C-4B92-8126-408E7DF4F8F1}" type="slidenum">
              <a:rPr lang="en-US" smtClean="0"/>
              <a:t>17</a:t>
            </a:fld>
            <a:endParaRPr lang="en-US"/>
          </a:p>
        </p:txBody>
      </p:sp>
    </p:spTree>
    <p:extLst>
      <p:ext uri="{BB962C8B-B14F-4D97-AF65-F5344CB8AC3E}">
        <p14:creationId xmlns:p14="http://schemas.microsoft.com/office/powerpoint/2010/main" val="188289882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48A87A34-81AB-432B-8DAE-1953F412C126}" type="datetimeFigureOut">
              <a:rPr lang="en-US" smtClean="0"/>
              <a:t>6/2/2026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a:p>
        </p:txBody>
      </p:sp>
      <p:sp>
        <p:nvSpPr>
          <p:cNvPr id="7" name="TextBox 6">
            <a:extLst>
              <a:ext uri="{FF2B5EF4-FFF2-40B4-BE49-F238E27FC236}">
                <a16:creationId xmlns:a16="http://schemas.microsoft.com/office/drawing/2014/main" id="{A052CD10-B55A-175C-DB29-72873B947D2F}"/>
              </a:ext>
            </a:extLst>
          </p:cNvPr>
          <p:cNvSpPr txBox="1"/>
          <p:nvPr userDrawn="1"/>
        </p:nvSpPr>
        <p:spPr>
          <a:xfrm>
            <a:off x="802385" y="181697"/>
            <a:ext cx="6464205" cy="400110"/>
          </a:xfrm>
          <a:prstGeom prst="rect">
            <a:avLst/>
          </a:prstGeom>
          <a:noFill/>
        </p:spPr>
        <p:txBody>
          <a:bodyPr wrap="none" rtlCol="0">
            <a:spAutoFit/>
          </a:bodyPr>
          <a:lstStyle/>
          <a:p>
            <a:r>
              <a:rPr lang="en-US" sz="2000" b="1">
                <a:solidFill>
                  <a:schemeClr val="accent6"/>
                </a:solidFill>
              </a:rPr>
              <a:t>Healthy Albertans. Healthy Communities. Together.</a:t>
            </a:r>
          </a:p>
        </p:txBody>
      </p:sp>
      <p:pic>
        <p:nvPicPr>
          <p:cNvPr id="8" name="Graphic 7">
            <a:extLst>
              <a:ext uri="{FF2B5EF4-FFF2-40B4-BE49-F238E27FC236}">
                <a16:creationId xmlns:a16="http://schemas.microsoft.com/office/drawing/2014/main" id="{D609D038-9B11-259A-A9D7-6CD115F7AF33}"/>
              </a:ext>
            </a:extLst>
          </p:cNvPr>
          <p:cNvPicPr>
            <a:picLocks noChangeAspect="1"/>
          </p:cNvPicPr>
          <p:nvPr userDrawn="1"/>
        </p:nvPicPr>
        <p:blipFill>
          <a:blip>
            <a:extLst>
              <a:ext uri="{96DAC541-7B7A-43D3-8B79-37D633B846F1}">
                <asvg:svgBlip xmlns:asvg="http://schemas.microsoft.com/office/drawing/2016/SVG/main" r:embed="rId2"/>
              </a:ext>
            </a:extLst>
          </a:blip>
          <a:srcRect r="73833"/>
          <a:stretch>
            <a:fillRect/>
          </a:stretch>
        </p:blipFill>
        <p:spPr>
          <a:xfrm>
            <a:off x="7736409" y="5645208"/>
            <a:ext cx="605206" cy="947911"/>
          </a:xfrm>
          <a:prstGeom prst="rect">
            <a:avLst/>
          </a:prstGeom>
        </p:spPr>
      </p:pic>
      <p:pic>
        <p:nvPicPr>
          <p:cNvPr id="9" name="Graphic 8">
            <a:extLst>
              <a:ext uri="{FF2B5EF4-FFF2-40B4-BE49-F238E27FC236}">
                <a16:creationId xmlns:a16="http://schemas.microsoft.com/office/drawing/2014/main" id="{9AE2FB3C-432F-30A9-938E-A2480B010A48}"/>
              </a:ext>
            </a:extLst>
          </p:cNvPr>
          <p:cNvPicPr>
            <a:picLocks noChangeAspect="1"/>
          </p:cNvPicPr>
          <p:nvPr userDrawn="1"/>
        </p:nvPicPr>
        <p:blipFill>
          <a:blip>
            <a:extLst>
              <a:ext uri="{96DAC541-7B7A-43D3-8B79-37D633B846F1}">
                <asvg:svgBlip xmlns:asvg="http://schemas.microsoft.com/office/drawing/2016/SVG/main" r:embed="rId3"/>
              </a:ext>
            </a:extLst>
          </a:blip>
          <a:srcRect r="68710"/>
          <a:stretch>
            <a:fillRect/>
          </a:stretch>
        </p:blipFill>
        <p:spPr>
          <a:xfrm>
            <a:off x="5294726" y="5642914"/>
            <a:ext cx="1142475" cy="952499"/>
          </a:xfrm>
          <a:prstGeom prst="rect">
            <a:avLst/>
          </a:prstGeom>
        </p:spPr>
      </p:pic>
      <p:pic>
        <p:nvPicPr>
          <p:cNvPr id="10" name="Graphic 9">
            <a:extLst>
              <a:ext uri="{FF2B5EF4-FFF2-40B4-BE49-F238E27FC236}">
                <a16:creationId xmlns:a16="http://schemas.microsoft.com/office/drawing/2014/main" id="{F0C16FB3-4B9A-E51D-B701-ACB861E51BD0}"/>
              </a:ext>
            </a:extLst>
          </p:cNvPr>
          <p:cNvPicPr>
            <a:picLocks noChangeAspect="1"/>
          </p:cNvPicPr>
          <p:nvPr userDrawn="1"/>
        </p:nvPicPr>
        <p:blipFill>
          <a:blip>
            <a:extLst>
              <a:ext uri="{96DAC541-7B7A-43D3-8B79-37D633B846F1}">
                <asvg:svgBlip xmlns:asvg="http://schemas.microsoft.com/office/drawing/2016/SVG/main" r:embed="rId4"/>
              </a:ext>
            </a:extLst>
          </a:blip>
          <a:srcRect r="70952"/>
          <a:stretch>
            <a:fillRect/>
          </a:stretch>
        </p:blipFill>
        <p:spPr>
          <a:xfrm>
            <a:off x="3092840" y="5640323"/>
            <a:ext cx="902677" cy="957680"/>
          </a:xfrm>
          <a:prstGeom prst="rect">
            <a:avLst/>
          </a:prstGeom>
        </p:spPr>
      </p:pic>
      <p:pic>
        <p:nvPicPr>
          <p:cNvPr id="11" name="Graphic 10">
            <a:extLst>
              <a:ext uri="{FF2B5EF4-FFF2-40B4-BE49-F238E27FC236}">
                <a16:creationId xmlns:a16="http://schemas.microsoft.com/office/drawing/2014/main" id="{2F8B4071-CB18-AEF6-6188-D50472076BBE}"/>
              </a:ext>
            </a:extLst>
          </p:cNvPr>
          <p:cNvPicPr>
            <a:picLocks noChangeAspect="1"/>
          </p:cNvPicPr>
          <p:nvPr userDrawn="1"/>
        </p:nvPicPr>
        <p:blipFill>
          <a:blip>
            <a:extLst>
              <a:ext uri="{96DAC541-7B7A-43D3-8B79-37D633B846F1}">
                <asvg:svgBlip xmlns:asvg="http://schemas.microsoft.com/office/drawing/2016/SVG/main" r:embed="rId5"/>
              </a:ext>
            </a:extLst>
          </a:blip>
          <a:srcRect r="73631"/>
          <a:stretch>
            <a:fillRect/>
          </a:stretch>
        </p:blipFill>
        <p:spPr>
          <a:xfrm>
            <a:off x="802385" y="5642913"/>
            <a:ext cx="991246" cy="952500"/>
          </a:xfrm>
          <a:prstGeom prst="rect">
            <a:avLst/>
          </a:prstGeom>
        </p:spPr>
      </p:pic>
    </p:spTree>
    <p:extLst>
      <p:ext uri="{BB962C8B-B14F-4D97-AF65-F5344CB8AC3E}">
        <p14:creationId xmlns:p14="http://schemas.microsoft.com/office/powerpoint/2010/main" val="11798778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8A87A34-81AB-432B-8DAE-1953F412C126}" type="datetimeFigureOut">
              <a:rPr lang="en-US" smtClean="0"/>
              <a:t>6/2/2026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39BB91-5DDD-4FF0-AA8B-B54FEC5F3DC9}" type="slidenum">
              <a:rPr lang="en-US" smtClean="0"/>
              <a:t>‹#›</a:t>
            </a:fld>
            <a:endParaRPr lang="en-US"/>
          </a:p>
        </p:txBody>
      </p:sp>
    </p:spTree>
    <p:extLst>
      <p:ext uri="{BB962C8B-B14F-4D97-AF65-F5344CB8AC3E}">
        <p14:creationId xmlns:p14="http://schemas.microsoft.com/office/powerpoint/2010/main" val="2312326205"/>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6/2/2026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39BB91-5DDD-4FF0-AA8B-B54FEC5F3DC9}" type="slidenum">
              <a:rPr lang="en-US" smtClean="0"/>
              <a:t>‹#›</a:t>
            </a:fld>
            <a:endParaRPr lang="en-US"/>
          </a:p>
        </p:txBody>
      </p:sp>
      <p:sp>
        <p:nvSpPr>
          <p:cNvPr id="7" name="TextBox 6">
            <a:extLst>
              <a:ext uri="{FF2B5EF4-FFF2-40B4-BE49-F238E27FC236}">
                <a16:creationId xmlns:a16="http://schemas.microsoft.com/office/drawing/2014/main" id="{2356A5A9-1B74-D4BF-3D99-A46165A38329}"/>
              </a:ext>
            </a:extLst>
          </p:cNvPr>
          <p:cNvSpPr txBox="1"/>
          <p:nvPr userDrawn="1"/>
        </p:nvSpPr>
        <p:spPr>
          <a:xfrm>
            <a:off x="802385" y="187772"/>
            <a:ext cx="4910319" cy="400110"/>
          </a:xfrm>
          <a:prstGeom prst="rect">
            <a:avLst/>
          </a:prstGeom>
          <a:noFill/>
        </p:spPr>
        <p:txBody>
          <a:bodyPr wrap="none" rtlCol="0">
            <a:spAutoFit/>
          </a:bodyPr>
          <a:lstStyle/>
          <a:p>
            <a:r>
              <a:rPr lang="en-US" sz="2000" b="1">
                <a:solidFill>
                  <a:schemeClr val="accent5"/>
                </a:solidFill>
              </a:rPr>
              <a:t>Better Health. Powered by Information.</a:t>
            </a:r>
          </a:p>
        </p:txBody>
      </p:sp>
    </p:spTree>
    <p:extLst>
      <p:ext uri="{BB962C8B-B14F-4D97-AF65-F5344CB8AC3E}">
        <p14:creationId xmlns:p14="http://schemas.microsoft.com/office/powerpoint/2010/main" val="31283809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8A87A34-81AB-432B-8DAE-1953F412C126}" type="datetimeFigureOut">
              <a:rPr lang="en-US" smtClean="0"/>
              <a:t>6/2/2026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639BB91-5DDD-4FF0-AA8B-B54FEC5F3DC9}" type="slidenum">
              <a:rPr lang="en-US" smtClean="0"/>
              <a:t>‹#›</a:t>
            </a:fld>
            <a:endParaRPr lang="en-US"/>
          </a:p>
        </p:txBody>
      </p:sp>
    </p:spTree>
    <p:extLst>
      <p:ext uri="{BB962C8B-B14F-4D97-AF65-F5344CB8AC3E}">
        <p14:creationId xmlns:p14="http://schemas.microsoft.com/office/powerpoint/2010/main" val="2810043280"/>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8A87A34-81AB-432B-8DAE-1953F412C126}" type="datetimeFigureOut">
              <a:rPr lang="en-US" smtClean="0"/>
              <a:t>6/2/2026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639BB91-5DDD-4FF0-AA8B-B54FEC5F3DC9}" type="slidenum">
              <a:rPr lang="en-US" smtClean="0"/>
              <a:t>‹#›</a:t>
            </a:fld>
            <a:endParaRPr lang="en-US"/>
          </a:p>
        </p:txBody>
      </p:sp>
    </p:spTree>
    <p:extLst>
      <p:ext uri="{BB962C8B-B14F-4D97-AF65-F5344CB8AC3E}">
        <p14:creationId xmlns:p14="http://schemas.microsoft.com/office/powerpoint/2010/main" val="3895276988"/>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8A87A34-81AB-432B-8DAE-1953F412C126}" type="datetimeFigureOut">
              <a:rPr lang="en-US" smtClean="0"/>
              <a:t>6/2/2026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639BB91-5DDD-4FF0-AA8B-B54FEC5F3DC9}" type="slidenum">
              <a:rPr lang="en-US" smtClean="0"/>
              <a:t>‹#›</a:t>
            </a:fld>
            <a:endParaRPr lang="en-US"/>
          </a:p>
        </p:txBody>
      </p:sp>
    </p:spTree>
    <p:extLst>
      <p:ext uri="{BB962C8B-B14F-4D97-AF65-F5344CB8AC3E}">
        <p14:creationId xmlns:p14="http://schemas.microsoft.com/office/powerpoint/2010/main" val="2021748798"/>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6/2/2026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639BB91-5DDD-4FF0-AA8B-B54FEC5F3DC9}" type="slidenum">
              <a:rPr lang="en-US" smtClean="0"/>
              <a:t>‹#›</a:t>
            </a:fld>
            <a:endParaRPr lang="en-US"/>
          </a:p>
        </p:txBody>
      </p:sp>
    </p:spTree>
    <p:extLst>
      <p:ext uri="{BB962C8B-B14F-4D97-AF65-F5344CB8AC3E}">
        <p14:creationId xmlns:p14="http://schemas.microsoft.com/office/powerpoint/2010/main" val="2513205340"/>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6/2/2026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639BB91-5DDD-4FF0-AA8B-B54FEC5F3DC9}" type="slidenum">
              <a:rPr lang="en-US" smtClean="0"/>
              <a:t>‹#›</a:t>
            </a:fld>
            <a:endParaRPr lang="en-US"/>
          </a:p>
        </p:txBody>
      </p:sp>
    </p:spTree>
    <p:extLst>
      <p:ext uri="{BB962C8B-B14F-4D97-AF65-F5344CB8AC3E}">
        <p14:creationId xmlns:p14="http://schemas.microsoft.com/office/powerpoint/2010/main" val="2067202697"/>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6/2/2026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639BB91-5DDD-4FF0-AA8B-B54FEC5F3DC9}" type="slidenum">
              <a:rPr lang="en-US" smtClean="0"/>
              <a:t>‹#›</a:t>
            </a:fld>
            <a:endParaRPr lang="en-US"/>
          </a:p>
        </p:txBody>
      </p:sp>
    </p:spTree>
    <p:extLst>
      <p:ext uri="{BB962C8B-B14F-4D97-AF65-F5344CB8AC3E}">
        <p14:creationId xmlns:p14="http://schemas.microsoft.com/office/powerpoint/2010/main" val="704106008"/>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8A87A34-81AB-432B-8DAE-1953F412C126}" type="datetimeFigureOut">
              <a:rPr lang="en-US" smtClean="0"/>
              <a:t>6/2/2026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39BB91-5DDD-4FF0-AA8B-B54FEC5F3DC9}" type="slidenum">
              <a:rPr lang="en-US" smtClean="0"/>
              <a:t>‹#›</a:t>
            </a:fld>
            <a:endParaRPr lang="en-US"/>
          </a:p>
        </p:txBody>
      </p:sp>
    </p:spTree>
    <p:extLst>
      <p:ext uri="{BB962C8B-B14F-4D97-AF65-F5344CB8AC3E}">
        <p14:creationId xmlns:p14="http://schemas.microsoft.com/office/powerpoint/2010/main" val="1512452059"/>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8A87A34-81AB-432B-8DAE-1953F412C126}" type="datetimeFigureOut">
              <a:rPr lang="en-US" smtClean="0"/>
              <a:t>6/2/2026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39BB91-5DDD-4FF0-AA8B-B54FEC5F3DC9}" type="slidenum">
              <a:rPr lang="en-US" smtClean="0"/>
              <a:t>‹#›</a:t>
            </a:fld>
            <a:endParaRPr lang="en-US"/>
          </a:p>
        </p:txBody>
      </p:sp>
    </p:spTree>
    <p:extLst>
      <p:ext uri="{BB962C8B-B14F-4D97-AF65-F5344CB8AC3E}">
        <p14:creationId xmlns:p14="http://schemas.microsoft.com/office/powerpoint/2010/main" val="1358645344"/>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ntent - Bullets">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89689" y="1459282"/>
            <a:ext cx="8198662" cy="4525466"/>
          </a:xfrm>
        </p:spPr>
        <p:txBody>
          <a:bodyPr/>
          <a:lstStyle>
            <a:lvl1pPr>
              <a:defRPr baseline="0"/>
            </a:lvl1pPr>
          </a:lstStyle>
          <a:p>
            <a:pPr lvl="0"/>
            <a:r>
              <a:rPr lang="en-US"/>
              <a:t>Bullet text</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3" hasCustomPrompt="1"/>
          </p:nvPr>
        </p:nvSpPr>
        <p:spPr>
          <a:xfrm>
            <a:off x="253093" y="138791"/>
            <a:ext cx="8135258" cy="383721"/>
          </a:xfrm>
        </p:spPr>
        <p:txBody>
          <a:bodyPr>
            <a:normAutofit/>
          </a:bodyPr>
          <a:lstStyle>
            <a:lvl1pPr marL="0" indent="0">
              <a:buNone/>
              <a:defRPr sz="1800" baseline="0">
                <a:solidFill>
                  <a:schemeClr val="accent5"/>
                </a:solidFill>
              </a:defRPr>
            </a:lvl1pPr>
          </a:lstStyle>
          <a:p>
            <a:pPr lvl="0"/>
            <a:r>
              <a:rPr lang="en-US"/>
              <a:t>Situation, Background, Assessment, and Recommendation</a:t>
            </a:r>
          </a:p>
        </p:txBody>
      </p:sp>
      <p:sp>
        <p:nvSpPr>
          <p:cNvPr id="6" name="Slide Number Placeholder 3"/>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39BB91-5DDD-4FF0-AA8B-B54FEC5F3DC9}" type="slidenum">
              <a:rPr lang="en-US" smtClean="0"/>
              <a:t>‹#›</a:t>
            </a:fld>
            <a:endParaRPr lang="en-US"/>
          </a:p>
        </p:txBody>
      </p:sp>
      <p:sp>
        <p:nvSpPr>
          <p:cNvPr id="2" name="Title 1">
            <a:extLst>
              <a:ext uri="{FF2B5EF4-FFF2-40B4-BE49-F238E27FC236}">
                <a16:creationId xmlns:a16="http://schemas.microsoft.com/office/drawing/2014/main" id="{6B80C8B0-DB3D-4B41-9255-45343112B88E}"/>
              </a:ext>
            </a:extLst>
          </p:cNvPr>
          <p:cNvSpPr>
            <a:spLocks noGrp="1"/>
          </p:cNvSpPr>
          <p:nvPr>
            <p:ph type="title"/>
          </p:nvPr>
        </p:nvSpPr>
        <p:spPr>
          <a:xfrm>
            <a:off x="189689" y="723161"/>
            <a:ext cx="8198662" cy="736121"/>
          </a:xfrm>
        </p:spPr>
        <p:txBody>
          <a:bodyPr/>
          <a:lstStyle/>
          <a:p>
            <a:r>
              <a:rPr lang="en-US"/>
              <a:t>Click to edit Master title style</a:t>
            </a:r>
            <a:endParaRPr lang="en-CA"/>
          </a:p>
        </p:txBody>
      </p:sp>
    </p:spTree>
    <p:extLst>
      <p:ext uri="{BB962C8B-B14F-4D97-AF65-F5344CB8AC3E}">
        <p14:creationId xmlns:p14="http://schemas.microsoft.com/office/powerpoint/2010/main" val="2870561805"/>
      </p:ext>
    </p:extLst>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ntent - Blank">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a:t>Text</a:t>
            </a:r>
          </a:p>
        </p:txBody>
      </p:sp>
      <p:sp>
        <p:nvSpPr>
          <p:cNvPr id="4" name="Text Placeholder 3"/>
          <p:cNvSpPr>
            <a:spLocks noGrp="1"/>
          </p:cNvSpPr>
          <p:nvPr>
            <p:ph type="body" sz="quarter" idx="13" hasCustomPrompt="1"/>
          </p:nvPr>
        </p:nvSpPr>
        <p:spPr>
          <a:xfrm>
            <a:off x="253093" y="138791"/>
            <a:ext cx="8135258" cy="383721"/>
          </a:xfrm>
        </p:spPr>
        <p:txBody>
          <a:bodyPr>
            <a:normAutofit/>
          </a:bodyPr>
          <a:lstStyle>
            <a:lvl1pPr marL="0" indent="0">
              <a:buNone/>
              <a:defRPr sz="1800" baseline="0">
                <a:solidFill>
                  <a:schemeClr val="accent5"/>
                </a:solidFill>
              </a:defRPr>
            </a:lvl1pPr>
          </a:lstStyle>
          <a:p>
            <a:pPr lvl="0"/>
            <a:r>
              <a:rPr lang="en-US"/>
              <a:t>Slide header</a:t>
            </a:r>
          </a:p>
        </p:txBody>
      </p:sp>
      <p:sp>
        <p:nvSpPr>
          <p:cNvPr id="5" name="Slide Number Placeholder 3"/>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39BB91-5DDD-4FF0-AA8B-B54FEC5F3DC9}" type="slidenum">
              <a:rPr lang="en-US" smtClean="0"/>
              <a:t>‹#›</a:t>
            </a:fld>
            <a:endParaRPr lang="en-US"/>
          </a:p>
        </p:txBody>
      </p:sp>
    </p:spTree>
    <p:extLst>
      <p:ext uri="{BB962C8B-B14F-4D97-AF65-F5344CB8AC3E}">
        <p14:creationId xmlns:p14="http://schemas.microsoft.com/office/powerpoint/2010/main" val="19538108"/>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Teal Accent Slide">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12203" y="2870369"/>
            <a:ext cx="7917447" cy="1214248"/>
          </a:xfrm>
        </p:spPr>
        <p:txBody>
          <a:bodyPr/>
          <a:lstStyle>
            <a:lvl1pPr>
              <a:defRPr>
                <a:solidFill>
                  <a:schemeClr val="bg1"/>
                </a:solidFill>
              </a:defRPr>
            </a:lvl1pPr>
          </a:lstStyle>
          <a:p>
            <a:r>
              <a:rPr lang="en-US"/>
              <a:t>Text</a:t>
            </a:r>
          </a:p>
        </p:txBody>
      </p:sp>
      <p:sp>
        <p:nvSpPr>
          <p:cNvPr id="3" name="Slide Number Placeholder 3"/>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39BB91-5DDD-4FF0-AA8B-B54FEC5F3DC9}" type="slidenum">
              <a:rPr lang="en-US" smtClean="0"/>
              <a:t>‹#›</a:t>
            </a:fld>
            <a:endParaRPr lang="en-US"/>
          </a:p>
        </p:txBody>
      </p:sp>
    </p:spTree>
    <p:extLst>
      <p:ext uri="{BB962C8B-B14F-4D97-AF65-F5344CB8AC3E}">
        <p14:creationId xmlns:p14="http://schemas.microsoft.com/office/powerpoint/2010/main" val="2281999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89689" y="723161"/>
            <a:ext cx="8198662" cy="629650"/>
          </a:xfrm>
        </p:spPr>
        <p:txBody>
          <a:bodyPr/>
          <a:lstStyle>
            <a:lvl1pPr>
              <a:defRPr/>
            </a:lvl1pPr>
          </a:lstStyle>
          <a:p>
            <a:r>
              <a:rPr lang="en-US"/>
              <a:t>Text</a:t>
            </a:r>
          </a:p>
        </p:txBody>
      </p:sp>
      <p:sp>
        <p:nvSpPr>
          <p:cNvPr id="3" name="Content Placeholder 2"/>
          <p:cNvSpPr>
            <a:spLocks noGrp="1"/>
          </p:cNvSpPr>
          <p:nvPr>
            <p:ph idx="1" hasCustomPrompt="1"/>
          </p:nvPr>
        </p:nvSpPr>
        <p:spPr>
          <a:xfrm>
            <a:off x="189689" y="1553460"/>
            <a:ext cx="4147884" cy="4431288"/>
          </a:xfrm>
        </p:spPr>
        <p:txBody>
          <a:bodyPr/>
          <a:lstStyle>
            <a:lvl1pPr>
              <a:defRPr baseline="0"/>
            </a:lvl1pPr>
          </a:lstStyle>
          <a:p>
            <a:pPr lvl="0"/>
            <a:r>
              <a:rPr lang="en-US"/>
              <a:t>Bullet text</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3" hasCustomPrompt="1"/>
          </p:nvPr>
        </p:nvSpPr>
        <p:spPr>
          <a:xfrm>
            <a:off x="253093" y="138791"/>
            <a:ext cx="8135258" cy="383721"/>
          </a:xfrm>
        </p:spPr>
        <p:txBody>
          <a:bodyPr>
            <a:normAutofit/>
          </a:bodyPr>
          <a:lstStyle>
            <a:lvl1pPr marL="0" indent="0">
              <a:buNone/>
              <a:defRPr sz="1800" baseline="0">
                <a:solidFill>
                  <a:schemeClr val="accent5"/>
                </a:solidFill>
              </a:defRPr>
            </a:lvl1pPr>
          </a:lstStyle>
          <a:p>
            <a:pPr lvl="0"/>
            <a:r>
              <a:rPr lang="en-US"/>
              <a:t>Slide header</a:t>
            </a:r>
          </a:p>
        </p:txBody>
      </p:sp>
      <p:sp>
        <p:nvSpPr>
          <p:cNvPr id="6" name="Slide Number Placeholder 3"/>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39BB91-5DDD-4FF0-AA8B-B54FEC5F3DC9}" type="slidenum">
              <a:rPr lang="en-US" smtClean="0"/>
              <a:t>‹#›</a:t>
            </a:fld>
            <a:endParaRPr lang="en-US"/>
          </a:p>
        </p:txBody>
      </p:sp>
      <p:sp>
        <p:nvSpPr>
          <p:cNvPr id="7" name="Content Placeholder 2"/>
          <p:cNvSpPr>
            <a:spLocks noGrp="1"/>
          </p:cNvSpPr>
          <p:nvPr>
            <p:ph idx="14" hasCustomPrompt="1"/>
          </p:nvPr>
        </p:nvSpPr>
        <p:spPr>
          <a:xfrm>
            <a:off x="4240467" y="1553460"/>
            <a:ext cx="4147884" cy="4431288"/>
          </a:xfrm>
        </p:spPr>
        <p:txBody>
          <a:bodyPr/>
          <a:lstStyle>
            <a:lvl1pPr>
              <a:defRPr baseline="0"/>
            </a:lvl1pPr>
          </a:lstStyle>
          <a:p>
            <a:pPr lvl="0"/>
            <a:r>
              <a:rPr lang="en-US"/>
              <a:t>Bullet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512404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Blue Accent Slide">
    <p:spTree>
      <p:nvGrpSpPr>
        <p:cNvPr id="1" name=""/>
        <p:cNvGrpSpPr/>
        <p:nvPr/>
      </p:nvGrpSpPr>
      <p:grpSpPr>
        <a:xfrm>
          <a:off x="0" y="0"/>
          <a:ext cx="0" cy="0"/>
          <a:chOff x="0" y="0"/>
          <a:chExt cx="0" cy="0"/>
        </a:xfrm>
      </p:grpSpPr>
      <p:sp>
        <p:nvSpPr>
          <p:cNvPr id="3" name="Rounded Rectangle 2"/>
          <p:cNvSpPr/>
          <p:nvPr userDrawn="1"/>
        </p:nvSpPr>
        <p:spPr>
          <a:xfrm>
            <a:off x="416379" y="547007"/>
            <a:ext cx="8213271" cy="583746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712203" y="2870369"/>
            <a:ext cx="7917447" cy="1214248"/>
          </a:xfrm>
        </p:spPr>
        <p:txBody>
          <a:bodyPr/>
          <a:lstStyle>
            <a:lvl1pPr>
              <a:defRPr>
                <a:solidFill>
                  <a:schemeClr val="bg1"/>
                </a:solidFill>
              </a:defRPr>
            </a:lvl1pPr>
          </a:lstStyle>
          <a:p>
            <a:r>
              <a:rPr lang="en-US"/>
              <a:t>Text</a:t>
            </a:r>
          </a:p>
        </p:txBody>
      </p:sp>
      <p:sp>
        <p:nvSpPr>
          <p:cNvPr id="4" name="Slide Number Placeholder 3"/>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39BB91-5DDD-4FF0-AA8B-B54FEC5F3DC9}" type="slidenum">
              <a:rPr lang="en-US" smtClean="0"/>
              <a:t>‹#›</a:t>
            </a:fld>
            <a:endParaRPr lang="en-US"/>
          </a:p>
        </p:txBody>
      </p:sp>
    </p:spTree>
    <p:extLst>
      <p:ext uri="{BB962C8B-B14F-4D97-AF65-F5344CB8AC3E}">
        <p14:creationId xmlns:p14="http://schemas.microsoft.com/office/powerpoint/2010/main" val="25796501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Orange Accent Slide">
    <p:spTree>
      <p:nvGrpSpPr>
        <p:cNvPr id="1" name=""/>
        <p:cNvGrpSpPr/>
        <p:nvPr/>
      </p:nvGrpSpPr>
      <p:grpSpPr>
        <a:xfrm>
          <a:off x="0" y="0"/>
          <a:ext cx="0" cy="0"/>
          <a:chOff x="0" y="0"/>
          <a:chExt cx="0" cy="0"/>
        </a:xfrm>
      </p:grpSpPr>
      <p:sp>
        <p:nvSpPr>
          <p:cNvPr id="28" name="Oval 27"/>
          <p:cNvSpPr/>
          <p:nvPr userDrawn="1"/>
        </p:nvSpPr>
        <p:spPr>
          <a:xfrm>
            <a:off x="0" y="759279"/>
            <a:ext cx="9144000" cy="5208814"/>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712203" y="2870369"/>
            <a:ext cx="7917447" cy="1214248"/>
          </a:xfrm>
        </p:spPr>
        <p:txBody>
          <a:bodyPr/>
          <a:lstStyle>
            <a:lvl1pPr>
              <a:defRPr>
                <a:solidFill>
                  <a:schemeClr val="bg1"/>
                </a:solidFill>
              </a:defRPr>
            </a:lvl1pPr>
          </a:lstStyle>
          <a:p>
            <a:r>
              <a:rPr lang="en-US"/>
              <a:t>Text</a:t>
            </a:r>
          </a:p>
        </p:txBody>
      </p:sp>
      <p:sp>
        <p:nvSpPr>
          <p:cNvPr id="4" name="Slide Number Placeholder 3"/>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39BB91-5DDD-4FF0-AA8B-B54FEC5F3DC9}" type="slidenum">
              <a:rPr lang="en-US" smtClean="0"/>
              <a:t>‹#›</a:t>
            </a:fld>
            <a:endParaRPr lang="en-US"/>
          </a:p>
        </p:txBody>
      </p:sp>
    </p:spTree>
    <p:extLst>
      <p:ext uri="{BB962C8B-B14F-4D97-AF65-F5344CB8AC3E}">
        <p14:creationId xmlns:p14="http://schemas.microsoft.com/office/powerpoint/2010/main" val="20664474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Purple Accent Slide">
    <p:spTree>
      <p:nvGrpSpPr>
        <p:cNvPr id="1" name=""/>
        <p:cNvGrpSpPr/>
        <p:nvPr/>
      </p:nvGrpSpPr>
      <p:grpSpPr>
        <a:xfrm>
          <a:off x="0" y="0"/>
          <a:ext cx="0" cy="0"/>
          <a:chOff x="0" y="0"/>
          <a:chExt cx="0" cy="0"/>
        </a:xfrm>
      </p:grpSpPr>
      <p:sp>
        <p:nvSpPr>
          <p:cNvPr id="5" name="Rectangle 4"/>
          <p:cNvSpPr/>
          <p:nvPr userDrawn="1"/>
        </p:nvSpPr>
        <p:spPr>
          <a:xfrm>
            <a:off x="8368393" y="612321"/>
            <a:ext cx="775607" cy="562519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userDrawn="1"/>
        </p:nvSpPr>
        <p:spPr>
          <a:xfrm>
            <a:off x="1" y="612320"/>
            <a:ext cx="8071758" cy="5625193"/>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712203" y="2870369"/>
            <a:ext cx="7917447" cy="1214248"/>
          </a:xfrm>
        </p:spPr>
        <p:txBody>
          <a:bodyPr/>
          <a:lstStyle>
            <a:lvl1pPr>
              <a:defRPr>
                <a:solidFill>
                  <a:schemeClr val="bg1"/>
                </a:solidFill>
              </a:defRPr>
            </a:lvl1pPr>
          </a:lstStyle>
          <a:p>
            <a:r>
              <a:rPr lang="en-US"/>
              <a:t>Text</a:t>
            </a:r>
          </a:p>
        </p:txBody>
      </p:sp>
      <p:sp>
        <p:nvSpPr>
          <p:cNvPr id="7" name="Slide Number Placeholder 3"/>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39BB91-5DDD-4FF0-AA8B-B54FEC5F3DC9}" type="slidenum">
              <a:rPr lang="en-US" smtClean="0"/>
              <a:t>‹#›</a:t>
            </a:fld>
            <a:endParaRPr lang="en-US"/>
          </a:p>
        </p:txBody>
      </p:sp>
    </p:spTree>
    <p:extLst>
      <p:ext uri="{BB962C8B-B14F-4D97-AF65-F5344CB8AC3E}">
        <p14:creationId xmlns:p14="http://schemas.microsoft.com/office/powerpoint/2010/main" val="16092085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8A87A34-81AB-432B-8DAE-1953F412C126}" type="datetimeFigureOut">
              <a:rPr lang="en-US" smtClean="0"/>
              <a:pPr/>
              <a:t>6/2/2026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639BB91-5DDD-4FF0-AA8B-B54FEC5F3DC9}" type="slidenum">
              <a:rPr lang="en-US" smtClean="0"/>
              <a:t>‹#›</a:t>
            </a:fld>
            <a:endParaRPr lang="en-US"/>
          </a:p>
        </p:txBody>
      </p:sp>
      <p:cxnSp>
        <p:nvCxnSpPr>
          <p:cNvPr id="7" name="Shape 184">
            <a:extLst>
              <a:ext uri="{FF2B5EF4-FFF2-40B4-BE49-F238E27FC236}">
                <a16:creationId xmlns:a16="http://schemas.microsoft.com/office/drawing/2014/main" id="{AD399523-3848-7A6B-7F53-89BF34444FC4}"/>
              </a:ext>
            </a:extLst>
          </p:cNvPr>
          <p:cNvCxnSpPr>
            <a:cxnSpLocks noChangeShapeType="1"/>
          </p:cNvCxnSpPr>
          <p:nvPr userDrawn="1"/>
        </p:nvCxnSpPr>
        <p:spPr bwMode="auto">
          <a:xfrm flipV="1">
            <a:off x="260430" y="641499"/>
            <a:ext cx="8530844" cy="14286"/>
          </a:xfrm>
          <a:prstGeom prst="straightConnector1">
            <a:avLst/>
          </a:prstGeom>
          <a:noFill/>
          <a:ln w="28575">
            <a:solidFill>
              <a:srgbClr val="00ADBB"/>
            </a:solidFill>
            <a:prstDash val="dot"/>
            <a:miter lim="800000"/>
            <a:headEnd/>
            <a:tailEnd/>
          </a:ln>
          <a:extLst>
            <a:ext uri="{909E8E84-426E-40DD-AFC4-6F175D3DCCD1}">
              <a14:hiddenFill xmlns:a14="http://schemas.microsoft.com/office/drawing/2010/main">
                <a:noFill/>
              </a14:hiddenFill>
            </a:ext>
          </a:extLst>
        </p:spPr>
      </p:cxnSp>
      <p:cxnSp>
        <p:nvCxnSpPr>
          <p:cNvPr id="8" name="Shape 184">
            <a:extLst>
              <a:ext uri="{FF2B5EF4-FFF2-40B4-BE49-F238E27FC236}">
                <a16:creationId xmlns:a16="http://schemas.microsoft.com/office/drawing/2014/main" id="{37176B29-86A9-6782-CD82-2C3BD481FFA6}"/>
              </a:ext>
            </a:extLst>
          </p:cNvPr>
          <p:cNvCxnSpPr>
            <a:cxnSpLocks noChangeShapeType="1"/>
          </p:cNvCxnSpPr>
          <p:nvPr userDrawn="1"/>
        </p:nvCxnSpPr>
        <p:spPr bwMode="auto">
          <a:xfrm flipV="1">
            <a:off x="260430" y="6215403"/>
            <a:ext cx="8530844" cy="14286"/>
          </a:xfrm>
          <a:prstGeom prst="straightConnector1">
            <a:avLst/>
          </a:prstGeom>
          <a:noFill/>
          <a:ln w="28575">
            <a:solidFill>
              <a:srgbClr val="00ADBB"/>
            </a:solidFill>
            <a:prstDash val="dot"/>
            <a:miter lim="800000"/>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1770959673"/>
      </p:ext>
    </p:extLst>
  </p:cSld>
  <p:clrMap bg1="lt1" tx1="dk1" bg2="lt2" tx2="dk2" accent1="accent1" accent2="accent2" accent3="accent3" accent4="accent4" accent5="accent5" accent6="accent6" hlink="hlink" folHlink="folHlink"/>
  <p:sldLayoutIdLst>
    <p:sldLayoutId id="2147483836" r:id="rId1"/>
    <p:sldLayoutId id="2147483837" r:id="rId2"/>
    <p:sldLayoutId id="2147483838" r:id="rId3"/>
    <p:sldLayoutId id="2147483839" r:id="rId4"/>
    <p:sldLayoutId id="2147483840" r:id="rId5"/>
    <p:sldLayoutId id="2147483841" r:id="rId6"/>
    <p:sldLayoutId id="2147483842" r:id="rId7"/>
    <p:sldLayoutId id="2147483843" r:id="rId8"/>
    <p:sldLayoutId id="2147483844" r:id="rId9"/>
    <p:sldLayoutId id="2147483845" r:id="rId10"/>
    <p:sldLayoutId id="2147483846" r:id="rId11"/>
    <p:sldLayoutId id="2147483847" r:id="rId12"/>
    <p:sldLayoutId id="2147483848" r:id="rId13"/>
    <p:sldLayoutId id="2147483849" r:id="rId14"/>
    <p:sldLayoutId id="2147483729" r:id="rId15"/>
    <p:sldLayoutId id="2147483725" r:id="rId16"/>
    <p:sldLayoutId id="2147483726" r:id="rId17"/>
    <p:sldLayoutId id="2147483728"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8" Type="http://schemas.openxmlformats.org/officeDocument/2006/relationships/hyperlink" Target="https://albertahealthservices.sharepoint.com/teams/M365TCCNotifiableDiseaseProjects/_layouts/OneNote.aspx?id=%2Fteams%2FM365TCCNotifiableDiseaseProjects%2FSiteAssets%2FM365T%20-%20CC%20Notifiable%20Disease%20Projects%20Notebook&amp;wd=target%28Outbreak%20User%20Stories.one%7CF3C23B00-9BF9-4DA9-8814-750ACB6A524F%2FOutbreak%20Assessment%20Outbreak%20Investigator%20User%20Story%7C46B3986C-23F1-4E2D-B876-22D221691738%2F%29" TargetMode="External"/><Relationship Id="rId3" Type="http://schemas.openxmlformats.org/officeDocument/2006/relationships/diagramLayout" Target="../diagrams/layout2.xml"/><Relationship Id="rId7" Type="http://schemas.openxmlformats.org/officeDocument/2006/relationships/hyperlink" Target="https://albertahealthservices.sharepoint.com/teams/M365TCCNotifiableDiseaseProjects/_layouts/OneNote.aspx?id=%2Fteams%2FM365TCCNotifiableDiseaseProjects%2FSiteAssets%2FM365T%20-%20CC%20Notifiable%20Disease%20Projects%20Notebook&amp;wd=target%28Outbreak%20User%20Stories.one%7CF3C23B00-9BF9-4DA9-8814-750ACB6A524F%2FCommunicable%20Disease%20Outbreak%20Search%20Screen%20User%20Story%7C481059A7-022C-4202-84ED-B83732A010EF%2F%29" TargetMode="External"/><Relationship Id="rId2" Type="http://schemas.openxmlformats.org/officeDocument/2006/relationships/diagramData" Target="../diagrams/data2.xml"/><Relationship Id="rId1" Type="http://schemas.openxmlformats.org/officeDocument/2006/relationships/slideLayout" Target="../slideLayouts/slideLayout12.xml"/><Relationship Id="rId6" Type="http://schemas.microsoft.com/office/2007/relationships/diagramDrawing" Target="../diagrams/drawing2.xml"/><Relationship Id="rId11" Type="http://schemas.openxmlformats.org/officeDocument/2006/relationships/hyperlink" Target="https://albertahealthservices.sharepoint.com/teams/M365TCCNotifiableDiseaseProjects/_layouts/OneNote.aspx?id=%2Fteams%2FM365TCCNotifiableDiseaseProjects%2FSiteAssets%2FM365T%20-%20CC%20Notifiable%20Disease%20Projects%20Notebook&amp;wd=target%28Outbreak%20User%20Stories.one%7CF3C23B00-9BF9-4DA9-8814-750ACB6A524F%2FOutbreak%20Notification%20Alberta%20Government%20User%20Story%7C886755DC-5926-4D8B-AF11-442FE4EB5A6C%2F%29" TargetMode="External"/><Relationship Id="rId5" Type="http://schemas.openxmlformats.org/officeDocument/2006/relationships/diagramColors" Target="../diagrams/colors2.xml"/><Relationship Id="rId10" Type="http://schemas.openxmlformats.org/officeDocument/2006/relationships/hyperlink" Target="https://albertahealthservices.sharepoint.com/teams/M365TCCNotifiableDiseaseProjects/_layouts/OneNote.aspx?id=%2Fteams%2FM365TCCNotifiableDiseaseProjects%2FSiteAssets%2FM365T%20-%20CC%20Notifiable%20Disease%20Projects%20Notebook&amp;wd=target%28Outbreak%20User%20Stories.one%7CF3C23B00-9BF9-4DA9-8814-750ACB6A524F%2FCreate%20Exposure%20Incident%20%28EI%5C%29%20Investigator%20User%20Story%7C53D4CA9E-65F4-44BB-833F-5E437FDFB40D%2F%29" TargetMode="External"/><Relationship Id="rId4" Type="http://schemas.openxmlformats.org/officeDocument/2006/relationships/diagramQuickStyle" Target="../diagrams/quickStyle2.xml"/><Relationship Id="rId9" Type="http://schemas.openxmlformats.org/officeDocument/2006/relationships/hyperlink" Target="https://albertahealthservices.sharepoint.com/teams/M365TCCNotifiableDiseaseProjects/_layouts/OneNote.aspx?id=%2Fteams%2FM365TCCNotifiableDiseaseProjects%2FSiteAssets%2FM365T%20-%20CC%20Notifiable%20Disease%20Projects%20Notebook&amp;wd=target%28Outbreak%20User%20Stories.one%7CF3C23B00-9BF9-4DA9-8814-750ACB6A524F%2FOutbreak%20Notification%20Facility%20Operator%20User%20Story%7CF3FB0D72-889F-4CD9-B8C2-968D5249FD63%2F%29" TargetMode="External"/></Relationships>
</file>

<file path=ppt/slides/_rels/slide10.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6.svg"/></Relationships>
</file>

<file path=ppt/slides/_rels/slide1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6.svg"/></Relationships>
</file>

<file path=ppt/slides/_rels/slide12.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6.sv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slide" Target="slide7.xml"/><Relationship Id="rId5" Type="http://schemas.openxmlformats.org/officeDocument/2006/relationships/slide" Target="slide6.xml"/><Relationship Id="rId4" Type="http://schemas.openxmlformats.org/officeDocument/2006/relationships/slide" Target="slide15.xml"/></Relationships>
</file>

<file path=ppt/slides/_rels/slide1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8.svg"/></Relationships>
</file>

<file path=ppt/slides/_rels/slide1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6.svg"/></Relationships>
</file>

<file path=ppt/slides/_rels/slide1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6.svg"/></Relationships>
</file>

<file path=ppt/slides/_rels/slide1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6.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vert="horz" lIns="91440" tIns="45720" rIns="91440" bIns="45720" rtlCol="0" anchor="t">
            <a:normAutofit/>
          </a:bodyPr>
          <a:lstStyle/>
          <a:p>
            <a:r>
              <a:rPr lang="en-US"/>
              <a:t>Outbreak Management Reporting Application  (OMRA)</a:t>
            </a:r>
          </a:p>
          <a:p>
            <a:r>
              <a:rPr lang="en-US"/>
              <a:t>PowerPoint Prototype for Design Review</a:t>
            </a:r>
          </a:p>
        </p:txBody>
      </p:sp>
      <p:sp>
        <p:nvSpPr>
          <p:cNvPr id="5" name="Title 4">
            <a:extLst>
              <a:ext uri="{FF2B5EF4-FFF2-40B4-BE49-F238E27FC236}">
                <a16:creationId xmlns:a16="http://schemas.microsoft.com/office/drawing/2014/main" id="{AD78DDFA-9E8A-A5CF-8F9F-A75BE9E301EC}"/>
              </a:ext>
            </a:extLst>
          </p:cNvPr>
          <p:cNvSpPr>
            <a:spLocks noGrp="1"/>
          </p:cNvSpPr>
          <p:nvPr>
            <p:ph type="ctrTitle"/>
          </p:nvPr>
        </p:nvSpPr>
        <p:spPr/>
        <p:txBody>
          <a:bodyPr/>
          <a:lstStyle/>
          <a:p>
            <a:r>
              <a:rPr lang="en-US"/>
              <a:t>Communicable Disease Solution</a:t>
            </a:r>
          </a:p>
        </p:txBody>
      </p:sp>
    </p:spTree>
    <p:extLst>
      <p:ext uri="{BB962C8B-B14F-4D97-AF65-F5344CB8AC3E}">
        <p14:creationId xmlns:p14="http://schemas.microsoft.com/office/powerpoint/2010/main" val="20714407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26A9511-3271-8A0D-C700-8C63BAEF871D}"/>
              </a:ext>
            </a:extLst>
          </p:cNvPr>
          <p:cNvSpPr>
            <a:spLocks noGrp="1"/>
          </p:cNvSpPr>
          <p:nvPr>
            <p:ph type="title"/>
          </p:nvPr>
        </p:nvSpPr>
        <p:spPr/>
        <p:txBody>
          <a:bodyPr>
            <a:normAutofit fontScale="90000"/>
          </a:bodyPr>
          <a:lstStyle/>
          <a:p>
            <a:r>
              <a:rPr lang="en-US"/>
              <a:t>CDS Development Lifecycle</a:t>
            </a:r>
            <a:endParaRPr lang="en-CA"/>
          </a:p>
        </p:txBody>
      </p:sp>
      <p:graphicFrame>
        <p:nvGraphicFramePr>
          <p:cNvPr id="10" name="Content Placeholder 9">
            <a:extLst>
              <a:ext uri="{FF2B5EF4-FFF2-40B4-BE49-F238E27FC236}">
                <a16:creationId xmlns:a16="http://schemas.microsoft.com/office/drawing/2014/main" id="{C16A8521-35A0-06C0-E59E-827240E730C7}"/>
              </a:ext>
            </a:extLst>
          </p:cNvPr>
          <p:cNvGraphicFramePr>
            <a:graphicFrameLocks noGrp="1"/>
          </p:cNvGraphicFramePr>
          <p:nvPr>
            <p:ph idx="1"/>
          </p:nvPr>
        </p:nvGraphicFramePr>
        <p:xfrm>
          <a:off x="188912" y="1817932"/>
          <a:ext cx="8695683" cy="8388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 Placeholder 7">
            <a:extLst>
              <a:ext uri="{FF2B5EF4-FFF2-40B4-BE49-F238E27FC236}">
                <a16:creationId xmlns:a16="http://schemas.microsoft.com/office/drawing/2014/main" id="{D80AEFF3-4E2A-AE32-7F30-96AF9C621687}"/>
              </a:ext>
            </a:extLst>
          </p:cNvPr>
          <p:cNvSpPr>
            <a:spLocks noGrp="1"/>
          </p:cNvSpPr>
          <p:nvPr>
            <p:ph type="body" sz="quarter" idx="13"/>
          </p:nvPr>
        </p:nvSpPr>
        <p:spPr/>
        <p:txBody>
          <a:bodyPr/>
          <a:lstStyle/>
          <a:p>
            <a:r>
              <a:rPr lang="en-CA">
                <a:cs typeface="Arial"/>
              </a:rPr>
              <a:t>Communicable Disease Solution Project</a:t>
            </a:r>
            <a:endParaRPr lang="en-CA">
              <a:solidFill>
                <a:srgbClr val="000000"/>
              </a:solidFill>
              <a:cs typeface="Arial"/>
            </a:endParaRPr>
          </a:p>
          <a:p>
            <a:endParaRPr lang="en-CA">
              <a:cs typeface="Arial"/>
            </a:endParaRPr>
          </a:p>
        </p:txBody>
      </p:sp>
      <p:sp>
        <p:nvSpPr>
          <p:cNvPr id="4" name="Slide Number Placeholder 3">
            <a:extLst>
              <a:ext uri="{FF2B5EF4-FFF2-40B4-BE49-F238E27FC236}">
                <a16:creationId xmlns:a16="http://schemas.microsoft.com/office/drawing/2014/main" id="{679E8BDC-5DA3-A49F-2CD8-2C86E0F7CA9C}"/>
              </a:ext>
            </a:extLst>
          </p:cNvPr>
          <p:cNvSpPr>
            <a:spLocks noGrp="1"/>
          </p:cNvSpPr>
          <p:nvPr>
            <p:ph type="sldNum" sz="quarter" idx="4"/>
          </p:nvPr>
        </p:nvSpPr>
        <p:spPr/>
        <p:txBody>
          <a:bodyPr/>
          <a:lstStyle/>
          <a:p>
            <a:fld id="{2639BB91-5DDD-4FF0-AA8B-B54FEC5F3DC9}" type="slidenum">
              <a:rPr lang="en-US" smtClean="0"/>
              <a:t>2</a:t>
            </a:fld>
            <a:endParaRPr lang="en-US"/>
          </a:p>
        </p:txBody>
      </p:sp>
      <p:graphicFrame>
        <p:nvGraphicFramePr>
          <p:cNvPr id="11" name="Content Placeholder 10">
            <a:extLst>
              <a:ext uri="{FF2B5EF4-FFF2-40B4-BE49-F238E27FC236}">
                <a16:creationId xmlns:a16="http://schemas.microsoft.com/office/drawing/2014/main" id="{BC248416-5AC9-EB3C-BDDB-6C83F64629EF}"/>
              </a:ext>
            </a:extLst>
          </p:cNvPr>
          <p:cNvGraphicFramePr>
            <a:graphicFrameLocks noGrp="1"/>
          </p:cNvGraphicFramePr>
          <p:nvPr>
            <p:ph idx="14"/>
          </p:nvPr>
        </p:nvGraphicFramePr>
        <p:xfrm>
          <a:off x="172587" y="2790698"/>
          <a:ext cx="8712008" cy="3108960"/>
        </p:xfrm>
        <a:graphic>
          <a:graphicData uri="http://schemas.openxmlformats.org/drawingml/2006/table">
            <a:tbl>
              <a:tblPr firstRow="1" bandRow="1">
                <a:tableStyleId>{5C22544A-7EE6-4342-B048-85BDC9FD1C3A}</a:tableStyleId>
              </a:tblPr>
              <a:tblGrid>
                <a:gridCol w="2178002">
                  <a:extLst>
                    <a:ext uri="{9D8B030D-6E8A-4147-A177-3AD203B41FA5}">
                      <a16:colId xmlns:a16="http://schemas.microsoft.com/office/drawing/2014/main" val="384462642"/>
                    </a:ext>
                  </a:extLst>
                </a:gridCol>
                <a:gridCol w="2178002">
                  <a:extLst>
                    <a:ext uri="{9D8B030D-6E8A-4147-A177-3AD203B41FA5}">
                      <a16:colId xmlns:a16="http://schemas.microsoft.com/office/drawing/2014/main" val="2385649672"/>
                    </a:ext>
                  </a:extLst>
                </a:gridCol>
                <a:gridCol w="2178002">
                  <a:extLst>
                    <a:ext uri="{9D8B030D-6E8A-4147-A177-3AD203B41FA5}">
                      <a16:colId xmlns:a16="http://schemas.microsoft.com/office/drawing/2014/main" val="2612041365"/>
                    </a:ext>
                  </a:extLst>
                </a:gridCol>
                <a:gridCol w="2178002">
                  <a:extLst>
                    <a:ext uri="{9D8B030D-6E8A-4147-A177-3AD203B41FA5}">
                      <a16:colId xmlns:a16="http://schemas.microsoft.com/office/drawing/2014/main" val="1700955166"/>
                    </a:ext>
                  </a:extLst>
                </a:gridCol>
              </a:tblGrid>
              <a:tr h="370840">
                <a:tc>
                  <a:txBody>
                    <a:bodyPr/>
                    <a:lstStyle/>
                    <a:p>
                      <a:pPr marL="285750" indent="-285750">
                        <a:buFont typeface="Arial" panose="020B0604020202020204" pitchFamily="34" charset="0"/>
                        <a:buChar char="•"/>
                      </a:pPr>
                      <a:r>
                        <a:rPr lang="en-US" sz="1600">
                          <a:solidFill>
                            <a:schemeClr val="accent1"/>
                          </a:solidFill>
                        </a:rPr>
                        <a:t>Workflows</a:t>
                      </a:r>
                    </a:p>
                    <a:p>
                      <a:pPr marL="285750" indent="-285750">
                        <a:buFont typeface="Arial" panose="020B0604020202020204" pitchFamily="34" charset="0"/>
                        <a:buChar char="•"/>
                      </a:pPr>
                      <a:r>
                        <a:rPr lang="en-US" sz="1600">
                          <a:solidFill>
                            <a:schemeClr val="accent1"/>
                          </a:solidFill>
                        </a:rPr>
                        <a:t>User Stories</a:t>
                      </a:r>
                    </a:p>
                    <a:p>
                      <a:pPr marL="742950" lvl="1" indent="-285750">
                        <a:buFont typeface="Arial" panose="020B0604020202020204" pitchFamily="34" charset="0"/>
                        <a:buChar char="•"/>
                      </a:pPr>
                      <a:r>
                        <a:rPr lang="en-US" sz="1600">
                          <a:solidFill>
                            <a:schemeClr val="accent1"/>
                          </a:solidFill>
                        </a:rPr>
                        <a:t>Acceptance Criteria</a:t>
                      </a:r>
                    </a:p>
                    <a:p>
                      <a:pPr marL="285750" lvl="0" indent="-285750">
                        <a:buFont typeface="Arial" panose="020B0604020202020204" pitchFamily="34" charset="0"/>
                        <a:buChar char="•"/>
                      </a:pPr>
                      <a:r>
                        <a:rPr lang="en-US" sz="1600">
                          <a:solidFill>
                            <a:schemeClr val="accent1"/>
                          </a:solidFill>
                        </a:rPr>
                        <a:t>Conceptual Solution Design</a:t>
                      </a:r>
                    </a:p>
                  </a:txBody>
                  <a:tcPr>
                    <a:lnB w="38100" cap="flat" cmpd="sng" algn="ctr">
                      <a:solidFill>
                        <a:schemeClr val="accent1"/>
                      </a:solidFill>
                      <a:prstDash val="solid"/>
                      <a:round/>
                      <a:headEnd type="none" w="med" len="med"/>
                      <a:tailEnd type="none" w="med" len="med"/>
                    </a:lnB>
                    <a:solidFill>
                      <a:schemeClr val="bg1"/>
                    </a:solidFill>
                  </a:tcPr>
                </a:tc>
                <a:tc>
                  <a:txBody>
                    <a:bodyPr/>
                    <a:lstStyle/>
                    <a:p>
                      <a:pPr marL="285750" indent="-285750">
                        <a:buFont typeface="Arial" panose="020B0604020202020204" pitchFamily="34" charset="0"/>
                        <a:buChar char="•"/>
                      </a:pPr>
                      <a:r>
                        <a:rPr lang="en-US" sz="1600">
                          <a:solidFill>
                            <a:schemeClr val="accent1"/>
                          </a:solidFill>
                        </a:rPr>
                        <a:t>Application Specifications</a:t>
                      </a:r>
                    </a:p>
                    <a:p>
                      <a:pPr marL="285750" indent="-285750">
                        <a:buFont typeface="Arial" panose="020B0604020202020204" pitchFamily="34" charset="0"/>
                        <a:buChar char="•"/>
                      </a:pPr>
                      <a:r>
                        <a:rPr lang="en-US" sz="1600">
                          <a:solidFill>
                            <a:schemeClr val="accent1"/>
                          </a:solidFill>
                        </a:rPr>
                        <a:t>Wireframes</a:t>
                      </a:r>
                    </a:p>
                    <a:p>
                      <a:pPr marL="285750" indent="-285750">
                        <a:buFont typeface="Arial" panose="020B0604020202020204" pitchFamily="34" charset="0"/>
                        <a:buChar char="•"/>
                      </a:pPr>
                      <a:r>
                        <a:rPr lang="en-US" sz="1600">
                          <a:solidFill>
                            <a:schemeClr val="accent1"/>
                          </a:solidFill>
                        </a:rPr>
                        <a:t>Data Model</a:t>
                      </a:r>
                    </a:p>
                    <a:p>
                      <a:pPr marL="285750" indent="-285750">
                        <a:buFont typeface="Arial" panose="020B0604020202020204" pitchFamily="34" charset="0"/>
                        <a:buChar char="•"/>
                      </a:pPr>
                      <a:r>
                        <a:rPr lang="en-US" sz="1600">
                          <a:solidFill>
                            <a:schemeClr val="accent1"/>
                          </a:solidFill>
                        </a:rPr>
                        <a:t>Test Cases</a:t>
                      </a:r>
                    </a:p>
                    <a:p>
                      <a:pPr marL="285750" indent="-285750">
                        <a:buFont typeface="Arial" panose="020B0604020202020204" pitchFamily="34" charset="0"/>
                        <a:buChar char="•"/>
                      </a:pPr>
                      <a:endParaRPr lang="en-CA" sz="1600">
                        <a:solidFill>
                          <a:schemeClr val="accent1"/>
                        </a:solidFill>
                      </a:endParaRPr>
                    </a:p>
                  </a:txBody>
                  <a:tcPr>
                    <a:lnB w="38100" cap="flat" cmpd="sng" algn="ctr">
                      <a:solidFill>
                        <a:schemeClr val="accent1"/>
                      </a:solidFill>
                      <a:prstDash val="solid"/>
                      <a:round/>
                      <a:headEnd type="none" w="med" len="med"/>
                      <a:tailEnd type="none" w="med" len="med"/>
                    </a:lnB>
                    <a:solidFill>
                      <a:schemeClr val="bg1"/>
                    </a:solidFill>
                  </a:tcPr>
                </a:tc>
                <a:tc>
                  <a:txBody>
                    <a:bodyPr/>
                    <a:lstStyle/>
                    <a:p>
                      <a:pPr marL="285750" indent="-285750">
                        <a:buFont typeface="Arial" panose="020B0604020202020204" pitchFamily="34" charset="0"/>
                        <a:buChar char="•"/>
                      </a:pPr>
                      <a:r>
                        <a:rPr lang="en-US" sz="1600">
                          <a:solidFill>
                            <a:schemeClr val="accent1"/>
                          </a:solidFill>
                        </a:rPr>
                        <a:t>Foundational Build</a:t>
                      </a:r>
                    </a:p>
                    <a:p>
                      <a:pPr marL="285750" indent="-285750">
                        <a:buFont typeface="Arial" panose="020B0604020202020204" pitchFamily="34" charset="0"/>
                        <a:buChar char="•"/>
                      </a:pPr>
                      <a:r>
                        <a:rPr lang="en-US" sz="1600">
                          <a:solidFill>
                            <a:schemeClr val="accent1"/>
                          </a:solidFill>
                        </a:rPr>
                        <a:t>User Experience Screens</a:t>
                      </a:r>
                    </a:p>
                    <a:p>
                      <a:pPr marL="285750" indent="-285750">
                        <a:buFont typeface="Arial" panose="020B0604020202020204" pitchFamily="34" charset="0"/>
                        <a:buChar char="•"/>
                      </a:pPr>
                      <a:r>
                        <a:rPr lang="en-US" sz="1600">
                          <a:solidFill>
                            <a:schemeClr val="accent1"/>
                          </a:solidFill>
                        </a:rPr>
                        <a:t>Application Workflows</a:t>
                      </a:r>
                    </a:p>
                    <a:p>
                      <a:pPr marL="285750" indent="-285750">
                        <a:buFont typeface="Arial" panose="020B0604020202020204" pitchFamily="34" charset="0"/>
                        <a:buChar char="•"/>
                      </a:pPr>
                      <a:r>
                        <a:rPr lang="en-US" sz="1600">
                          <a:solidFill>
                            <a:schemeClr val="accent1"/>
                          </a:solidFill>
                        </a:rPr>
                        <a:t>Functional Testing</a:t>
                      </a:r>
                    </a:p>
                  </a:txBody>
                  <a:tcPr>
                    <a:lnB w="38100" cap="flat" cmpd="sng" algn="ctr">
                      <a:solidFill>
                        <a:schemeClr val="accent1"/>
                      </a:solidFill>
                      <a:prstDash val="solid"/>
                      <a:round/>
                      <a:headEnd type="none" w="med" len="med"/>
                      <a:tailEnd type="none" w="med" len="med"/>
                    </a:lnB>
                    <a:solidFill>
                      <a:schemeClr val="bg1"/>
                    </a:solidFill>
                  </a:tcPr>
                </a:tc>
                <a:tc>
                  <a:txBody>
                    <a:bodyPr/>
                    <a:lstStyle/>
                    <a:p>
                      <a:pPr marL="285750" indent="-285750">
                        <a:buFont typeface="Arial" panose="020B0604020202020204" pitchFamily="34" charset="0"/>
                        <a:buChar char="•"/>
                      </a:pPr>
                      <a:r>
                        <a:rPr lang="en-US" sz="1600">
                          <a:solidFill>
                            <a:schemeClr val="accent1"/>
                          </a:solidFill>
                        </a:rPr>
                        <a:t>User Acceptance Testing</a:t>
                      </a:r>
                    </a:p>
                    <a:p>
                      <a:pPr marL="285750" indent="-285750">
                        <a:buFont typeface="Arial" panose="020B0604020202020204" pitchFamily="34" charset="0"/>
                        <a:buChar char="•"/>
                      </a:pPr>
                      <a:r>
                        <a:rPr lang="en-US" sz="1600">
                          <a:solidFill>
                            <a:schemeClr val="accent1"/>
                          </a:solidFill>
                        </a:rPr>
                        <a:t>Curriculum Design</a:t>
                      </a:r>
                    </a:p>
                    <a:p>
                      <a:pPr marL="285750" indent="-285750">
                        <a:buFont typeface="Arial" panose="020B0604020202020204" pitchFamily="34" charset="0"/>
                        <a:buChar char="•"/>
                      </a:pPr>
                      <a:r>
                        <a:rPr lang="en-US" sz="1600">
                          <a:solidFill>
                            <a:schemeClr val="accent1"/>
                          </a:solidFill>
                        </a:rPr>
                        <a:t>Training Material</a:t>
                      </a:r>
                    </a:p>
                    <a:p>
                      <a:pPr marL="285750" indent="-285750">
                        <a:buFont typeface="Arial" panose="020B0604020202020204" pitchFamily="34" charset="0"/>
                        <a:buChar char="•"/>
                      </a:pPr>
                      <a:r>
                        <a:rPr lang="en-US" sz="1600">
                          <a:solidFill>
                            <a:schemeClr val="accent1"/>
                          </a:solidFill>
                        </a:rPr>
                        <a:t>Deploy into production</a:t>
                      </a:r>
                    </a:p>
                    <a:p>
                      <a:pPr marL="285750" indent="-285750">
                        <a:buFont typeface="Arial" panose="020B0604020202020204" pitchFamily="34" charset="0"/>
                        <a:buChar char="•"/>
                      </a:pPr>
                      <a:endParaRPr lang="en-CA" sz="1600">
                        <a:solidFill>
                          <a:schemeClr val="accent1"/>
                        </a:solidFill>
                      </a:endParaRPr>
                    </a:p>
                  </a:txBody>
                  <a:tcPr>
                    <a:lnB w="3810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1470086552"/>
                  </a:ext>
                </a:extLst>
              </a:tr>
              <a:tr h="370840">
                <a:tc>
                  <a:txBody>
                    <a:bodyPr/>
                    <a:lstStyle/>
                    <a:p>
                      <a:pPr marL="0" lvl="0" indent="0" algn="ctr">
                        <a:buFont typeface="Arial" panose="020B0604020202020204" pitchFamily="34" charset="0"/>
                        <a:buNone/>
                      </a:pPr>
                      <a:r>
                        <a:rPr lang="en-US" sz="1800" b="1">
                          <a:solidFill>
                            <a:schemeClr val="accent1"/>
                          </a:solidFill>
                        </a:rPr>
                        <a:t>User stories just enough for design</a:t>
                      </a:r>
                    </a:p>
                  </a:txBody>
                  <a:tcPr anchor="ctr">
                    <a:lnL w="12700" cmpd="sng">
                      <a:noFill/>
                    </a:lnL>
                    <a:lnR w="12700" cmpd="sng">
                      <a:noFill/>
                    </a:lnR>
                    <a:lnT w="38100" cap="flat" cmpd="sng" algn="ctr">
                      <a:solidFill>
                        <a:schemeClr val="accent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285750" indent="-285750" algn="l">
                        <a:buFont typeface="Arial" panose="020B0604020202020204" pitchFamily="34" charset="0"/>
                        <a:buChar char="•"/>
                      </a:pPr>
                      <a:r>
                        <a:rPr lang="en-US" sz="1600">
                          <a:solidFill>
                            <a:schemeClr val="accent1"/>
                          </a:solidFill>
                        </a:rPr>
                        <a:t>Design supports ability to build</a:t>
                      </a:r>
                    </a:p>
                    <a:p>
                      <a:pPr marL="285750" lvl="0" indent="-285750" algn="l">
                        <a:buFont typeface="Arial" panose="020B0604020202020204" pitchFamily="34" charset="0"/>
                        <a:buChar char="•"/>
                      </a:pPr>
                      <a:r>
                        <a:rPr lang="en-US" sz="1600">
                          <a:solidFill>
                            <a:schemeClr val="accent1"/>
                          </a:solidFill>
                        </a:rPr>
                        <a:t>Decision Requests as needed</a:t>
                      </a:r>
                    </a:p>
                  </a:txBody>
                  <a:tcPr anchor="ctr">
                    <a:lnL w="12700" cmpd="sng">
                      <a:noFill/>
                    </a:lnL>
                    <a:lnT w="38100" cap="flat" cmpd="sng" algn="ctr">
                      <a:solidFill>
                        <a:schemeClr val="accent1"/>
                      </a:solidFill>
                      <a:prstDash val="solid"/>
                      <a:round/>
                      <a:headEnd type="none" w="med" len="med"/>
                      <a:tailEnd type="none" w="med" len="med"/>
                    </a:lnT>
                    <a:solidFill>
                      <a:schemeClr val="bg1"/>
                    </a:solidFill>
                  </a:tcPr>
                </a:tc>
                <a:tc>
                  <a:txBody>
                    <a:bodyPr/>
                    <a:lstStyle/>
                    <a:p>
                      <a:pPr marL="0" indent="0" algn="ctr">
                        <a:buFont typeface="Arial" panose="020B0604020202020204" pitchFamily="34" charset="0"/>
                        <a:buNone/>
                      </a:pPr>
                      <a:r>
                        <a:rPr lang="en-US" sz="1600">
                          <a:solidFill>
                            <a:schemeClr val="accent1"/>
                          </a:solidFill>
                        </a:rPr>
                        <a:t>Build meets acceptance criteria</a:t>
                      </a:r>
                    </a:p>
                  </a:txBody>
                  <a:tcPr anchor="ctr">
                    <a:lnT w="38100" cap="flat" cmpd="sng" algn="ctr">
                      <a:solidFill>
                        <a:schemeClr val="accent1"/>
                      </a:solidFill>
                      <a:prstDash val="solid"/>
                      <a:round/>
                      <a:headEnd type="none" w="med" len="med"/>
                      <a:tailEnd type="none" w="med" len="med"/>
                    </a:lnT>
                    <a:solidFill>
                      <a:schemeClr val="bg1"/>
                    </a:solidFill>
                  </a:tcPr>
                </a:tc>
                <a:tc>
                  <a:txBody>
                    <a:bodyPr/>
                    <a:lstStyle/>
                    <a:p>
                      <a:pPr marL="0" indent="0" algn="ctr">
                        <a:buFont typeface="Arial" panose="020B0604020202020204" pitchFamily="34" charset="0"/>
                        <a:buNone/>
                      </a:pPr>
                      <a:r>
                        <a:rPr lang="en-US" sz="1600">
                          <a:solidFill>
                            <a:schemeClr val="accent1"/>
                          </a:solidFill>
                        </a:rPr>
                        <a:t>Build confirmed to meet acceptance criteria</a:t>
                      </a:r>
                      <a:endParaRPr lang="en-CA" sz="1600">
                        <a:solidFill>
                          <a:schemeClr val="accent1"/>
                        </a:solidFill>
                      </a:endParaRPr>
                    </a:p>
                  </a:txBody>
                  <a:tcPr anchor="ctr">
                    <a:lnT w="38100" cap="flat" cmpd="sng" algn="ctr">
                      <a:solidFill>
                        <a:schemeClr val="accent1"/>
                      </a:solidFill>
                      <a:prstDash val="solid"/>
                      <a:round/>
                      <a:headEnd type="none" w="med" len="med"/>
                      <a:tailEnd type="none" w="med" len="med"/>
                    </a:lnT>
                    <a:solidFill>
                      <a:schemeClr val="bg1"/>
                    </a:solidFill>
                  </a:tcPr>
                </a:tc>
                <a:extLst>
                  <a:ext uri="{0D108BD9-81ED-4DB2-BD59-A6C34878D82A}">
                    <a16:rowId xmlns:a16="http://schemas.microsoft.com/office/drawing/2014/main" val="4085687886"/>
                  </a:ext>
                </a:extLst>
              </a:tr>
            </a:tbl>
          </a:graphicData>
        </a:graphic>
      </p:graphicFrame>
      <p:sp>
        <p:nvSpPr>
          <p:cNvPr id="2" name="Rectangle 1">
            <a:extLst>
              <a:ext uri="{FF2B5EF4-FFF2-40B4-BE49-F238E27FC236}">
                <a16:creationId xmlns:a16="http://schemas.microsoft.com/office/drawing/2014/main" id="{0BF687EC-D8F8-BE39-0823-A6F0D7DF6B0E}"/>
              </a:ext>
            </a:extLst>
          </p:cNvPr>
          <p:cNvSpPr/>
          <p:nvPr/>
        </p:nvSpPr>
        <p:spPr>
          <a:xfrm>
            <a:off x="2290007" y="2790152"/>
            <a:ext cx="2154650" cy="3097620"/>
          </a:xfrm>
          <a:prstGeom prst="rect">
            <a:avLst/>
          </a:prstGeom>
          <a:noFill/>
          <a:ln w="571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45A4EEC1-1597-3498-347B-DA8B938D1CCC}"/>
              </a:ext>
            </a:extLst>
          </p:cNvPr>
          <p:cNvSpPr txBox="1"/>
          <p:nvPr/>
        </p:nvSpPr>
        <p:spPr>
          <a:xfrm>
            <a:off x="1527830" y="1449127"/>
            <a:ext cx="75865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cs typeface="Arial"/>
              </a:rPr>
              <a:t>Now</a:t>
            </a:r>
            <a:endParaRPr lang="en-US"/>
          </a:p>
        </p:txBody>
      </p:sp>
      <p:sp>
        <p:nvSpPr>
          <p:cNvPr id="24" name="TextBox 23">
            <a:extLst>
              <a:ext uri="{FF2B5EF4-FFF2-40B4-BE49-F238E27FC236}">
                <a16:creationId xmlns:a16="http://schemas.microsoft.com/office/drawing/2014/main" id="{729C7B0C-B3D1-DBAC-1816-B15EB1CAD099}"/>
              </a:ext>
            </a:extLst>
          </p:cNvPr>
          <p:cNvSpPr txBox="1"/>
          <p:nvPr/>
        </p:nvSpPr>
        <p:spPr>
          <a:xfrm>
            <a:off x="2980944" y="1449127"/>
            <a:ext cx="170078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Arial"/>
              </a:rPr>
              <a:t>March 2026</a:t>
            </a:r>
            <a:endParaRPr lang="en-US"/>
          </a:p>
        </p:txBody>
      </p:sp>
      <p:sp>
        <p:nvSpPr>
          <p:cNvPr id="25" name="TextBox 24">
            <a:extLst>
              <a:ext uri="{FF2B5EF4-FFF2-40B4-BE49-F238E27FC236}">
                <a16:creationId xmlns:a16="http://schemas.microsoft.com/office/drawing/2014/main" id="{65B803A0-8CED-93E9-CE49-C1F82350B5BE}"/>
              </a:ext>
            </a:extLst>
          </p:cNvPr>
          <p:cNvSpPr txBox="1"/>
          <p:nvPr/>
        </p:nvSpPr>
        <p:spPr>
          <a:xfrm>
            <a:off x="5723017" y="1449127"/>
            <a:ext cx="73352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Arial"/>
              </a:rPr>
              <a:t>TBD</a:t>
            </a:r>
          </a:p>
        </p:txBody>
      </p:sp>
    </p:spTree>
    <p:extLst>
      <p:ext uri="{BB962C8B-B14F-4D97-AF65-F5344CB8AC3E}">
        <p14:creationId xmlns:p14="http://schemas.microsoft.com/office/powerpoint/2010/main" val="31391677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655FE-60B9-4D6F-FEE8-79B784034650}"/>
              </a:ext>
            </a:extLst>
          </p:cNvPr>
          <p:cNvSpPr>
            <a:spLocks noGrp="1"/>
          </p:cNvSpPr>
          <p:nvPr>
            <p:ph type="title"/>
          </p:nvPr>
        </p:nvSpPr>
        <p:spPr>
          <a:xfrm>
            <a:off x="628650" y="784698"/>
            <a:ext cx="7886700" cy="905991"/>
          </a:xfrm>
        </p:spPr>
        <p:txBody>
          <a:bodyPr/>
          <a:lstStyle/>
          <a:p>
            <a:r>
              <a:rPr lang="en-US"/>
              <a:t>What is a PowerPoint Prototype?</a:t>
            </a:r>
            <a:endParaRPr lang="en-CA"/>
          </a:p>
        </p:txBody>
      </p:sp>
      <p:sp>
        <p:nvSpPr>
          <p:cNvPr id="3" name="Content Placeholder 2">
            <a:extLst>
              <a:ext uri="{FF2B5EF4-FFF2-40B4-BE49-F238E27FC236}">
                <a16:creationId xmlns:a16="http://schemas.microsoft.com/office/drawing/2014/main" id="{436ADBED-F898-3B4C-C875-8E6D07C79445}"/>
              </a:ext>
            </a:extLst>
          </p:cNvPr>
          <p:cNvSpPr>
            <a:spLocks noGrp="1"/>
          </p:cNvSpPr>
          <p:nvPr>
            <p:ph idx="1"/>
          </p:nvPr>
        </p:nvSpPr>
        <p:spPr/>
        <p:txBody>
          <a:bodyPr>
            <a:normAutofit fontScale="92500" lnSpcReduction="20000"/>
          </a:bodyPr>
          <a:lstStyle/>
          <a:p>
            <a:r>
              <a:rPr lang="en-US" b="1"/>
              <a:t>Wireframes</a:t>
            </a:r>
            <a:r>
              <a:rPr lang="en-US"/>
              <a:t> – These are wireframes that show what the proposed application screens will look like aligned to the proposed user stories</a:t>
            </a:r>
          </a:p>
          <a:p>
            <a:r>
              <a:rPr lang="en-US" b="1"/>
              <a:t>Specifications – </a:t>
            </a:r>
            <a:r>
              <a:rPr lang="en-US"/>
              <a:t>Each screen has design specifications that: </a:t>
            </a:r>
          </a:p>
          <a:p>
            <a:pPr lvl="1"/>
            <a:r>
              <a:rPr lang="en-US"/>
              <a:t>Align screen fields to the proposed data model</a:t>
            </a:r>
          </a:p>
          <a:p>
            <a:pPr lvl="1"/>
            <a:r>
              <a:rPr lang="en-US"/>
              <a:t>Explain how buttons will work</a:t>
            </a:r>
          </a:p>
          <a:p>
            <a:pPr lvl="1"/>
            <a:r>
              <a:rPr lang="en-US"/>
              <a:t>Describe alerts for errors or incomplete information for some activities.</a:t>
            </a:r>
          </a:p>
          <a:p>
            <a:r>
              <a:rPr lang="en-US" b="1"/>
              <a:t>Just enough design</a:t>
            </a:r>
            <a:r>
              <a:rPr lang="en-US"/>
              <a:t> – This is just enough design to move into the build stage where screens will be built iteratively and presented for review and approval as they are developed.</a:t>
            </a:r>
            <a:endParaRPr lang="en-CA"/>
          </a:p>
        </p:txBody>
      </p:sp>
      <p:sp>
        <p:nvSpPr>
          <p:cNvPr id="4" name="Slide Number Placeholder 3">
            <a:extLst>
              <a:ext uri="{FF2B5EF4-FFF2-40B4-BE49-F238E27FC236}">
                <a16:creationId xmlns:a16="http://schemas.microsoft.com/office/drawing/2014/main" id="{33657F65-B194-6096-6A85-FA3ED17F8643}"/>
              </a:ext>
            </a:extLst>
          </p:cNvPr>
          <p:cNvSpPr>
            <a:spLocks noGrp="1"/>
          </p:cNvSpPr>
          <p:nvPr>
            <p:ph type="sldNum" sz="quarter" idx="12"/>
          </p:nvPr>
        </p:nvSpPr>
        <p:spPr/>
        <p:txBody>
          <a:bodyPr/>
          <a:lstStyle/>
          <a:p>
            <a:fld id="{2639BB91-5DDD-4FF0-AA8B-B54FEC5F3DC9}" type="slidenum">
              <a:rPr lang="en-US" smtClean="0"/>
              <a:t>3</a:t>
            </a:fld>
            <a:endParaRPr lang="en-US"/>
          </a:p>
        </p:txBody>
      </p:sp>
    </p:spTree>
    <p:extLst>
      <p:ext uri="{BB962C8B-B14F-4D97-AF65-F5344CB8AC3E}">
        <p14:creationId xmlns:p14="http://schemas.microsoft.com/office/powerpoint/2010/main" val="6889183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773D1-A944-E6AE-3BBA-AC03C1324903}"/>
              </a:ext>
            </a:extLst>
          </p:cNvPr>
          <p:cNvSpPr>
            <a:spLocks noGrp="1"/>
          </p:cNvSpPr>
          <p:nvPr>
            <p:ph type="title"/>
          </p:nvPr>
        </p:nvSpPr>
        <p:spPr>
          <a:xfrm>
            <a:off x="628650" y="659372"/>
            <a:ext cx="7886700" cy="739588"/>
          </a:xfrm>
        </p:spPr>
        <p:txBody>
          <a:bodyPr>
            <a:noAutofit/>
          </a:bodyPr>
          <a:lstStyle/>
          <a:p>
            <a:r>
              <a:rPr lang="en-US" sz="3600"/>
              <a:t>Alberta Outbreak Management System</a:t>
            </a:r>
            <a:endParaRPr lang="en-CA" sz="3600"/>
          </a:p>
        </p:txBody>
      </p:sp>
      <p:pic>
        <p:nvPicPr>
          <p:cNvPr id="6" name="Content Placeholder 5">
            <a:extLst>
              <a:ext uri="{FF2B5EF4-FFF2-40B4-BE49-F238E27FC236}">
                <a16:creationId xmlns:a16="http://schemas.microsoft.com/office/drawing/2014/main" id="{54070C29-9113-55B8-29E2-99A402C47BA1}"/>
              </a:ext>
            </a:extLst>
          </p:cNvPr>
          <p:cNvPicPr>
            <a:picLocks noGrp="1" noChangeAspect="1"/>
          </p:cNvPicPr>
          <p:nvPr>
            <p:ph idx="1"/>
          </p:nvPr>
        </p:nvPicPr>
        <p:blipFill>
          <a:blip r:embed="rId3"/>
          <a:srcRect t="7953" r="8200" b="12816"/>
          <a:stretch>
            <a:fillRect/>
          </a:stretch>
        </p:blipFill>
        <p:spPr>
          <a:xfrm>
            <a:off x="317476" y="1398960"/>
            <a:ext cx="8429835" cy="4701358"/>
          </a:xfrm>
          <a:prstGeom prst="rect">
            <a:avLst/>
          </a:prstGeom>
        </p:spPr>
      </p:pic>
      <p:sp>
        <p:nvSpPr>
          <p:cNvPr id="4" name="Slide Number Placeholder 3">
            <a:extLst>
              <a:ext uri="{FF2B5EF4-FFF2-40B4-BE49-F238E27FC236}">
                <a16:creationId xmlns:a16="http://schemas.microsoft.com/office/drawing/2014/main" id="{5DFB321E-3D31-09AF-95CB-F0C11528D0FC}"/>
              </a:ext>
            </a:extLst>
          </p:cNvPr>
          <p:cNvSpPr>
            <a:spLocks noGrp="1"/>
          </p:cNvSpPr>
          <p:nvPr>
            <p:ph type="sldNum" sz="quarter" idx="12"/>
          </p:nvPr>
        </p:nvSpPr>
        <p:spPr/>
        <p:txBody>
          <a:bodyPr/>
          <a:lstStyle/>
          <a:p>
            <a:fld id="{2639BB91-5DDD-4FF0-AA8B-B54FEC5F3DC9}" type="slidenum">
              <a:rPr lang="en-US" smtClean="0"/>
              <a:t>4</a:t>
            </a:fld>
            <a:endParaRPr lang="en-US"/>
          </a:p>
        </p:txBody>
      </p:sp>
    </p:spTree>
    <p:extLst>
      <p:ext uri="{BB962C8B-B14F-4D97-AF65-F5344CB8AC3E}">
        <p14:creationId xmlns:p14="http://schemas.microsoft.com/office/powerpoint/2010/main" val="10664868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A55C9-CCF8-DC50-30E4-44B35CEACB41}"/>
              </a:ext>
            </a:extLst>
          </p:cNvPr>
          <p:cNvSpPr>
            <a:spLocks noGrp="1"/>
          </p:cNvSpPr>
          <p:nvPr>
            <p:ph type="title"/>
          </p:nvPr>
        </p:nvSpPr>
        <p:spPr>
          <a:xfrm>
            <a:off x="628650" y="823609"/>
            <a:ext cx="7886700" cy="867080"/>
          </a:xfrm>
        </p:spPr>
        <p:txBody>
          <a:bodyPr/>
          <a:lstStyle/>
          <a:p>
            <a:r>
              <a:rPr lang="en-US"/>
              <a:t>Setting the AOMS Foundation</a:t>
            </a:r>
            <a:endParaRPr lang="en-CA"/>
          </a:p>
        </p:txBody>
      </p:sp>
      <p:sp>
        <p:nvSpPr>
          <p:cNvPr id="3" name="Content Placeholder 2">
            <a:extLst>
              <a:ext uri="{FF2B5EF4-FFF2-40B4-BE49-F238E27FC236}">
                <a16:creationId xmlns:a16="http://schemas.microsoft.com/office/drawing/2014/main" id="{254FC3B7-96A4-4D14-78B7-8748158A20C3}"/>
              </a:ext>
            </a:extLst>
          </p:cNvPr>
          <p:cNvSpPr>
            <a:spLocks noGrp="1"/>
          </p:cNvSpPr>
          <p:nvPr>
            <p:ph idx="1"/>
          </p:nvPr>
        </p:nvSpPr>
        <p:spPr/>
        <p:txBody>
          <a:bodyPr vert="horz" lIns="91440" tIns="45720" rIns="91440" bIns="45720" rtlCol="0" anchor="t">
            <a:normAutofit fontScale="92500" lnSpcReduction="20000"/>
          </a:bodyPr>
          <a:lstStyle/>
          <a:p>
            <a:r>
              <a:rPr lang="en-US"/>
              <a:t>Managing Key Outbreak Entities</a:t>
            </a:r>
          </a:p>
          <a:p>
            <a:pPr lvl="1"/>
            <a:r>
              <a:rPr lang="en-US"/>
              <a:t>Users</a:t>
            </a:r>
          </a:p>
          <a:p>
            <a:pPr lvl="1"/>
            <a:r>
              <a:rPr lang="en-US"/>
              <a:t>Facilities</a:t>
            </a:r>
          </a:p>
          <a:p>
            <a:pPr lvl="1"/>
            <a:r>
              <a:rPr lang="en-US"/>
              <a:t>Organisms</a:t>
            </a:r>
          </a:p>
          <a:p>
            <a:r>
              <a:rPr lang="en-US"/>
              <a:t>Eliminating 'swivel-chair' interfaces</a:t>
            </a:r>
          </a:p>
          <a:p>
            <a:pPr lvl="1"/>
            <a:r>
              <a:rPr lang="en-US" sz="2800"/>
              <a:t>Reducing data duplication and manual re-entry</a:t>
            </a:r>
          </a:p>
          <a:p>
            <a:pPr lvl="1"/>
            <a:r>
              <a:rPr lang="en-US" sz="2800"/>
              <a:t>Making data accessible for the entire communicable disease domain.</a:t>
            </a:r>
          </a:p>
          <a:p>
            <a:r>
              <a:rPr lang="en-US"/>
              <a:t>Reuse CDOM User Experience (UX) where appropriate</a:t>
            </a:r>
          </a:p>
          <a:p>
            <a:r>
              <a:rPr lang="en-US"/>
              <a:t>Following published Disease Guidelines and Outbreak Submission guidelines</a:t>
            </a:r>
          </a:p>
        </p:txBody>
      </p:sp>
      <p:sp>
        <p:nvSpPr>
          <p:cNvPr id="4" name="Slide Number Placeholder 3">
            <a:extLst>
              <a:ext uri="{FF2B5EF4-FFF2-40B4-BE49-F238E27FC236}">
                <a16:creationId xmlns:a16="http://schemas.microsoft.com/office/drawing/2014/main" id="{62091C33-4AA5-3A9A-BE85-FA6B2198D692}"/>
              </a:ext>
            </a:extLst>
          </p:cNvPr>
          <p:cNvSpPr>
            <a:spLocks noGrp="1"/>
          </p:cNvSpPr>
          <p:nvPr>
            <p:ph type="sldNum" sz="quarter" idx="12"/>
          </p:nvPr>
        </p:nvSpPr>
        <p:spPr/>
        <p:txBody>
          <a:bodyPr/>
          <a:lstStyle/>
          <a:p>
            <a:fld id="{2639BB91-5DDD-4FF0-AA8B-B54FEC5F3DC9}" type="slidenum">
              <a:rPr lang="en-US" smtClean="0"/>
              <a:t>5</a:t>
            </a:fld>
            <a:endParaRPr lang="en-US"/>
          </a:p>
        </p:txBody>
      </p:sp>
    </p:spTree>
    <p:extLst>
      <p:ext uri="{BB962C8B-B14F-4D97-AF65-F5344CB8AC3E}">
        <p14:creationId xmlns:p14="http://schemas.microsoft.com/office/powerpoint/2010/main" val="7318653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6D906-D2BF-B731-B80A-3DA9523A4957}"/>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021C40B8-F8E4-DF69-D0B8-17F834EF92B6}"/>
              </a:ext>
            </a:extLst>
          </p:cNvPr>
          <p:cNvSpPr>
            <a:spLocks noGrp="1"/>
          </p:cNvSpPr>
          <p:nvPr>
            <p:ph type="body" sz="quarter" idx="13"/>
          </p:nvPr>
        </p:nvSpPr>
        <p:spPr>
          <a:xfrm>
            <a:off x="253092" y="138791"/>
            <a:ext cx="2758331" cy="383721"/>
          </a:xfrm>
        </p:spPr>
        <p:txBody>
          <a:bodyPr vert="horz" lIns="91440" tIns="45720" rIns="91440" bIns="45720" rtlCol="0" anchor="t">
            <a:normAutofit fontScale="77500" lnSpcReduction="20000"/>
          </a:bodyPr>
          <a:lstStyle/>
          <a:p>
            <a:r>
              <a:rPr lang="en-US"/>
              <a:t>Communicable Disease Solution</a:t>
            </a:r>
          </a:p>
        </p:txBody>
      </p:sp>
      <p:sp>
        <p:nvSpPr>
          <p:cNvPr id="5" name="Slide Number Placeholder 4">
            <a:extLst>
              <a:ext uri="{FF2B5EF4-FFF2-40B4-BE49-F238E27FC236}">
                <a16:creationId xmlns:a16="http://schemas.microsoft.com/office/drawing/2014/main" id="{55EF3D42-5545-C06F-7112-F6E05FFBB9ED}"/>
              </a:ext>
            </a:extLst>
          </p:cNvPr>
          <p:cNvSpPr>
            <a:spLocks noGrp="1"/>
          </p:cNvSpPr>
          <p:nvPr>
            <p:ph type="sldNum" sz="quarter" idx="4"/>
          </p:nvPr>
        </p:nvSpPr>
        <p:spPr/>
        <p:txBody>
          <a:bodyPr/>
          <a:lstStyle/>
          <a:p>
            <a:fld id="{2639BB91-5DDD-4FF0-AA8B-B54FEC5F3DC9}" type="slidenum">
              <a:rPr lang="en-US" smtClean="0"/>
              <a:t>6</a:t>
            </a:fld>
            <a:endParaRPr lang="en-US"/>
          </a:p>
        </p:txBody>
      </p:sp>
      <p:sp>
        <p:nvSpPr>
          <p:cNvPr id="2" name="Title 1">
            <a:extLst>
              <a:ext uri="{FF2B5EF4-FFF2-40B4-BE49-F238E27FC236}">
                <a16:creationId xmlns:a16="http://schemas.microsoft.com/office/drawing/2014/main" id="{1E039F86-4DFA-333C-63EF-EE68501C7F16}"/>
              </a:ext>
            </a:extLst>
          </p:cNvPr>
          <p:cNvSpPr>
            <a:spLocks noGrp="1"/>
          </p:cNvSpPr>
          <p:nvPr>
            <p:ph type="title"/>
          </p:nvPr>
        </p:nvSpPr>
        <p:spPr>
          <a:xfrm>
            <a:off x="3267456" y="14531"/>
            <a:ext cx="5553710" cy="631646"/>
          </a:xfrm>
        </p:spPr>
        <p:txBody>
          <a:bodyPr>
            <a:noAutofit/>
          </a:bodyPr>
          <a:lstStyle/>
          <a:p>
            <a:r>
              <a:rPr lang="en-US" sz="3600"/>
              <a:t>AOMS User Maintenance</a:t>
            </a:r>
          </a:p>
        </p:txBody>
      </p:sp>
      <p:sp>
        <p:nvSpPr>
          <p:cNvPr id="3" name="Rounded Rectangle 2">
            <a:extLst>
              <a:ext uri="{FF2B5EF4-FFF2-40B4-BE49-F238E27FC236}">
                <a16:creationId xmlns:a16="http://schemas.microsoft.com/office/drawing/2014/main" id="{5B034B37-821F-B959-0C7F-738F19899480}"/>
              </a:ext>
            </a:extLst>
          </p:cNvPr>
          <p:cNvSpPr/>
          <p:nvPr/>
        </p:nvSpPr>
        <p:spPr>
          <a:xfrm>
            <a:off x="188068" y="890015"/>
            <a:ext cx="8754894" cy="5829193"/>
          </a:xfrm>
          <a:prstGeom prst="roundRect">
            <a:avLst>
              <a:gd name="adj" fmla="val 2501"/>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ctr"/>
            <a:r>
              <a:rPr lang="en-US" b="1">
                <a:solidFill>
                  <a:schemeClr val="tx1"/>
                </a:solidFill>
              </a:rPr>
              <a:t>Alberta Outbreak Management System (AOMS)</a:t>
            </a:r>
          </a:p>
        </p:txBody>
      </p:sp>
      <p:sp>
        <p:nvSpPr>
          <p:cNvPr id="13" name="Rounded Rectangle 12">
            <a:extLst>
              <a:ext uri="{FF2B5EF4-FFF2-40B4-BE49-F238E27FC236}">
                <a16:creationId xmlns:a16="http://schemas.microsoft.com/office/drawing/2014/main" id="{D16F1B66-AD16-BA01-5532-196317EE200A}"/>
              </a:ext>
            </a:extLst>
          </p:cNvPr>
          <p:cNvSpPr/>
          <p:nvPr/>
        </p:nvSpPr>
        <p:spPr>
          <a:xfrm>
            <a:off x="304800" y="1412100"/>
            <a:ext cx="8516366" cy="5176768"/>
          </a:xfrm>
          <a:prstGeom prst="roundRect">
            <a:avLst>
              <a:gd name="adj" fmla="val 2501"/>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b="1">
                <a:solidFill>
                  <a:schemeClr val="tx1"/>
                </a:solidFill>
              </a:rPr>
              <a:t>User  Maintenance</a:t>
            </a:r>
          </a:p>
        </p:txBody>
      </p:sp>
      <p:sp>
        <p:nvSpPr>
          <p:cNvPr id="6" name="Rectangle: Rounded Corners 5">
            <a:extLst>
              <a:ext uri="{FF2B5EF4-FFF2-40B4-BE49-F238E27FC236}">
                <a16:creationId xmlns:a16="http://schemas.microsoft.com/office/drawing/2014/main" id="{F6E3BF26-DACD-AC68-A8F4-A5F29FD297CE}"/>
              </a:ext>
            </a:extLst>
          </p:cNvPr>
          <p:cNvSpPr/>
          <p:nvPr/>
        </p:nvSpPr>
        <p:spPr>
          <a:xfrm>
            <a:off x="7306756" y="5975165"/>
            <a:ext cx="1422400" cy="452582"/>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Save</a:t>
            </a:r>
            <a:endParaRPr lang="en-CA"/>
          </a:p>
        </p:txBody>
      </p:sp>
      <p:sp>
        <p:nvSpPr>
          <p:cNvPr id="14" name="TextBox 13">
            <a:extLst>
              <a:ext uri="{FF2B5EF4-FFF2-40B4-BE49-F238E27FC236}">
                <a16:creationId xmlns:a16="http://schemas.microsoft.com/office/drawing/2014/main" id="{D3CA989D-0372-7172-A2B4-3030E8172030}"/>
              </a:ext>
            </a:extLst>
          </p:cNvPr>
          <p:cNvSpPr txBox="1"/>
          <p:nvPr/>
        </p:nvSpPr>
        <p:spPr>
          <a:xfrm>
            <a:off x="446954" y="2145010"/>
            <a:ext cx="1311449" cy="369332"/>
          </a:xfrm>
          <a:prstGeom prst="rect">
            <a:avLst/>
          </a:prstGeom>
          <a:noFill/>
        </p:spPr>
        <p:txBody>
          <a:bodyPr wrap="none" rtlCol="0">
            <a:spAutoFit/>
          </a:bodyPr>
          <a:lstStyle/>
          <a:p>
            <a:r>
              <a:rPr lang="en-US"/>
              <a:t>Last Name</a:t>
            </a:r>
            <a:endParaRPr lang="en-CA"/>
          </a:p>
        </p:txBody>
      </p:sp>
      <p:sp>
        <p:nvSpPr>
          <p:cNvPr id="15" name="Rectangle 14">
            <a:extLst>
              <a:ext uri="{FF2B5EF4-FFF2-40B4-BE49-F238E27FC236}">
                <a16:creationId xmlns:a16="http://schemas.microsoft.com/office/drawing/2014/main" id="{56D5528C-ED08-ACC3-D0A6-E9F030D98870}"/>
              </a:ext>
            </a:extLst>
          </p:cNvPr>
          <p:cNvSpPr/>
          <p:nvPr/>
        </p:nvSpPr>
        <p:spPr>
          <a:xfrm>
            <a:off x="2493440" y="2173743"/>
            <a:ext cx="2216196"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 name="Rectangle 16">
            <a:extLst>
              <a:ext uri="{FF2B5EF4-FFF2-40B4-BE49-F238E27FC236}">
                <a16:creationId xmlns:a16="http://schemas.microsoft.com/office/drawing/2014/main" id="{ADED62A2-9F96-8158-1898-A35E4B26DD3E}"/>
              </a:ext>
            </a:extLst>
          </p:cNvPr>
          <p:cNvSpPr/>
          <p:nvPr/>
        </p:nvSpPr>
        <p:spPr>
          <a:xfrm>
            <a:off x="2502927" y="3430676"/>
            <a:ext cx="1881033"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 name="TextBox 17">
            <a:extLst>
              <a:ext uri="{FF2B5EF4-FFF2-40B4-BE49-F238E27FC236}">
                <a16:creationId xmlns:a16="http://schemas.microsoft.com/office/drawing/2014/main" id="{9DC6F7CC-AF42-E2CF-A7FC-1CB8F4F96648}"/>
              </a:ext>
            </a:extLst>
          </p:cNvPr>
          <p:cNvSpPr txBox="1"/>
          <p:nvPr/>
        </p:nvSpPr>
        <p:spPr>
          <a:xfrm>
            <a:off x="446954" y="3398348"/>
            <a:ext cx="1000659" cy="369332"/>
          </a:xfrm>
          <a:prstGeom prst="rect">
            <a:avLst/>
          </a:prstGeom>
          <a:noFill/>
        </p:spPr>
        <p:txBody>
          <a:bodyPr wrap="none" rtlCol="0">
            <a:spAutoFit/>
          </a:bodyPr>
          <a:lstStyle/>
          <a:p>
            <a:r>
              <a:rPr lang="en-US"/>
              <a:t>Address</a:t>
            </a:r>
            <a:endParaRPr lang="en-CA"/>
          </a:p>
        </p:txBody>
      </p:sp>
      <p:sp>
        <p:nvSpPr>
          <p:cNvPr id="19" name="Rectangle 18">
            <a:extLst>
              <a:ext uri="{FF2B5EF4-FFF2-40B4-BE49-F238E27FC236}">
                <a16:creationId xmlns:a16="http://schemas.microsoft.com/office/drawing/2014/main" id="{303C8F06-A7D1-A35C-2B5C-F178227C1542}"/>
              </a:ext>
            </a:extLst>
          </p:cNvPr>
          <p:cNvSpPr/>
          <p:nvPr/>
        </p:nvSpPr>
        <p:spPr>
          <a:xfrm>
            <a:off x="2499263" y="3852495"/>
            <a:ext cx="1881033"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 name="TextBox 19">
            <a:extLst>
              <a:ext uri="{FF2B5EF4-FFF2-40B4-BE49-F238E27FC236}">
                <a16:creationId xmlns:a16="http://schemas.microsoft.com/office/drawing/2014/main" id="{8DDB0FC8-9B99-1722-E247-D89C6CBB07A9}"/>
              </a:ext>
            </a:extLst>
          </p:cNvPr>
          <p:cNvSpPr txBox="1"/>
          <p:nvPr/>
        </p:nvSpPr>
        <p:spPr>
          <a:xfrm>
            <a:off x="437691" y="3820167"/>
            <a:ext cx="1388842" cy="369332"/>
          </a:xfrm>
          <a:prstGeom prst="rect">
            <a:avLst/>
          </a:prstGeom>
          <a:noFill/>
        </p:spPr>
        <p:txBody>
          <a:bodyPr wrap="none" rtlCol="0">
            <a:spAutoFit/>
          </a:bodyPr>
          <a:lstStyle/>
          <a:p>
            <a:r>
              <a:rPr lang="en-US"/>
              <a:t>Postal Code</a:t>
            </a:r>
            <a:endParaRPr lang="en-CA"/>
          </a:p>
        </p:txBody>
      </p:sp>
      <p:sp>
        <p:nvSpPr>
          <p:cNvPr id="23" name="Rectangle 22">
            <a:extLst>
              <a:ext uri="{FF2B5EF4-FFF2-40B4-BE49-F238E27FC236}">
                <a16:creationId xmlns:a16="http://schemas.microsoft.com/office/drawing/2014/main" id="{1F7D66B4-EF62-D78E-4AC9-FD49842D6429}"/>
              </a:ext>
            </a:extLst>
          </p:cNvPr>
          <p:cNvSpPr/>
          <p:nvPr/>
        </p:nvSpPr>
        <p:spPr>
          <a:xfrm>
            <a:off x="2499263" y="3027010"/>
            <a:ext cx="1881033"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CA">
                <a:solidFill>
                  <a:schemeClr val="tx1"/>
                </a:solidFill>
                <a:latin typeface="Arial" panose="020B0604020202020204" pitchFamily="34" charset="0"/>
                <a:cs typeface="Arial" panose="020B0604020202020204" pitchFamily="34" charset="0"/>
              </a:rPr>
              <a:t>▼</a:t>
            </a:r>
            <a:endParaRPr lang="en-CA"/>
          </a:p>
        </p:txBody>
      </p:sp>
      <p:sp>
        <p:nvSpPr>
          <p:cNvPr id="24" name="TextBox 23">
            <a:extLst>
              <a:ext uri="{FF2B5EF4-FFF2-40B4-BE49-F238E27FC236}">
                <a16:creationId xmlns:a16="http://schemas.microsoft.com/office/drawing/2014/main" id="{6AB3209D-3EFF-1AEC-D4F6-9D92E7145E56}"/>
              </a:ext>
            </a:extLst>
          </p:cNvPr>
          <p:cNvSpPr txBox="1"/>
          <p:nvPr/>
        </p:nvSpPr>
        <p:spPr>
          <a:xfrm>
            <a:off x="443290" y="2994682"/>
            <a:ext cx="1391728" cy="369332"/>
          </a:xfrm>
          <a:prstGeom prst="rect">
            <a:avLst/>
          </a:prstGeom>
          <a:noFill/>
        </p:spPr>
        <p:txBody>
          <a:bodyPr wrap="none" rtlCol="0">
            <a:spAutoFit/>
          </a:bodyPr>
          <a:lstStyle/>
          <a:p>
            <a:r>
              <a:rPr lang="en-US"/>
              <a:t>Department</a:t>
            </a:r>
            <a:endParaRPr lang="en-CA"/>
          </a:p>
        </p:txBody>
      </p:sp>
      <p:graphicFrame>
        <p:nvGraphicFramePr>
          <p:cNvPr id="25" name="Table 24">
            <a:extLst>
              <a:ext uri="{FF2B5EF4-FFF2-40B4-BE49-F238E27FC236}">
                <a16:creationId xmlns:a16="http://schemas.microsoft.com/office/drawing/2014/main" id="{E2E1D17B-012D-22C2-8E8B-96C92E68B629}"/>
              </a:ext>
            </a:extLst>
          </p:cNvPr>
          <p:cNvGraphicFramePr>
            <a:graphicFrameLocks noGrp="1"/>
          </p:cNvGraphicFramePr>
          <p:nvPr>
            <p:extLst>
              <p:ext uri="{D42A27DB-BD31-4B8C-83A1-F6EECF244321}">
                <p14:modId xmlns:p14="http://schemas.microsoft.com/office/powerpoint/2010/main" val="4122755475"/>
              </p:ext>
            </p:extLst>
          </p:nvPr>
        </p:nvGraphicFramePr>
        <p:xfrm>
          <a:off x="528073" y="5282003"/>
          <a:ext cx="6096000" cy="741680"/>
        </p:xfrm>
        <a:graphic>
          <a:graphicData uri="http://schemas.openxmlformats.org/drawingml/2006/table">
            <a:tbl>
              <a:tblPr firstRow="1" bandRow="1">
                <a:tableStyleId>{073A0DAA-6AF3-43AB-8588-CEC1D06C72B9}</a:tableStyleId>
              </a:tblPr>
              <a:tblGrid>
                <a:gridCol w="1524000">
                  <a:extLst>
                    <a:ext uri="{9D8B030D-6E8A-4147-A177-3AD203B41FA5}">
                      <a16:colId xmlns:a16="http://schemas.microsoft.com/office/drawing/2014/main" val="969295401"/>
                    </a:ext>
                  </a:extLst>
                </a:gridCol>
                <a:gridCol w="1524000">
                  <a:extLst>
                    <a:ext uri="{9D8B030D-6E8A-4147-A177-3AD203B41FA5}">
                      <a16:colId xmlns:a16="http://schemas.microsoft.com/office/drawing/2014/main" val="369722235"/>
                    </a:ext>
                  </a:extLst>
                </a:gridCol>
                <a:gridCol w="1524000">
                  <a:extLst>
                    <a:ext uri="{9D8B030D-6E8A-4147-A177-3AD203B41FA5}">
                      <a16:colId xmlns:a16="http://schemas.microsoft.com/office/drawing/2014/main" val="126097659"/>
                    </a:ext>
                  </a:extLst>
                </a:gridCol>
                <a:gridCol w="1524000">
                  <a:extLst>
                    <a:ext uri="{9D8B030D-6E8A-4147-A177-3AD203B41FA5}">
                      <a16:colId xmlns:a16="http://schemas.microsoft.com/office/drawing/2014/main" val="543840967"/>
                    </a:ext>
                  </a:extLst>
                </a:gridCol>
              </a:tblGrid>
              <a:tr h="370840">
                <a:tc>
                  <a:txBody>
                    <a:bodyPr/>
                    <a:lstStyle/>
                    <a:p>
                      <a:r>
                        <a:rPr lang="en-US"/>
                        <a:t>Name</a:t>
                      </a:r>
                      <a:endParaRPr lang="en-CA"/>
                    </a:p>
                  </a:txBody>
                  <a:tcPr/>
                </a:tc>
                <a:tc>
                  <a:txBody>
                    <a:bodyPr/>
                    <a:lstStyle/>
                    <a:p>
                      <a:r>
                        <a:rPr lang="en-US"/>
                        <a:t>Role</a:t>
                      </a:r>
                      <a:endParaRPr lang="en-CA"/>
                    </a:p>
                  </a:txBody>
                  <a:tcPr/>
                </a:tc>
                <a:tc>
                  <a:txBody>
                    <a:bodyPr/>
                    <a:lstStyle/>
                    <a:p>
                      <a:r>
                        <a:rPr lang="en-US"/>
                        <a:t>Phone</a:t>
                      </a:r>
                      <a:endParaRPr lang="en-CA"/>
                    </a:p>
                  </a:txBody>
                  <a:tcPr/>
                </a:tc>
                <a:tc>
                  <a:txBody>
                    <a:bodyPr/>
                    <a:lstStyle/>
                    <a:p>
                      <a:r>
                        <a:rPr lang="en-US"/>
                        <a:t>E-mail</a:t>
                      </a:r>
                      <a:endParaRPr lang="en-CA"/>
                    </a:p>
                  </a:txBody>
                  <a:tcPr/>
                </a:tc>
                <a:extLst>
                  <a:ext uri="{0D108BD9-81ED-4DB2-BD59-A6C34878D82A}">
                    <a16:rowId xmlns:a16="http://schemas.microsoft.com/office/drawing/2014/main" val="2540071772"/>
                  </a:ext>
                </a:extLst>
              </a:tr>
              <a:tr h="370840">
                <a:tc>
                  <a:txBody>
                    <a:bodyPr/>
                    <a:lstStyle/>
                    <a:p>
                      <a:endParaRPr lang="en-CA"/>
                    </a:p>
                  </a:txBody>
                  <a:tcPr/>
                </a:tc>
                <a:tc>
                  <a:txBody>
                    <a:bodyPr/>
                    <a:lstStyle/>
                    <a:p>
                      <a:endParaRPr lang="en-CA"/>
                    </a:p>
                  </a:txBody>
                  <a:tcPr/>
                </a:tc>
                <a:tc>
                  <a:txBody>
                    <a:bodyPr/>
                    <a:lstStyle/>
                    <a:p>
                      <a:endParaRPr lang="en-CA"/>
                    </a:p>
                  </a:txBody>
                  <a:tcPr/>
                </a:tc>
                <a:tc>
                  <a:txBody>
                    <a:bodyPr/>
                    <a:lstStyle/>
                    <a:p>
                      <a:endParaRPr lang="en-CA"/>
                    </a:p>
                  </a:txBody>
                  <a:tcPr/>
                </a:tc>
                <a:extLst>
                  <a:ext uri="{0D108BD9-81ED-4DB2-BD59-A6C34878D82A}">
                    <a16:rowId xmlns:a16="http://schemas.microsoft.com/office/drawing/2014/main" val="981131414"/>
                  </a:ext>
                </a:extLst>
              </a:tr>
            </a:tbl>
          </a:graphicData>
        </a:graphic>
      </p:graphicFrame>
      <p:sp>
        <p:nvSpPr>
          <p:cNvPr id="27" name="TextBox 26">
            <a:extLst>
              <a:ext uri="{FF2B5EF4-FFF2-40B4-BE49-F238E27FC236}">
                <a16:creationId xmlns:a16="http://schemas.microsoft.com/office/drawing/2014/main" id="{74D052BF-6151-D103-5005-6E20539FB58B}"/>
              </a:ext>
            </a:extLst>
          </p:cNvPr>
          <p:cNvSpPr txBox="1"/>
          <p:nvPr/>
        </p:nvSpPr>
        <p:spPr>
          <a:xfrm>
            <a:off x="446954" y="4878337"/>
            <a:ext cx="1660904" cy="369332"/>
          </a:xfrm>
          <a:prstGeom prst="rect">
            <a:avLst/>
          </a:prstGeom>
          <a:noFill/>
        </p:spPr>
        <p:txBody>
          <a:bodyPr wrap="none" rtlCol="0">
            <a:spAutoFit/>
          </a:bodyPr>
          <a:lstStyle/>
          <a:p>
            <a:r>
              <a:rPr lang="en-US" b="1"/>
              <a:t>Existing Users</a:t>
            </a:r>
            <a:endParaRPr lang="en-CA" b="1"/>
          </a:p>
        </p:txBody>
      </p:sp>
      <p:grpSp>
        <p:nvGrpSpPr>
          <p:cNvPr id="16" name="Group 15">
            <a:extLst>
              <a:ext uri="{FF2B5EF4-FFF2-40B4-BE49-F238E27FC236}">
                <a16:creationId xmlns:a16="http://schemas.microsoft.com/office/drawing/2014/main" id="{8A823BF4-E2B3-2F3E-CEA9-648C5C235B12}"/>
              </a:ext>
            </a:extLst>
          </p:cNvPr>
          <p:cNvGrpSpPr/>
          <p:nvPr/>
        </p:nvGrpSpPr>
        <p:grpSpPr>
          <a:xfrm>
            <a:off x="446954" y="1625429"/>
            <a:ext cx="4535593" cy="753640"/>
            <a:chOff x="487183" y="2210364"/>
            <a:chExt cx="4535593" cy="753640"/>
          </a:xfrm>
        </p:grpSpPr>
        <p:sp>
          <p:nvSpPr>
            <p:cNvPr id="10" name="TextBox 9">
              <a:extLst>
                <a:ext uri="{FF2B5EF4-FFF2-40B4-BE49-F238E27FC236}">
                  <a16:creationId xmlns:a16="http://schemas.microsoft.com/office/drawing/2014/main" id="{A49E6CB3-C444-9A43-2434-C980C1DEC939}"/>
                </a:ext>
              </a:extLst>
            </p:cNvPr>
            <p:cNvSpPr txBox="1"/>
            <p:nvPr/>
          </p:nvSpPr>
          <p:spPr>
            <a:xfrm>
              <a:off x="487183" y="2350183"/>
              <a:ext cx="1270861" cy="369332"/>
            </a:xfrm>
            <a:prstGeom prst="rect">
              <a:avLst/>
            </a:prstGeom>
            <a:noFill/>
          </p:spPr>
          <p:txBody>
            <a:bodyPr wrap="none" rtlCol="0">
              <a:spAutoFit/>
            </a:bodyPr>
            <a:lstStyle/>
            <a:p>
              <a:r>
                <a:rPr lang="en-US"/>
                <a:t>First Name</a:t>
              </a:r>
              <a:endParaRPr lang="en-CA"/>
            </a:p>
          </p:txBody>
        </p:sp>
        <p:sp>
          <p:nvSpPr>
            <p:cNvPr id="11" name="Rectangle 10">
              <a:extLst>
                <a:ext uri="{FF2B5EF4-FFF2-40B4-BE49-F238E27FC236}">
                  <a16:creationId xmlns:a16="http://schemas.microsoft.com/office/drawing/2014/main" id="{6E6CA1EE-FD85-D817-49B3-57C32E04D546}"/>
                </a:ext>
              </a:extLst>
            </p:cNvPr>
            <p:cNvSpPr/>
            <p:nvPr/>
          </p:nvSpPr>
          <p:spPr>
            <a:xfrm>
              <a:off x="2521655" y="2379207"/>
              <a:ext cx="2216196"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CA">
                <a:solidFill>
                  <a:schemeClr val="tx1"/>
                </a:solidFill>
              </a:endParaRPr>
            </a:p>
          </p:txBody>
        </p:sp>
        <p:sp>
          <p:nvSpPr>
            <p:cNvPr id="12" name="TextBox 11">
              <a:extLst>
                <a:ext uri="{FF2B5EF4-FFF2-40B4-BE49-F238E27FC236}">
                  <a16:creationId xmlns:a16="http://schemas.microsoft.com/office/drawing/2014/main" id="{9396B87A-EB28-8FC1-211B-0E0C65BB2C6F}"/>
                </a:ext>
              </a:extLst>
            </p:cNvPr>
            <p:cNvSpPr txBox="1"/>
            <p:nvPr/>
          </p:nvSpPr>
          <p:spPr>
            <a:xfrm>
              <a:off x="4654813" y="2210364"/>
              <a:ext cx="290464" cy="369332"/>
            </a:xfrm>
            <a:prstGeom prst="rect">
              <a:avLst/>
            </a:prstGeom>
            <a:noFill/>
          </p:spPr>
          <p:txBody>
            <a:bodyPr wrap="square" rtlCol="0">
              <a:spAutoFit/>
            </a:bodyPr>
            <a:lstStyle/>
            <a:p>
              <a:r>
                <a:rPr lang="en-US">
                  <a:solidFill>
                    <a:schemeClr val="accent6"/>
                  </a:solidFill>
                </a:rPr>
                <a:t>*</a:t>
              </a:r>
              <a:endParaRPr lang="en-CA">
                <a:solidFill>
                  <a:schemeClr val="accent6"/>
                </a:solidFill>
              </a:endParaRPr>
            </a:p>
          </p:txBody>
        </p:sp>
        <p:sp>
          <p:nvSpPr>
            <p:cNvPr id="28" name="TextBox 27">
              <a:extLst>
                <a:ext uri="{FF2B5EF4-FFF2-40B4-BE49-F238E27FC236}">
                  <a16:creationId xmlns:a16="http://schemas.microsoft.com/office/drawing/2014/main" id="{80381F2B-261B-58A2-6F09-957B77830357}"/>
                </a:ext>
              </a:extLst>
            </p:cNvPr>
            <p:cNvSpPr txBox="1"/>
            <p:nvPr/>
          </p:nvSpPr>
          <p:spPr>
            <a:xfrm>
              <a:off x="4732312" y="2594672"/>
              <a:ext cx="290464" cy="369332"/>
            </a:xfrm>
            <a:prstGeom prst="rect">
              <a:avLst/>
            </a:prstGeom>
            <a:noFill/>
          </p:spPr>
          <p:txBody>
            <a:bodyPr wrap="square" rtlCol="0">
              <a:spAutoFit/>
            </a:bodyPr>
            <a:lstStyle/>
            <a:p>
              <a:r>
                <a:rPr lang="en-US">
                  <a:solidFill>
                    <a:schemeClr val="accent6"/>
                  </a:solidFill>
                </a:rPr>
                <a:t>*</a:t>
              </a:r>
              <a:endParaRPr lang="en-CA">
                <a:solidFill>
                  <a:schemeClr val="accent6"/>
                </a:solidFill>
              </a:endParaRPr>
            </a:p>
          </p:txBody>
        </p:sp>
      </p:grpSp>
      <p:sp>
        <p:nvSpPr>
          <p:cNvPr id="21" name="TextBox 20">
            <a:extLst>
              <a:ext uri="{FF2B5EF4-FFF2-40B4-BE49-F238E27FC236}">
                <a16:creationId xmlns:a16="http://schemas.microsoft.com/office/drawing/2014/main" id="{288F97B1-9AC8-48DB-2E34-9C6682D74BFB}"/>
              </a:ext>
            </a:extLst>
          </p:cNvPr>
          <p:cNvSpPr txBox="1"/>
          <p:nvPr/>
        </p:nvSpPr>
        <p:spPr>
          <a:xfrm>
            <a:off x="4680923" y="2107495"/>
            <a:ext cx="308098" cy="369332"/>
          </a:xfrm>
          <a:prstGeom prst="rect">
            <a:avLst/>
          </a:prstGeom>
          <a:noFill/>
        </p:spPr>
        <p:txBody>
          <a:bodyPr wrap="none" rtlCol="0">
            <a:spAutoFit/>
          </a:bodyPr>
          <a:lstStyle/>
          <a:p>
            <a:r>
              <a:rPr lang="en-US"/>
              <a:t>+</a:t>
            </a:r>
            <a:endParaRPr lang="en-CA"/>
          </a:p>
        </p:txBody>
      </p:sp>
      <p:sp>
        <p:nvSpPr>
          <p:cNvPr id="31" name="TextBox 30">
            <a:extLst>
              <a:ext uri="{FF2B5EF4-FFF2-40B4-BE49-F238E27FC236}">
                <a16:creationId xmlns:a16="http://schemas.microsoft.com/office/drawing/2014/main" id="{618AE62E-AF6A-11A6-CCF2-D3586EEF7AAD}"/>
              </a:ext>
            </a:extLst>
          </p:cNvPr>
          <p:cNvSpPr txBox="1"/>
          <p:nvPr/>
        </p:nvSpPr>
        <p:spPr>
          <a:xfrm>
            <a:off x="4330067" y="3424334"/>
            <a:ext cx="308098" cy="369332"/>
          </a:xfrm>
          <a:prstGeom prst="rect">
            <a:avLst/>
          </a:prstGeom>
          <a:noFill/>
        </p:spPr>
        <p:txBody>
          <a:bodyPr wrap="square" rtlCol="0">
            <a:spAutoFit/>
          </a:bodyPr>
          <a:lstStyle/>
          <a:p>
            <a:r>
              <a:rPr lang="en-US"/>
              <a:t>+</a:t>
            </a:r>
            <a:endParaRPr lang="en-CA"/>
          </a:p>
        </p:txBody>
      </p:sp>
      <p:sp>
        <p:nvSpPr>
          <p:cNvPr id="32" name="TextBox 31">
            <a:extLst>
              <a:ext uri="{FF2B5EF4-FFF2-40B4-BE49-F238E27FC236}">
                <a16:creationId xmlns:a16="http://schemas.microsoft.com/office/drawing/2014/main" id="{9BB9F45B-D1C8-B964-2EAF-3B8E885C3653}"/>
              </a:ext>
            </a:extLst>
          </p:cNvPr>
          <p:cNvSpPr txBox="1"/>
          <p:nvPr/>
        </p:nvSpPr>
        <p:spPr>
          <a:xfrm>
            <a:off x="4342979" y="3828000"/>
            <a:ext cx="308098" cy="369332"/>
          </a:xfrm>
          <a:prstGeom prst="rect">
            <a:avLst/>
          </a:prstGeom>
          <a:noFill/>
        </p:spPr>
        <p:txBody>
          <a:bodyPr wrap="square" rtlCol="0">
            <a:spAutoFit/>
          </a:bodyPr>
          <a:lstStyle/>
          <a:p>
            <a:r>
              <a:rPr lang="en-US"/>
              <a:t>+</a:t>
            </a:r>
            <a:endParaRPr lang="en-CA"/>
          </a:p>
        </p:txBody>
      </p:sp>
      <p:sp>
        <p:nvSpPr>
          <p:cNvPr id="7" name="Rectangle 6">
            <a:extLst>
              <a:ext uri="{FF2B5EF4-FFF2-40B4-BE49-F238E27FC236}">
                <a16:creationId xmlns:a16="http://schemas.microsoft.com/office/drawing/2014/main" id="{C7F72FF5-FED5-62E1-78B3-23D5A89499D1}"/>
              </a:ext>
            </a:extLst>
          </p:cNvPr>
          <p:cNvSpPr/>
          <p:nvPr/>
        </p:nvSpPr>
        <p:spPr>
          <a:xfrm>
            <a:off x="2481426" y="2584892"/>
            <a:ext cx="2216196"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CA">
                <a:solidFill>
                  <a:schemeClr val="tx1"/>
                </a:solidFill>
                <a:latin typeface="Arial" panose="020B0604020202020204" pitchFamily="34" charset="0"/>
                <a:cs typeface="Arial" panose="020B0604020202020204" pitchFamily="34" charset="0"/>
              </a:rPr>
              <a:t>▼</a:t>
            </a:r>
            <a:endParaRPr lang="en-CA">
              <a:solidFill>
                <a:schemeClr val="tx1"/>
              </a:solidFill>
            </a:endParaRPr>
          </a:p>
        </p:txBody>
      </p:sp>
      <p:sp>
        <p:nvSpPr>
          <p:cNvPr id="8" name="TextBox 7">
            <a:extLst>
              <a:ext uri="{FF2B5EF4-FFF2-40B4-BE49-F238E27FC236}">
                <a16:creationId xmlns:a16="http://schemas.microsoft.com/office/drawing/2014/main" id="{878B523D-CC13-7EA1-1155-1CA9E985F8A6}"/>
              </a:ext>
            </a:extLst>
          </p:cNvPr>
          <p:cNvSpPr txBox="1"/>
          <p:nvPr/>
        </p:nvSpPr>
        <p:spPr>
          <a:xfrm>
            <a:off x="444538" y="2561247"/>
            <a:ext cx="631904" cy="369332"/>
          </a:xfrm>
          <a:prstGeom prst="rect">
            <a:avLst/>
          </a:prstGeom>
          <a:noFill/>
        </p:spPr>
        <p:txBody>
          <a:bodyPr wrap="none" rtlCol="0">
            <a:spAutoFit/>
          </a:bodyPr>
          <a:lstStyle/>
          <a:p>
            <a:r>
              <a:rPr lang="en-US"/>
              <a:t>Role</a:t>
            </a:r>
            <a:endParaRPr lang="en-CA"/>
          </a:p>
        </p:txBody>
      </p:sp>
      <p:sp>
        <p:nvSpPr>
          <p:cNvPr id="9" name="Rectangle: Rounded Corners 8">
            <a:extLst>
              <a:ext uri="{FF2B5EF4-FFF2-40B4-BE49-F238E27FC236}">
                <a16:creationId xmlns:a16="http://schemas.microsoft.com/office/drawing/2014/main" id="{DE0DD2FB-15E8-8E9E-A192-065EBB1BE83E}"/>
              </a:ext>
            </a:extLst>
          </p:cNvPr>
          <p:cNvSpPr/>
          <p:nvPr/>
        </p:nvSpPr>
        <p:spPr>
          <a:xfrm>
            <a:off x="5720351" y="1766480"/>
            <a:ext cx="1874040" cy="452582"/>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Lookup Person</a:t>
            </a:r>
            <a:endParaRPr lang="en-CA"/>
          </a:p>
        </p:txBody>
      </p:sp>
      <p:pic>
        <p:nvPicPr>
          <p:cNvPr id="22" name="Graphic 21" descr="User with solid fill">
            <a:extLst>
              <a:ext uri="{FF2B5EF4-FFF2-40B4-BE49-F238E27FC236}">
                <a16:creationId xmlns:a16="http://schemas.microsoft.com/office/drawing/2014/main" id="{5FED5613-E013-0D08-7461-5C4FD143311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470562" y="887748"/>
            <a:ext cx="517187" cy="517187"/>
          </a:xfrm>
          <a:prstGeom prst="rect">
            <a:avLst/>
          </a:prstGeom>
        </p:spPr>
      </p:pic>
    </p:spTree>
    <p:extLst>
      <p:ext uri="{BB962C8B-B14F-4D97-AF65-F5344CB8AC3E}">
        <p14:creationId xmlns:p14="http://schemas.microsoft.com/office/powerpoint/2010/main" val="8029856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20E9E-9D1F-2BAB-D3A1-42BCC1B7BB9F}"/>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69A3E6F2-8BB7-47CA-4D82-AF05864C9E1D}"/>
              </a:ext>
            </a:extLst>
          </p:cNvPr>
          <p:cNvSpPr>
            <a:spLocks noGrp="1"/>
          </p:cNvSpPr>
          <p:nvPr>
            <p:ph type="body" sz="quarter" idx="13"/>
          </p:nvPr>
        </p:nvSpPr>
        <p:spPr>
          <a:xfrm>
            <a:off x="253092" y="138791"/>
            <a:ext cx="2758331" cy="383721"/>
          </a:xfrm>
        </p:spPr>
        <p:txBody>
          <a:bodyPr vert="horz" lIns="91440" tIns="45720" rIns="91440" bIns="45720" rtlCol="0" anchor="t">
            <a:normAutofit fontScale="77500" lnSpcReduction="20000"/>
          </a:bodyPr>
          <a:lstStyle/>
          <a:p>
            <a:r>
              <a:rPr lang="en-US"/>
              <a:t>Communicable Disease Solution</a:t>
            </a:r>
          </a:p>
        </p:txBody>
      </p:sp>
      <p:sp>
        <p:nvSpPr>
          <p:cNvPr id="5" name="Slide Number Placeholder 4">
            <a:extLst>
              <a:ext uri="{FF2B5EF4-FFF2-40B4-BE49-F238E27FC236}">
                <a16:creationId xmlns:a16="http://schemas.microsoft.com/office/drawing/2014/main" id="{E1AB1494-778B-66AF-88AC-0C83BD9B951F}"/>
              </a:ext>
            </a:extLst>
          </p:cNvPr>
          <p:cNvSpPr>
            <a:spLocks noGrp="1"/>
          </p:cNvSpPr>
          <p:nvPr>
            <p:ph type="sldNum" sz="quarter" idx="4"/>
          </p:nvPr>
        </p:nvSpPr>
        <p:spPr/>
        <p:txBody>
          <a:bodyPr/>
          <a:lstStyle/>
          <a:p>
            <a:fld id="{2639BB91-5DDD-4FF0-AA8B-B54FEC5F3DC9}" type="slidenum">
              <a:rPr lang="en-US" smtClean="0"/>
              <a:t>7</a:t>
            </a:fld>
            <a:endParaRPr lang="en-US"/>
          </a:p>
        </p:txBody>
      </p:sp>
      <p:sp>
        <p:nvSpPr>
          <p:cNvPr id="2" name="Title 1">
            <a:extLst>
              <a:ext uri="{FF2B5EF4-FFF2-40B4-BE49-F238E27FC236}">
                <a16:creationId xmlns:a16="http://schemas.microsoft.com/office/drawing/2014/main" id="{46E8C91A-5091-CFF8-8D08-E855EB9B245D}"/>
              </a:ext>
            </a:extLst>
          </p:cNvPr>
          <p:cNvSpPr>
            <a:spLocks noGrp="1"/>
          </p:cNvSpPr>
          <p:nvPr>
            <p:ph type="title"/>
          </p:nvPr>
        </p:nvSpPr>
        <p:spPr>
          <a:xfrm>
            <a:off x="3267456" y="14531"/>
            <a:ext cx="5553710" cy="631646"/>
          </a:xfrm>
        </p:spPr>
        <p:txBody>
          <a:bodyPr>
            <a:noAutofit/>
          </a:bodyPr>
          <a:lstStyle/>
          <a:p>
            <a:r>
              <a:rPr lang="en-US" sz="3600"/>
              <a:t>AOMS Location Maintenance</a:t>
            </a:r>
          </a:p>
        </p:txBody>
      </p:sp>
      <p:sp>
        <p:nvSpPr>
          <p:cNvPr id="3" name="Rounded Rectangle 2">
            <a:extLst>
              <a:ext uri="{FF2B5EF4-FFF2-40B4-BE49-F238E27FC236}">
                <a16:creationId xmlns:a16="http://schemas.microsoft.com/office/drawing/2014/main" id="{B4D3ACDB-16A5-D136-E311-34BB3D8479F1}"/>
              </a:ext>
            </a:extLst>
          </p:cNvPr>
          <p:cNvSpPr/>
          <p:nvPr/>
        </p:nvSpPr>
        <p:spPr>
          <a:xfrm>
            <a:off x="181753" y="953164"/>
            <a:ext cx="8754894" cy="5829193"/>
          </a:xfrm>
          <a:prstGeom prst="roundRect">
            <a:avLst>
              <a:gd name="adj" fmla="val 2501"/>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ctr"/>
            <a:r>
              <a:rPr lang="en-US" b="1">
                <a:solidFill>
                  <a:schemeClr val="tx1"/>
                </a:solidFill>
              </a:rPr>
              <a:t>Alberta Outbreak Management System (AOMS)</a:t>
            </a:r>
          </a:p>
        </p:txBody>
      </p:sp>
      <p:sp>
        <p:nvSpPr>
          <p:cNvPr id="13" name="Rounded Rectangle 12">
            <a:extLst>
              <a:ext uri="{FF2B5EF4-FFF2-40B4-BE49-F238E27FC236}">
                <a16:creationId xmlns:a16="http://schemas.microsoft.com/office/drawing/2014/main" id="{ABADBB7B-86EE-90B1-2182-93740A8464E1}"/>
              </a:ext>
            </a:extLst>
          </p:cNvPr>
          <p:cNvSpPr/>
          <p:nvPr/>
        </p:nvSpPr>
        <p:spPr>
          <a:xfrm>
            <a:off x="298485" y="1355266"/>
            <a:ext cx="8516366" cy="5176768"/>
          </a:xfrm>
          <a:prstGeom prst="roundRect">
            <a:avLst>
              <a:gd name="adj" fmla="val 2501"/>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ctr"/>
            <a:r>
              <a:rPr lang="en-US">
                <a:solidFill>
                  <a:schemeClr val="tx1"/>
                </a:solidFill>
              </a:rPr>
              <a:t>Facility Dictionary Maintenance</a:t>
            </a:r>
          </a:p>
        </p:txBody>
      </p:sp>
      <p:sp>
        <p:nvSpPr>
          <p:cNvPr id="6" name="Rectangle: Rounded Corners 5">
            <a:extLst>
              <a:ext uri="{FF2B5EF4-FFF2-40B4-BE49-F238E27FC236}">
                <a16:creationId xmlns:a16="http://schemas.microsoft.com/office/drawing/2014/main" id="{B9B4556E-75CC-6EA4-8C95-59A81323FF4F}"/>
              </a:ext>
            </a:extLst>
          </p:cNvPr>
          <p:cNvSpPr/>
          <p:nvPr/>
        </p:nvSpPr>
        <p:spPr>
          <a:xfrm>
            <a:off x="7306756" y="5975165"/>
            <a:ext cx="1422400" cy="452582"/>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Save</a:t>
            </a:r>
            <a:endParaRPr lang="en-CA"/>
          </a:p>
        </p:txBody>
      </p:sp>
      <p:sp>
        <p:nvSpPr>
          <p:cNvPr id="14" name="TextBox 13">
            <a:extLst>
              <a:ext uri="{FF2B5EF4-FFF2-40B4-BE49-F238E27FC236}">
                <a16:creationId xmlns:a16="http://schemas.microsoft.com/office/drawing/2014/main" id="{5C91786E-7739-A7E5-EDDC-035DF53438F3}"/>
              </a:ext>
            </a:extLst>
          </p:cNvPr>
          <p:cNvSpPr txBox="1"/>
          <p:nvPr/>
        </p:nvSpPr>
        <p:spPr>
          <a:xfrm>
            <a:off x="446954" y="2245518"/>
            <a:ext cx="1549207" cy="369332"/>
          </a:xfrm>
          <a:prstGeom prst="rect">
            <a:avLst/>
          </a:prstGeom>
          <a:noFill/>
        </p:spPr>
        <p:txBody>
          <a:bodyPr wrap="none" rtlCol="0">
            <a:spAutoFit/>
          </a:bodyPr>
          <a:lstStyle/>
          <a:p>
            <a:r>
              <a:rPr lang="en-US"/>
              <a:t>Facility Name</a:t>
            </a:r>
            <a:endParaRPr lang="en-CA"/>
          </a:p>
        </p:txBody>
      </p:sp>
      <p:sp>
        <p:nvSpPr>
          <p:cNvPr id="15" name="Rectangle 14">
            <a:extLst>
              <a:ext uri="{FF2B5EF4-FFF2-40B4-BE49-F238E27FC236}">
                <a16:creationId xmlns:a16="http://schemas.microsoft.com/office/drawing/2014/main" id="{0B594EE2-567B-7C0A-C320-655A6346E32F}"/>
              </a:ext>
            </a:extLst>
          </p:cNvPr>
          <p:cNvSpPr/>
          <p:nvPr/>
        </p:nvSpPr>
        <p:spPr>
          <a:xfrm>
            <a:off x="2493440" y="2274251"/>
            <a:ext cx="2216196"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 name="Rectangle 16">
            <a:extLst>
              <a:ext uri="{FF2B5EF4-FFF2-40B4-BE49-F238E27FC236}">
                <a16:creationId xmlns:a16="http://schemas.microsoft.com/office/drawing/2014/main" id="{B8E288B8-FB45-EB25-0B68-E4751E115FBE}"/>
              </a:ext>
            </a:extLst>
          </p:cNvPr>
          <p:cNvSpPr/>
          <p:nvPr/>
        </p:nvSpPr>
        <p:spPr>
          <a:xfrm>
            <a:off x="2502927" y="3050780"/>
            <a:ext cx="1881033"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 name="TextBox 17">
            <a:extLst>
              <a:ext uri="{FF2B5EF4-FFF2-40B4-BE49-F238E27FC236}">
                <a16:creationId xmlns:a16="http://schemas.microsoft.com/office/drawing/2014/main" id="{8EB5766C-6BC0-F4E9-357A-A2CAB226143E}"/>
              </a:ext>
            </a:extLst>
          </p:cNvPr>
          <p:cNvSpPr txBox="1"/>
          <p:nvPr/>
        </p:nvSpPr>
        <p:spPr>
          <a:xfrm>
            <a:off x="446954" y="3018452"/>
            <a:ext cx="1000659" cy="369332"/>
          </a:xfrm>
          <a:prstGeom prst="rect">
            <a:avLst/>
          </a:prstGeom>
          <a:noFill/>
        </p:spPr>
        <p:txBody>
          <a:bodyPr wrap="none" rtlCol="0">
            <a:spAutoFit/>
          </a:bodyPr>
          <a:lstStyle/>
          <a:p>
            <a:r>
              <a:rPr lang="en-US"/>
              <a:t>Address</a:t>
            </a:r>
            <a:endParaRPr lang="en-CA"/>
          </a:p>
        </p:txBody>
      </p:sp>
      <p:sp>
        <p:nvSpPr>
          <p:cNvPr id="19" name="Rectangle 18">
            <a:extLst>
              <a:ext uri="{FF2B5EF4-FFF2-40B4-BE49-F238E27FC236}">
                <a16:creationId xmlns:a16="http://schemas.microsoft.com/office/drawing/2014/main" id="{1D81C51D-423F-3F1B-AC89-9AC04B2F483A}"/>
              </a:ext>
            </a:extLst>
          </p:cNvPr>
          <p:cNvSpPr/>
          <p:nvPr/>
        </p:nvSpPr>
        <p:spPr>
          <a:xfrm>
            <a:off x="2499263" y="3472599"/>
            <a:ext cx="1881033"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r"/>
            <a:r>
              <a:rPr lang="en-CA">
                <a:solidFill>
                  <a:schemeClr val="tx1"/>
                </a:solidFill>
                <a:latin typeface="Arial"/>
                <a:cs typeface="Arial"/>
              </a:rPr>
              <a:t>▼</a:t>
            </a:r>
            <a:endParaRPr lang="en-US"/>
          </a:p>
        </p:txBody>
      </p:sp>
      <p:sp>
        <p:nvSpPr>
          <p:cNvPr id="20" name="TextBox 19">
            <a:extLst>
              <a:ext uri="{FF2B5EF4-FFF2-40B4-BE49-F238E27FC236}">
                <a16:creationId xmlns:a16="http://schemas.microsoft.com/office/drawing/2014/main" id="{C0AEB3AD-0E8D-4FE7-229A-E869949171BD}"/>
              </a:ext>
            </a:extLst>
          </p:cNvPr>
          <p:cNvSpPr txBox="1"/>
          <p:nvPr/>
        </p:nvSpPr>
        <p:spPr>
          <a:xfrm>
            <a:off x="437691" y="3440271"/>
            <a:ext cx="1399742" cy="369332"/>
          </a:xfrm>
          <a:prstGeom prst="rect">
            <a:avLst/>
          </a:prstGeom>
          <a:noFill/>
        </p:spPr>
        <p:txBody>
          <a:bodyPr wrap="none" lIns="91440" tIns="45720" rIns="91440" bIns="45720" rtlCol="0" anchor="t">
            <a:spAutoFit/>
          </a:bodyPr>
          <a:lstStyle/>
          <a:p>
            <a:r>
              <a:rPr lang="en-US" dirty="0"/>
              <a:t>Munic</a:t>
            </a:r>
            <a:r>
              <a:rPr lang="en-US"/>
              <a:t>ipality</a:t>
            </a:r>
          </a:p>
        </p:txBody>
      </p:sp>
      <p:sp>
        <p:nvSpPr>
          <p:cNvPr id="23" name="Rectangle 22">
            <a:extLst>
              <a:ext uri="{FF2B5EF4-FFF2-40B4-BE49-F238E27FC236}">
                <a16:creationId xmlns:a16="http://schemas.microsoft.com/office/drawing/2014/main" id="{D94F2C8E-AAB3-05F2-FA0A-E470529913E7}"/>
              </a:ext>
            </a:extLst>
          </p:cNvPr>
          <p:cNvSpPr/>
          <p:nvPr/>
        </p:nvSpPr>
        <p:spPr>
          <a:xfrm>
            <a:off x="2499263" y="2647114"/>
            <a:ext cx="1881033"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r"/>
            <a:r>
              <a:rPr lang="en-CA">
                <a:solidFill>
                  <a:schemeClr val="tx1"/>
                </a:solidFill>
                <a:latin typeface="Arial"/>
                <a:cs typeface="Arial"/>
              </a:rPr>
              <a:t>▼</a:t>
            </a:r>
            <a:endParaRPr lang="en-US"/>
          </a:p>
        </p:txBody>
      </p:sp>
      <p:sp>
        <p:nvSpPr>
          <p:cNvPr id="24" name="TextBox 23">
            <a:extLst>
              <a:ext uri="{FF2B5EF4-FFF2-40B4-BE49-F238E27FC236}">
                <a16:creationId xmlns:a16="http://schemas.microsoft.com/office/drawing/2014/main" id="{462CFBC3-39A5-5319-EA31-92A275C07319}"/>
              </a:ext>
            </a:extLst>
          </p:cNvPr>
          <p:cNvSpPr txBox="1"/>
          <p:nvPr/>
        </p:nvSpPr>
        <p:spPr>
          <a:xfrm>
            <a:off x="443290" y="2614786"/>
            <a:ext cx="1445332" cy="369332"/>
          </a:xfrm>
          <a:prstGeom prst="rect">
            <a:avLst/>
          </a:prstGeom>
          <a:noFill/>
        </p:spPr>
        <p:txBody>
          <a:bodyPr wrap="none" rtlCol="0">
            <a:spAutoFit/>
          </a:bodyPr>
          <a:lstStyle/>
          <a:p>
            <a:r>
              <a:rPr lang="en-US"/>
              <a:t>Organization</a:t>
            </a:r>
            <a:endParaRPr lang="en-CA"/>
          </a:p>
        </p:txBody>
      </p:sp>
      <p:graphicFrame>
        <p:nvGraphicFramePr>
          <p:cNvPr id="26" name="Table 25">
            <a:extLst>
              <a:ext uri="{FF2B5EF4-FFF2-40B4-BE49-F238E27FC236}">
                <a16:creationId xmlns:a16="http://schemas.microsoft.com/office/drawing/2014/main" id="{EBA50446-F87B-0055-37F8-2EAC34EA033D}"/>
              </a:ext>
            </a:extLst>
          </p:cNvPr>
          <p:cNvGraphicFramePr>
            <a:graphicFrameLocks noGrp="1"/>
          </p:cNvGraphicFramePr>
          <p:nvPr>
            <p:extLst>
              <p:ext uri="{D42A27DB-BD31-4B8C-83A1-F6EECF244321}">
                <p14:modId xmlns:p14="http://schemas.microsoft.com/office/powerpoint/2010/main" val="3792608768"/>
              </p:ext>
            </p:extLst>
          </p:nvPr>
        </p:nvGraphicFramePr>
        <p:xfrm>
          <a:off x="526288" y="5186988"/>
          <a:ext cx="3959564" cy="741680"/>
        </p:xfrm>
        <a:graphic>
          <a:graphicData uri="http://schemas.openxmlformats.org/drawingml/2006/table">
            <a:tbl>
              <a:tblPr firstRow="1" bandRow="1">
                <a:tableStyleId>{073A0DAA-6AF3-43AB-8588-CEC1D06C72B9}</a:tableStyleId>
              </a:tblPr>
              <a:tblGrid>
                <a:gridCol w="2182644">
                  <a:extLst>
                    <a:ext uri="{9D8B030D-6E8A-4147-A177-3AD203B41FA5}">
                      <a16:colId xmlns:a16="http://schemas.microsoft.com/office/drawing/2014/main" val="969295401"/>
                    </a:ext>
                  </a:extLst>
                </a:gridCol>
                <a:gridCol w="865356">
                  <a:extLst>
                    <a:ext uri="{9D8B030D-6E8A-4147-A177-3AD203B41FA5}">
                      <a16:colId xmlns:a16="http://schemas.microsoft.com/office/drawing/2014/main" val="369722235"/>
                    </a:ext>
                  </a:extLst>
                </a:gridCol>
                <a:gridCol w="911564">
                  <a:extLst>
                    <a:ext uri="{9D8B030D-6E8A-4147-A177-3AD203B41FA5}">
                      <a16:colId xmlns:a16="http://schemas.microsoft.com/office/drawing/2014/main" val="126097659"/>
                    </a:ext>
                  </a:extLst>
                </a:gridCol>
              </a:tblGrid>
              <a:tr h="370840">
                <a:tc>
                  <a:txBody>
                    <a:bodyPr/>
                    <a:lstStyle/>
                    <a:p>
                      <a:r>
                        <a:rPr lang="en-US"/>
                        <a:t>Department/Grade</a:t>
                      </a:r>
                      <a:endParaRPr lang="en-CA"/>
                    </a:p>
                  </a:txBody>
                  <a:tcPr/>
                </a:tc>
                <a:tc>
                  <a:txBody>
                    <a:bodyPr/>
                    <a:lstStyle/>
                    <a:p>
                      <a:r>
                        <a:rPr lang="en-US"/>
                        <a:t>Floor</a:t>
                      </a:r>
                      <a:endParaRPr lang="en-CA"/>
                    </a:p>
                  </a:txBody>
                  <a:tcPr/>
                </a:tc>
                <a:tc>
                  <a:txBody>
                    <a:bodyPr/>
                    <a:lstStyle/>
                    <a:p>
                      <a:r>
                        <a:rPr lang="en-US"/>
                        <a:t>Room</a:t>
                      </a:r>
                      <a:endParaRPr lang="en-CA"/>
                    </a:p>
                  </a:txBody>
                  <a:tcPr/>
                </a:tc>
                <a:extLst>
                  <a:ext uri="{0D108BD9-81ED-4DB2-BD59-A6C34878D82A}">
                    <a16:rowId xmlns:a16="http://schemas.microsoft.com/office/drawing/2014/main" val="2540071772"/>
                  </a:ext>
                </a:extLst>
              </a:tr>
              <a:tr h="370840">
                <a:tc>
                  <a:txBody>
                    <a:bodyPr/>
                    <a:lstStyle/>
                    <a:p>
                      <a:endParaRPr lang="en-CA"/>
                    </a:p>
                  </a:txBody>
                  <a:tcPr/>
                </a:tc>
                <a:tc>
                  <a:txBody>
                    <a:bodyPr/>
                    <a:lstStyle/>
                    <a:p>
                      <a:endParaRPr lang="en-CA"/>
                    </a:p>
                  </a:txBody>
                  <a:tcPr/>
                </a:tc>
                <a:tc>
                  <a:txBody>
                    <a:bodyPr/>
                    <a:lstStyle/>
                    <a:p>
                      <a:endParaRPr lang="en-CA"/>
                    </a:p>
                  </a:txBody>
                  <a:tcPr/>
                </a:tc>
                <a:extLst>
                  <a:ext uri="{0D108BD9-81ED-4DB2-BD59-A6C34878D82A}">
                    <a16:rowId xmlns:a16="http://schemas.microsoft.com/office/drawing/2014/main" val="981131414"/>
                  </a:ext>
                </a:extLst>
              </a:tr>
            </a:tbl>
          </a:graphicData>
        </a:graphic>
      </p:graphicFrame>
      <p:sp>
        <p:nvSpPr>
          <p:cNvPr id="27" name="TextBox 26">
            <a:extLst>
              <a:ext uri="{FF2B5EF4-FFF2-40B4-BE49-F238E27FC236}">
                <a16:creationId xmlns:a16="http://schemas.microsoft.com/office/drawing/2014/main" id="{1198472B-1D35-C115-0C13-6D92AC62BDBD}"/>
              </a:ext>
            </a:extLst>
          </p:cNvPr>
          <p:cNvSpPr txBox="1"/>
          <p:nvPr/>
        </p:nvSpPr>
        <p:spPr>
          <a:xfrm>
            <a:off x="434324" y="4744757"/>
            <a:ext cx="2508123" cy="369332"/>
          </a:xfrm>
          <a:prstGeom prst="rect">
            <a:avLst/>
          </a:prstGeom>
          <a:noFill/>
        </p:spPr>
        <p:txBody>
          <a:bodyPr wrap="none" lIns="91440" tIns="45720" rIns="91440" bIns="45720" rtlCol="0" anchor="t">
            <a:spAutoFit/>
          </a:bodyPr>
          <a:lstStyle/>
          <a:p>
            <a:r>
              <a:rPr lang="en-US"/>
              <a:t>Location 'Departments'</a:t>
            </a:r>
            <a:endParaRPr lang="en-CA"/>
          </a:p>
        </p:txBody>
      </p:sp>
      <p:grpSp>
        <p:nvGrpSpPr>
          <p:cNvPr id="16" name="Group 15">
            <a:extLst>
              <a:ext uri="{FF2B5EF4-FFF2-40B4-BE49-F238E27FC236}">
                <a16:creationId xmlns:a16="http://schemas.microsoft.com/office/drawing/2014/main" id="{3F8B856D-9217-7391-0FE7-C95C9FAF9688}"/>
              </a:ext>
            </a:extLst>
          </p:cNvPr>
          <p:cNvGrpSpPr/>
          <p:nvPr/>
        </p:nvGrpSpPr>
        <p:grpSpPr>
          <a:xfrm>
            <a:off x="446954" y="1744881"/>
            <a:ext cx="4535593" cy="753640"/>
            <a:chOff x="487183" y="2210364"/>
            <a:chExt cx="4535593" cy="753640"/>
          </a:xfrm>
        </p:grpSpPr>
        <p:sp>
          <p:nvSpPr>
            <p:cNvPr id="10" name="TextBox 9">
              <a:extLst>
                <a:ext uri="{FF2B5EF4-FFF2-40B4-BE49-F238E27FC236}">
                  <a16:creationId xmlns:a16="http://schemas.microsoft.com/office/drawing/2014/main" id="{E25F5CF6-8444-864C-99D5-6832DE5CA1FF}"/>
                </a:ext>
              </a:extLst>
            </p:cNvPr>
            <p:cNvSpPr txBox="1"/>
            <p:nvPr/>
          </p:nvSpPr>
          <p:spPr>
            <a:xfrm>
              <a:off x="487183" y="2350183"/>
              <a:ext cx="1385187" cy="369332"/>
            </a:xfrm>
            <a:prstGeom prst="rect">
              <a:avLst/>
            </a:prstGeom>
            <a:noFill/>
          </p:spPr>
          <p:txBody>
            <a:bodyPr wrap="none" lIns="91440" tIns="45720" rIns="91440" bIns="45720" rtlCol="0" anchor="t">
              <a:spAutoFit/>
            </a:bodyPr>
            <a:lstStyle/>
            <a:p>
              <a:r>
                <a:rPr lang="en-US"/>
                <a:t>Setting Type</a:t>
              </a:r>
              <a:endParaRPr lang="en-CA"/>
            </a:p>
          </p:txBody>
        </p:sp>
        <p:sp>
          <p:nvSpPr>
            <p:cNvPr id="11" name="Rectangle 10">
              <a:extLst>
                <a:ext uri="{FF2B5EF4-FFF2-40B4-BE49-F238E27FC236}">
                  <a16:creationId xmlns:a16="http://schemas.microsoft.com/office/drawing/2014/main" id="{E8D567CB-C06C-5B5E-9706-7DA5FF868A1C}"/>
                </a:ext>
              </a:extLst>
            </p:cNvPr>
            <p:cNvSpPr/>
            <p:nvPr/>
          </p:nvSpPr>
          <p:spPr>
            <a:xfrm>
              <a:off x="2521655" y="2379207"/>
              <a:ext cx="2216196"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CA">
                  <a:solidFill>
                    <a:schemeClr val="tx1"/>
                  </a:solidFill>
                  <a:latin typeface="Arial" panose="020B0604020202020204" pitchFamily="34" charset="0"/>
                  <a:cs typeface="Arial" panose="020B0604020202020204" pitchFamily="34" charset="0"/>
                </a:rPr>
                <a:t>▼</a:t>
              </a:r>
              <a:endParaRPr lang="en-CA">
                <a:solidFill>
                  <a:schemeClr val="tx1"/>
                </a:solidFill>
              </a:endParaRPr>
            </a:p>
          </p:txBody>
        </p:sp>
        <p:sp>
          <p:nvSpPr>
            <p:cNvPr id="12" name="TextBox 11">
              <a:extLst>
                <a:ext uri="{FF2B5EF4-FFF2-40B4-BE49-F238E27FC236}">
                  <a16:creationId xmlns:a16="http://schemas.microsoft.com/office/drawing/2014/main" id="{F6753435-173B-F9C5-7698-DB1C112D0D92}"/>
                </a:ext>
              </a:extLst>
            </p:cNvPr>
            <p:cNvSpPr txBox="1"/>
            <p:nvPr/>
          </p:nvSpPr>
          <p:spPr>
            <a:xfrm>
              <a:off x="4654813" y="2210364"/>
              <a:ext cx="290464" cy="369332"/>
            </a:xfrm>
            <a:prstGeom prst="rect">
              <a:avLst/>
            </a:prstGeom>
            <a:noFill/>
          </p:spPr>
          <p:txBody>
            <a:bodyPr wrap="square" rtlCol="0">
              <a:spAutoFit/>
            </a:bodyPr>
            <a:lstStyle/>
            <a:p>
              <a:r>
                <a:rPr lang="en-US">
                  <a:solidFill>
                    <a:schemeClr val="accent6"/>
                  </a:solidFill>
                </a:rPr>
                <a:t>*</a:t>
              </a:r>
              <a:endParaRPr lang="en-CA">
                <a:solidFill>
                  <a:schemeClr val="accent6"/>
                </a:solidFill>
              </a:endParaRPr>
            </a:p>
          </p:txBody>
        </p:sp>
        <p:sp>
          <p:nvSpPr>
            <p:cNvPr id="28" name="TextBox 27">
              <a:extLst>
                <a:ext uri="{FF2B5EF4-FFF2-40B4-BE49-F238E27FC236}">
                  <a16:creationId xmlns:a16="http://schemas.microsoft.com/office/drawing/2014/main" id="{1B45830C-6857-1A7B-5FD4-E3E06383848A}"/>
                </a:ext>
              </a:extLst>
            </p:cNvPr>
            <p:cNvSpPr txBox="1"/>
            <p:nvPr/>
          </p:nvSpPr>
          <p:spPr>
            <a:xfrm>
              <a:off x="4732312" y="2594672"/>
              <a:ext cx="290464" cy="369332"/>
            </a:xfrm>
            <a:prstGeom prst="rect">
              <a:avLst/>
            </a:prstGeom>
            <a:noFill/>
          </p:spPr>
          <p:txBody>
            <a:bodyPr wrap="square" rtlCol="0">
              <a:spAutoFit/>
            </a:bodyPr>
            <a:lstStyle/>
            <a:p>
              <a:r>
                <a:rPr lang="en-US">
                  <a:solidFill>
                    <a:schemeClr val="accent6"/>
                  </a:solidFill>
                </a:rPr>
                <a:t>*</a:t>
              </a:r>
              <a:endParaRPr lang="en-CA">
                <a:solidFill>
                  <a:schemeClr val="accent6"/>
                </a:solidFill>
              </a:endParaRPr>
            </a:p>
          </p:txBody>
        </p:sp>
      </p:grpSp>
      <p:sp>
        <p:nvSpPr>
          <p:cNvPr id="21" name="TextBox 20">
            <a:extLst>
              <a:ext uri="{FF2B5EF4-FFF2-40B4-BE49-F238E27FC236}">
                <a16:creationId xmlns:a16="http://schemas.microsoft.com/office/drawing/2014/main" id="{284525E2-A86D-7771-746C-779DBE697BEB}"/>
              </a:ext>
            </a:extLst>
          </p:cNvPr>
          <p:cNvSpPr txBox="1"/>
          <p:nvPr/>
        </p:nvSpPr>
        <p:spPr>
          <a:xfrm>
            <a:off x="4680923" y="2226947"/>
            <a:ext cx="308098" cy="369332"/>
          </a:xfrm>
          <a:prstGeom prst="rect">
            <a:avLst/>
          </a:prstGeom>
          <a:noFill/>
        </p:spPr>
        <p:txBody>
          <a:bodyPr wrap="none" rtlCol="0">
            <a:spAutoFit/>
          </a:bodyPr>
          <a:lstStyle/>
          <a:p>
            <a:r>
              <a:rPr lang="en-US"/>
              <a:t>+</a:t>
            </a:r>
            <a:endParaRPr lang="en-CA"/>
          </a:p>
        </p:txBody>
      </p:sp>
      <p:sp>
        <p:nvSpPr>
          <p:cNvPr id="22" name="TextBox 21">
            <a:extLst>
              <a:ext uri="{FF2B5EF4-FFF2-40B4-BE49-F238E27FC236}">
                <a16:creationId xmlns:a16="http://schemas.microsoft.com/office/drawing/2014/main" id="{1E1A3834-1750-C488-6D84-55D2BEB75245}"/>
              </a:ext>
            </a:extLst>
          </p:cNvPr>
          <p:cNvSpPr txBox="1"/>
          <p:nvPr/>
        </p:nvSpPr>
        <p:spPr>
          <a:xfrm>
            <a:off x="4330067" y="2616278"/>
            <a:ext cx="308098" cy="369332"/>
          </a:xfrm>
          <a:prstGeom prst="rect">
            <a:avLst/>
          </a:prstGeom>
          <a:noFill/>
        </p:spPr>
        <p:txBody>
          <a:bodyPr wrap="square" rtlCol="0">
            <a:spAutoFit/>
          </a:bodyPr>
          <a:lstStyle/>
          <a:p>
            <a:r>
              <a:rPr lang="en-US"/>
              <a:t>+</a:t>
            </a:r>
            <a:endParaRPr lang="en-CA"/>
          </a:p>
        </p:txBody>
      </p:sp>
      <p:sp>
        <p:nvSpPr>
          <p:cNvPr id="29" name="TextBox 28">
            <a:extLst>
              <a:ext uri="{FF2B5EF4-FFF2-40B4-BE49-F238E27FC236}">
                <a16:creationId xmlns:a16="http://schemas.microsoft.com/office/drawing/2014/main" id="{3DC296B3-E60A-53AC-6FFB-9A839FC8E13E}"/>
              </a:ext>
            </a:extLst>
          </p:cNvPr>
          <p:cNvSpPr txBox="1"/>
          <p:nvPr/>
        </p:nvSpPr>
        <p:spPr>
          <a:xfrm>
            <a:off x="5148671" y="2233327"/>
            <a:ext cx="1676753" cy="369332"/>
          </a:xfrm>
          <a:prstGeom prst="rect">
            <a:avLst/>
          </a:prstGeom>
          <a:noFill/>
        </p:spPr>
        <p:txBody>
          <a:bodyPr wrap="square" rtlCol="0">
            <a:spAutoFit/>
          </a:bodyPr>
          <a:lstStyle/>
          <a:p>
            <a:r>
              <a:rPr lang="en-US"/>
              <a:t>Facility Aliases</a:t>
            </a:r>
            <a:endParaRPr lang="en-CA"/>
          </a:p>
        </p:txBody>
      </p:sp>
      <p:sp>
        <p:nvSpPr>
          <p:cNvPr id="30" name="Rectangle 29">
            <a:extLst>
              <a:ext uri="{FF2B5EF4-FFF2-40B4-BE49-F238E27FC236}">
                <a16:creationId xmlns:a16="http://schemas.microsoft.com/office/drawing/2014/main" id="{F2B320F4-1098-5E57-E2B9-0FD86B6D9A6F}"/>
              </a:ext>
            </a:extLst>
          </p:cNvPr>
          <p:cNvSpPr/>
          <p:nvPr/>
        </p:nvSpPr>
        <p:spPr>
          <a:xfrm>
            <a:off x="6883790" y="2265655"/>
            <a:ext cx="1422400"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1" name="TextBox 30">
            <a:extLst>
              <a:ext uri="{FF2B5EF4-FFF2-40B4-BE49-F238E27FC236}">
                <a16:creationId xmlns:a16="http://schemas.microsoft.com/office/drawing/2014/main" id="{5A687F53-0716-12D1-F68F-4E830D7FC23F}"/>
              </a:ext>
            </a:extLst>
          </p:cNvPr>
          <p:cNvSpPr txBox="1"/>
          <p:nvPr/>
        </p:nvSpPr>
        <p:spPr>
          <a:xfrm>
            <a:off x="4330067" y="3044438"/>
            <a:ext cx="308098" cy="369332"/>
          </a:xfrm>
          <a:prstGeom prst="rect">
            <a:avLst/>
          </a:prstGeom>
          <a:noFill/>
        </p:spPr>
        <p:txBody>
          <a:bodyPr wrap="square" rtlCol="0">
            <a:spAutoFit/>
          </a:bodyPr>
          <a:lstStyle/>
          <a:p>
            <a:r>
              <a:rPr lang="en-US"/>
              <a:t>+</a:t>
            </a:r>
            <a:endParaRPr lang="en-CA"/>
          </a:p>
        </p:txBody>
      </p:sp>
      <p:pic>
        <p:nvPicPr>
          <p:cNvPr id="7" name="Graphic 6" descr="User with solid fill">
            <a:extLst>
              <a:ext uri="{FF2B5EF4-FFF2-40B4-BE49-F238E27FC236}">
                <a16:creationId xmlns:a16="http://schemas.microsoft.com/office/drawing/2014/main" id="{F360D6FA-3A36-F65B-AF30-EF0A2EC4DF3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470562" y="887748"/>
            <a:ext cx="517187" cy="517187"/>
          </a:xfrm>
          <a:prstGeom prst="rect">
            <a:avLst/>
          </a:prstGeom>
        </p:spPr>
      </p:pic>
      <p:sp>
        <p:nvSpPr>
          <p:cNvPr id="35" name="Rectangle 34">
            <a:extLst>
              <a:ext uri="{FF2B5EF4-FFF2-40B4-BE49-F238E27FC236}">
                <a16:creationId xmlns:a16="http://schemas.microsoft.com/office/drawing/2014/main" id="{7874A785-1EA4-69C2-A7E5-7BCE75F4062D}"/>
              </a:ext>
            </a:extLst>
          </p:cNvPr>
          <p:cNvSpPr/>
          <p:nvPr/>
        </p:nvSpPr>
        <p:spPr>
          <a:xfrm>
            <a:off x="2492948" y="3870439"/>
            <a:ext cx="1881033"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r"/>
            <a:r>
              <a:rPr lang="en-CA">
                <a:solidFill>
                  <a:schemeClr val="tx1"/>
                </a:solidFill>
                <a:latin typeface="Arial"/>
                <a:cs typeface="Arial"/>
              </a:rPr>
              <a:t>▼</a:t>
            </a:r>
            <a:endParaRPr lang="en-US"/>
          </a:p>
        </p:txBody>
      </p:sp>
      <p:sp>
        <p:nvSpPr>
          <p:cNvPr id="36" name="TextBox 35">
            <a:extLst>
              <a:ext uri="{FF2B5EF4-FFF2-40B4-BE49-F238E27FC236}">
                <a16:creationId xmlns:a16="http://schemas.microsoft.com/office/drawing/2014/main" id="{D0941194-D723-C4AA-B228-6062519A3264}"/>
              </a:ext>
            </a:extLst>
          </p:cNvPr>
          <p:cNvSpPr txBox="1"/>
          <p:nvPr/>
        </p:nvSpPr>
        <p:spPr>
          <a:xfrm>
            <a:off x="431376" y="3838111"/>
            <a:ext cx="1388842" cy="369332"/>
          </a:xfrm>
          <a:prstGeom prst="rect">
            <a:avLst/>
          </a:prstGeom>
          <a:noFill/>
        </p:spPr>
        <p:txBody>
          <a:bodyPr wrap="none" rtlCol="0">
            <a:spAutoFit/>
          </a:bodyPr>
          <a:lstStyle/>
          <a:p>
            <a:r>
              <a:rPr lang="en-US"/>
              <a:t>Postal Code</a:t>
            </a:r>
            <a:endParaRPr lang="en-CA"/>
          </a:p>
        </p:txBody>
      </p:sp>
      <p:sp>
        <p:nvSpPr>
          <p:cNvPr id="37" name="TextBox 36">
            <a:extLst>
              <a:ext uri="{FF2B5EF4-FFF2-40B4-BE49-F238E27FC236}">
                <a16:creationId xmlns:a16="http://schemas.microsoft.com/office/drawing/2014/main" id="{57366775-9DF0-3DF3-7319-E2B00DC3FB2E}"/>
              </a:ext>
            </a:extLst>
          </p:cNvPr>
          <p:cNvSpPr txBox="1"/>
          <p:nvPr/>
        </p:nvSpPr>
        <p:spPr>
          <a:xfrm>
            <a:off x="4487939" y="5551459"/>
            <a:ext cx="352303" cy="369332"/>
          </a:xfrm>
          <a:prstGeom prst="rect">
            <a:avLst/>
          </a:prstGeom>
          <a:noFill/>
        </p:spPr>
        <p:txBody>
          <a:bodyPr wrap="square" rtlCol="0">
            <a:spAutoFit/>
          </a:bodyPr>
          <a:lstStyle/>
          <a:p>
            <a:r>
              <a:rPr lang="en-US"/>
              <a:t>+</a:t>
            </a:r>
            <a:endParaRPr lang="en-CA"/>
          </a:p>
        </p:txBody>
      </p:sp>
      <p:sp>
        <p:nvSpPr>
          <p:cNvPr id="8" name="Rectangle 7">
            <a:extLst>
              <a:ext uri="{FF2B5EF4-FFF2-40B4-BE49-F238E27FC236}">
                <a16:creationId xmlns:a16="http://schemas.microsoft.com/office/drawing/2014/main" id="{C0A5AE83-8932-E142-24D8-9C93848A5976}"/>
              </a:ext>
            </a:extLst>
          </p:cNvPr>
          <p:cNvSpPr/>
          <p:nvPr/>
        </p:nvSpPr>
        <p:spPr>
          <a:xfrm>
            <a:off x="2518208" y="4261964"/>
            <a:ext cx="1881033" cy="304677"/>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r"/>
            <a:endParaRPr lang="en-CA" dirty="0">
              <a:solidFill>
                <a:schemeClr val="tx1"/>
              </a:solidFill>
              <a:latin typeface="Arial"/>
              <a:cs typeface="Arial"/>
            </a:endParaRPr>
          </a:p>
        </p:txBody>
      </p:sp>
      <p:sp>
        <p:nvSpPr>
          <p:cNvPr id="9" name="TextBox 8">
            <a:extLst>
              <a:ext uri="{FF2B5EF4-FFF2-40B4-BE49-F238E27FC236}">
                <a16:creationId xmlns:a16="http://schemas.microsoft.com/office/drawing/2014/main" id="{015FBDF6-EE06-401A-A5A3-9AE7427B27B1}"/>
              </a:ext>
            </a:extLst>
          </p:cNvPr>
          <p:cNvSpPr txBox="1"/>
          <p:nvPr/>
        </p:nvSpPr>
        <p:spPr>
          <a:xfrm>
            <a:off x="456636" y="4229636"/>
            <a:ext cx="1814856" cy="369332"/>
          </a:xfrm>
          <a:prstGeom prst="rect">
            <a:avLst/>
          </a:prstGeom>
          <a:noFill/>
        </p:spPr>
        <p:txBody>
          <a:bodyPr wrap="none" lIns="91440" tIns="45720" rIns="91440" bIns="45720" rtlCol="0" anchor="t">
            <a:spAutoFit/>
          </a:bodyPr>
          <a:lstStyle/>
          <a:p>
            <a:r>
              <a:rPr lang="en-US"/>
              <a:t>Zone/Corridor ​</a:t>
            </a:r>
          </a:p>
        </p:txBody>
      </p:sp>
    </p:spTree>
    <p:extLst>
      <p:ext uri="{BB962C8B-B14F-4D97-AF65-F5344CB8AC3E}">
        <p14:creationId xmlns:p14="http://schemas.microsoft.com/office/powerpoint/2010/main" val="27968305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4247B-DE83-F2B5-F05E-25B7D13F8E26}"/>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B314375B-BC93-FE3A-3E64-12AE76ACBFC3}"/>
              </a:ext>
            </a:extLst>
          </p:cNvPr>
          <p:cNvSpPr>
            <a:spLocks noGrp="1"/>
          </p:cNvSpPr>
          <p:nvPr>
            <p:ph type="body" sz="quarter" idx="13"/>
          </p:nvPr>
        </p:nvSpPr>
        <p:spPr>
          <a:xfrm>
            <a:off x="253092" y="138791"/>
            <a:ext cx="2758331" cy="383721"/>
          </a:xfrm>
        </p:spPr>
        <p:txBody>
          <a:bodyPr vert="horz" lIns="91440" tIns="45720" rIns="91440" bIns="45720" rtlCol="0" anchor="t">
            <a:normAutofit fontScale="77500" lnSpcReduction="20000"/>
          </a:bodyPr>
          <a:lstStyle/>
          <a:p>
            <a:r>
              <a:rPr lang="en-US"/>
              <a:t>Communicable Disease Solution</a:t>
            </a:r>
          </a:p>
        </p:txBody>
      </p:sp>
      <p:sp>
        <p:nvSpPr>
          <p:cNvPr id="5" name="Slide Number Placeholder 4">
            <a:extLst>
              <a:ext uri="{FF2B5EF4-FFF2-40B4-BE49-F238E27FC236}">
                <a16:creationId xmlns:a16="http://schemas.microsoft.com/office/drawing/2014/main" id="{F37FD076-5F5D-47BB-ACD7-CF2117497766}"/>
              </a:ext>
            </a:extLst>
          </p:cNvPr>
          <p:cNvSpPr>
            <a:spLocks noGrp="1"/>
          </p:cNvSpPr>
          <p:nvPr>
            <p:ph type="sldNum" sz="quarter" idx="4"/>
          </p:nvPr>
        </p:nvSpPr>
        <p:spPr/>
        <p:txBody>
          <a:bodyPr/>
          <a:lstStyle/>
          <a:p>
            <a:fld id="{2639BB91-5DDD-4FF0-AA8B-B54FEC5F3DC9}" type="slidenum">
              <a:rPr lang="en-US" smtClean="0"/>
              <a:t>8</a:t>
            </a:fld>
            <a:endParaRPr lang="en-US"/>
          </a:p>
        </p:txBody>
      </p:sp>
      <p:sp>
        <p:nvSpPr>
          <p:cNvPr id="2" name="Title 1">
            <a:extLst>
              <a:ext uri="{FF2B5EF4-FFF2-40B4-BE49-F238E27FC236}">
                <a16:creationId xmlns:a16="http://schemas.microsoft.com/office/drawing/2014/main" id="{090165CA-CBB1-5F81-189B-D4665370EB2B}"/>
              </a:ext>
            </a:extLst>
          </p:cNvPr>
          <p:cNvSpPr>
            <a:spLocks noGrp="1"/>
          </p:cNvSpPr>
          <p:nvPr>
            <p:ph type="title"/>
          </p:nvPr>
        </p:nvSpPr>
        <p:spPr>
          <a:xfrm>
            <a:off x="3267456" y="14531"/>
            <a:ext cx="5553710" cy="631646"/>
          </a:xfrm>
        </p:spPr>
        <p:txBody>
          <a:bodyPr>
            <a:noAutofit/>
          </a:bodyPr>
          <a:lstStyle/>
          <a:p>
            <a:r>
              <a:rPr lang="en-US" sz="3200"/>
              <a:t>AOMS Disease Maintenance</a:t>
            </a:r>
          </a:p>
        </p:txBody>
      </p:sp>
      <p:sp>
        <p:nvSpPr>
          <p:cNvPr id="3" name="Rounded Rectangle 2">
            <a:extLst>
              <a:ext uri="{FF2B5EF4-FFF2-40B4-BE49-F238E27FC236}">
                <a16:creationId xmlns:a16="http://schemas.microsoft.com/office/drawing/2014/main" id="{0CDE392A-9AE3-2D46-D9A2-8E2589ED9FB4}"/>
              </a:ext>
            </a:extLst>
          </p:cNvPr>
          <p:cNvSpPr/>
          <p:nvPr/>
        </p:nvSpPr>
        <p:spPr>
          <a:xfrm>
            <a:off x="469392" y="646177"/>
            <a:ext cx="8089392" cy="6073031"/>
          </a:xfrm>
          <a:prstGeom prst="roundRect">
            <a:avLst>
              <a:gd name="adj" fmla="val 2501"/>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ctr"/>
            <a:r>
              <a:rPr lang="en-US" b="1">
                <a:solidFill>
                  <a:schemeClr val="tx1"/>
                </a:solidFill>
              </a:rPr>
              <a:t>Alberta Outbreak Management System (AOMS)</a:t>
            </a:r>
          </a:p>
        </p:txBody>
      </p:sp>
      <p:sp>
        <p:nvSpPr>
          <p:cNvPr id="13" name="Rounded Rectangle 12">
            <a:extLst>
              <a:ext uri="{FF2B5EF4-FFF2-40B4-BE49-F238E27FC236}">
                <a16:creationId xmlns:a16="http://schemas.microsoft.com/office/drawing/2014/main" id="{85CDA93E-557D-5013-5BB4-649386FF2321}"/>
              </a:ext>
            </a:extLst>
          </p:cNvPr>
          <p:cNvSpPr/>
          <p:nvPr/>
        </p:nvSpPr>
        <p:spPr>
          <a:xfrm>
            <a:off x="603504" y="1154158"/>
            <a:ext cx="7821168" cy="5421740"/>
          </a:xfrm>
          <a:prstGeom prst="roundRect">
            <a:avLst>
              <a:gd name="adj" fmla="val 2501"/>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b="1">
                <a:solidFill>
                  <a:schemeClr val="tx1"/>
                </a:solidFill>
              </a:rPr>
              <a:t>Communicable Disease Maintenance</a:t>
            </a:r>
          </a:p>
        </p:txBody>
      </p:sp>
      <p:sp>
        <p:nvSpPr>
          <p:cNvPr id="6" name="Rectangle: Rounded Corners 5">
            <a:extLst>
              <a:ext uri="{FF2B5EF4-FFF2-40B4-BE49-F238E27FC236}">
                <a16:creationId xmlns:a16="http://schemas.microsoft.com/office/drawing/2014/main" id="{ADDF9FCB-BAF3-E2D6-63A5-65DDA3F850AA}"/>
              </a:ext>
            </a:extLst>
          </p:cNvPr>
          <p:cNvSpPr/>
          <p:nvPr/>
        </p:nvSpPr>
        <p:spPr>
          <a:xfrm>
            <a:off x="772803" y="1234350"/>
            <a:ext cx="1422400" cy="308507"/>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Save</a:t>
            </a:r>
            <a:endParaRPr lang="en-CA"/>
          </a:p>
        </p:txBody>
      </p:sp>
      <p:sp>
        <p:nvSpPr>
          <p:cNvPr id="14" name="TextBox 13">
            <a:extLst>
              <a:ext uri="{FF2B5EF4-FFF2-40B4-BE49-F238E27FC236}">
                <a16:creationId xmlns:a16="http://schemas.microsoft.com/office/drawing/2014/main" id="{9417DA54-64D5-8C09-5B44-3A850F639DE6}"/>
              </a:ext>
            </a:extLst>
          </p:cNvPr>
          <p:cNvSpPr txBox="1"/>
          <p:nvPr/>
        </p:nvSpPr>
        <p:spPr>
          <a:xfrm>
            <a:off x="727282" y="1540578"/>
            <a:ext cx="1641796" cy="369332"/>
          </a:xfrm>
          <a:prstGeom prst="rect">
            <a:avLst/>
          </a:prstGeom>
          <a:noFill/>
        </p:spPr>
        <p:txBody>
          <a:bodyPr wrap="none" rtlCol="0">
            <a:spAutoFit/>
          </a:bodyPr>
          <a:lstStyle/>
          <a:p>
            <a:r>
              <a:rPr lang="en-US"/>
              <a:t>Disease Name</a:t>
            </a:r>
            <a:endParaRPr lang="en-CA"/>
          </a:p>
        </p:txBody>
      </p:sp>
      <p:sp>
        <p:nvSpPr>
          <p:cNvPr id="15" name="Rectangle 14">
            <a:extLst>
              <a:ext uri="{FF2B5EF4-FFF2-40B4-BE49-F238E27FC236}">
                <a16:creationId xmlns:a16="http://schemas.microsoft.com/office/drawing/2014/main" id="{04F1F126-90C3-BB41-5BED-8B116C7C132F}"/>
              </a:ext>
            </a:extLst>
          </p:cNvPr>
          <p:cNvSpPr/>
          <p:nvPr/>
        </p:nvSpPr>
        <p:spPr>
          <a:xfrm>
            <a:off x="2759056" y="1559575"/>
            <a:ext cx="2216196"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 name="Rectangle 16">
            <a:extLst>
              <a:ext uri="{FF2B5EF4-FFF2-40B4-BE49-F238E27FC236}">
                <a16:creationId xmlns:a16="http://schemas.microsoft.com/office/drawing/2014/main" id="{5B0EF9A9-CA29-9663-A4C9-512D8CF4CA0C}"/>
              </a:ext>
            </a:extLst>
          </p:cNvPr>
          <p:cNvSpPr/>
          <p:nvPr/>
        </p:nvSpPr>
        <p:spPr>
          <a:xfrm>
            <a:off x="3094219" y="1963036"/>
            <a:ext cx="1881033"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 name="TextBox 17">
            <a:extLst>
              <a:ext uri="{FF2B5EF4-FFF2-40B4-BE49-F238E27FC236}">
                <a16:creationId xmlns:a16="http://schemas.microsoft.com/office/drawing/2014/main" id="{07923CEC-AC04-D915-1969-231A33F1ACB0}"/>
              </a:ext>
            </a:extLst>
          </p:cNvPr>
          <p:cNvSpPr txBox="1"/>
          <p:nvPr/>
        </p:nvSpPr>
        <p:spPr>
          <a:xfrm>
            <a:off x="722992" y="1944039"/>
            <a:ext cx="1743491" cy="369332"/>
          </a:xfrm>
          <a:prstGeom prst="rect">
            <a:avLst/>
          </a:prstGeom>
          <a:noFill/>
        </p:spPr>
        <p:txBody>
          <a:bodyPr wrap="none" rtlCol="0">
            <a:spAutoFit/>
          </a:bodyPr>
          <a:lstStyle/>
          <a:p>
            <a:r>
              <a:rPr lang="en-US"/>
              <a:t>Lab Procedures</a:t>
            </a:r>
            <a:endParaRPr lang="en-CA"/>
          </a:p>
        </p:txBody>
      </p:sp>
      <p:sp>
        <p:nvSpPr>
          <p:cNvPr id="19" name="Rectangle 18">
            <a:extLst>
              <a:ext uri="{FF2B5EF4-FFF2-40B4-BE49-F238E27FC236}">
                <a16:creationId xmlns:a16="http://schemas.microsoft.com/office/drawing/2014/main" id="{BEAD77E4-8561-021C-F915-649451FB8080}"/>
              </a:ext>
            </a:extLst>
          </p:cNvPr>
          <p:cNvSpPr/>
          <p:nvPr/>
        </p:nvSpPr>
        <p:spPr>
          <a:xfrm>
            <a:off x="3090555" y="2373838"/>
            <a:ext cx="1881033"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 name="TextBox 19">
            <a:extLst>
              <a:ext uri="{FF2B5EF4-FFF2-40B4-BE49-F238E27FC236}">
                <a16:creationId xmlns:a16="http://schemas.microsoft.com/office/drawing/2014/main" id="{9ECE2A45-FC31-5EBB-1D3A-9FDE21C1AE33}"/>
              </a:ext>
            </a:extLst>
          </p:cNvPr>
          <p:cNvSpPr txBox="1"/>
          <p:nvPr/>
        </p:nvSpPr>
        <p:spPr>
          <a:xfrm>
            <a:off x="719328" y="2354841"/>
            <a:ext cx="2184509" cy="369332"/>
          </a:xfrm>
          <a:prstGeom prst="rect">
            <a:avLst/>
          </a:prstGeom>
          <a:noFill/>
        </p:spPr>
        <p:txBody>
          <a:bodyPr wrap="none" rtlCol="0">
            <a:spAutoFit/>
          </a:bodyPr>
          <a:lstStyle/>
          <a:p>
            <a:r>
              <a:rPr lang="en-US"/>
              <a:t>Associated Vaccine </a:t>
            </a:r>
            <a:endParaRPr lang="en-CA"/>
          </a:p>
        </p:txBody>
      </p:sp>
      <p:sp>
        <p:nvSpPr>
          <p:cNvPr id="7" name="Rectangle 6">
            <a:extLst>
              <a:ext uri="{FF2B5EF4-FFF2-40B4-BE49-F238E27FC236}">
                <a16:creationId xmlns:a16="http://schemas.microsoft.com/office/drawing/2014/main" id="{DFD4F0D9-3FE8-FD28-4CBB-C9F4A574D0B6}"/>
              </a:ext>
            </a:extLst>
          </p:cNvPr>
          <p:cNvSpPr/>
          <p:nvPr/>
        </p:nvSpPr>
        <p:spPr>
          <a:xfrm>
            <a:off x="3098509" y="2782451"/>
            <a:ext cx="1881033"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Rectangle 8">
            <a:extLst>
              <a:ext uri="{FF2B5EF4-FFF2-40B4-BE49-F238E27FC236}">
                <a16:creationId xmlns:a16="http://schemas.microsoft.com/office/drawing/2014/main" id="{641B300C-DE17-F5D6-33E9-88BFF0423FE4}"/>
              </a:ext>
            </a:extLst>
          </p:cNvPr>
          <p:cNvSpPr/>
          <p:nvPr/>
        </p:nvSpPr>
        <p:spPr>
          <a:xfrm>
            <a:off x="768162" y="3201431"/>
            <a:ext cx="7530761" cy="3329381"/>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b="1">
                <a:solidFill>
                  <a:schemeClr val="tx1"/>
                </a:solidFill>
              </a:rPr>
              <a:t>Outbreak Definition</a:t>
            </a:r>
            <a:endParaRPr lang="en-CA" b="1">
              <a:solidFill>
                <a:schemeClr val="tx1"/>
              </a:solidFill>
            </a:endParaRPr>
          </a:p>
        </p:txBody>
      </p:sp>
      <p:sp>
        <p:nvSpPr>
          <p:cNvPr id="8" name="TextBox 7">
            <a:extLst>
              <a:ext uri="{FF2B5EF4-FFF2-40B4-BE49-F238E27FC236}">
                <a16:creationId xmlns:a16="http://schemas.microsoft.com/office/drawing/2014/main" id="{E7543A4E-8494-BF9F-C11F-6F60C2122AA2}"/>
              </a:ext>
            </a:extLst>
          </p:cNvPr>
          <p:cNvSpPr txBox="1"/>
          <p:nvPr/>
        </p:nvSpPr>
        <p:spPr>
          <a:xfrm>
            <a:off x="727282" y="2763454"/>
            <a:ext cx="2463495" cy="369332"/>
          </a:xfrm>
          <a:prstGeom prst="rect">
            <a:avLst/>
          </a:prstGeom>
          <a:noFill/>
        </p:spPr>
        <p:txBody>
          <a:bodyPr wrap="none" rtlCol="0">
            <a:spAutoFit/>
          </a:bodyPr>
          <a:lstStyle/>
          <a:p>
            <a:r>
              <a:rPr lang="en-US"/>
              <a:t>Associated Symptoms </a:t>
            </a:r>
            <a:endParaRPr lang="en-CA"/>
          </a:p>
        </p:txBody>
      </p:sp>
      <p:sp>
        <p:nvSpPr>
          <p:cNvPr id="12" name="Rectangle 11">
            <a:extLst>
              <a:ext uri="{FF2B5EF4-FFF2-40B4-BE49-F238E27FC236}">
                <a16:creationId xmlns:a16="http://schemas.microsoft.com/office/drawing/2014/main" id="{E36AB85C-4286-13CF-5E7E-824103FEED54}"/>
              </a:ext>
            </a:extLst>
          </p:cNvPr>
          <p:cNvSpPr/>
          <p:nvPr/>
        </p:nvSpPr>
        <p:spPr>
          <a:xfrm>
            <a:off x="6457950" y="1571891"/>
            <a:ext cx="1839066"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 name="TextBox 15">
            <a:extLst>
              <a:ext uri="{FF2B5EF4-FFF2-40B4-BE49-F238E27FC236}">
                <a16:creationId xmlns:a16="http://schemas.microsoft.com/office/drawing/2014/main" id="{CAD9D7C4-B052-3640-13BE-F5761C91F9ED}"/>
              </a:ext>
            </a:extLst>
          </p:cNvPr>
          <p:cNvSpPr txBox="1"/>
          <p:nvPr/>
        </p:nvSpPr>
        <p:spPr>
          <a:xfrm>
            <a:off x="5104974" y="1540578"/>
            <a:ext cx="1244764" cy="369332"/>
          </a:xfrm>
          <a:prstGeom prst="rect">
            <a:avLst/>
          </a:prstGeom>
          <a:noFill/>
        </p:spPr>
        <p:txBody>
          <a:bodyPr wrap="none" rtlCol="0">
            <a:spAutoFit/>
          </a:bodyPr>
          <a:lstStyle/>
          <a:p>
            <a:r>
              <a:rPr lang="en-US"/>
              <a:t>ICD-10-CA</a:t>
            </a:r>
            <a:endParaRPr lang="en-CA"/>
          </a:p>
        </p:txBody>
      </p:sp>
      <p:sp>
        <p:nvSpPr>
          <p:cNvPr id="22" name="TextBox 21">
            <a:extLst>
              <a:ext uri="{FF2B5EF4-FFF2-40B4-BE49-F238E27FC236}">
                <a16:creationId xmlns:a16="http://schemas.microsoft.com/office/drawing/2014/main" id="{BC92C8E5-75D4-F36E-42AF-4588D6543C8F}"/>
              </a:ext>
            </a:extLst>
          </p:cNvPr>
          <p:cNvSpPr txBox="1"/>
          <p:nvPr/>
        </p:nvSpPr>
        <p:spPr>
          <a:xfrm>
            <a:off x="5104974" y="1942648"/>
            <a:ext cx="2628925" cy="369332"/>
          </a:xfrm>
          <a:prstGeom prst="rect">
            <a:avLst/>
          </a:prstGeom>
          <a:noFill/>
        </p:spPr>
        <p:txBody>
          <a:bodyPr wrap="none" rtlCol="0">
            <a:spAutoFit/>
          </a:bodyPr>
          <a:lstStyle/>
          <a:p>
            <a:r>
              <a:rPr lang="en-US"/>
              <a:t>Fastest Means Possible?</a:t>
            </a:r>
            <a:endParaRPr lang="en-CA"/>
          </a:p>
        </p:txBody>
      </p:sp>
      <p:sp>
        <p:nvSpPr>
          <p:cNvPr id="23" name="Oval 22">
            <a:extLst>
              <a:ext uri="{FF2B5EF4-FFF2-40B4-BE49-F238E27FC236}">
                <a16:creationId xmlns:a16="http://schemas.microsoft.com/office/drawing/2014/main" id="{BBA8E4D8-6571-EC77-EA5E-111A61C6A76F}"/>
              </a:ext>
            </a:extLst>
          </p:cNvPr>
          <p:cNvSpPr/>
          <p:nvPr/>
        </p:nvSpPr>
        <p:spPr>
          <a:xfrm>
            <a:off x="7758272" y="2014352"/>
            <a:ext cx="214009" cy="22592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4" name="Rectangle 23">
            <a:extLst>
              <a:ext uri="{FF2B5EF4-FFF2-40B4-BE49-F238E27FC236}">
                <a16:creationId xmlns:a16="http://schemas.microsoft.com/office/drawing/2014/main" id="{0345E94A-D01E-2511-8DB9-5FE5B8A4BBD8}"/>
              </a:ext>
            </a:extLst>
          </p:cNvPr>
          <p:cNvSpPr/>
          <p:nvPr/>
        </p:nvSpPr>
        <p:spPr>
          <a:xfrm>
            <a:off x="2396887" y="3937137"/>
            <a:ext cx="507454" cy="3135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TextBox 9">
            <a:extLst>
              <a:ext uri="{FF2B5EF4-FFF2-40B4-BE49-F238E27FC236}">
                <a16:creationId xmlns:a16="http://schemas.microsoft.com/office/drawing/2014/main" id="{98EE43BF-D18F-28FB-8EA1-F782E3305BA4}"/>
              </a:ext>
            </a:extLst>
          </p:cNvPr>
          <p:cNvSpPr txBox="1"/>
          <p:nvPr/>
        </p:nvSpPr>
        <p:spPr>
          <a:xfrm>
            <a:off x="1134412" y="3890529"/>
            <a:ext cx="1080167" cy="369332"/>
          </a:xfrm>
          <a:prstGeom prst="rect">
            <a:avLst/>
          </a:prstGeom>
          <a:noFill/>
        </p:spPr>
        <p:txBody>
          <a:bodyPr wrap="none" rtlCol="0">
            <a:spAutoFit/>
          </a:bodyPr>
          <a:lstStyle/>
          <a:p>
            <a:r>
              <a:rPr lang="en-US"/>
              <a:t>Probable</a:t>
            </a:r>
            <a:endParaRPr lang="en-CA"/>
          </a:p>
        </p:txBody>
      </p:sp>
      <p:sp>
        <p:nvSpPr>
          <p:cNvPr id="11" name="Rectangle 10">
            <a:extLst>
              <a:ext uri="{FF2B5EF4-FFF2-40B4-BE49-F238E27FC236}">
                <a16:creationId xmlns:a16="http://schemas.microsoft.com/office/drawing/2014/main" id="{71CE3EB2-BFB3-586B-49D2-50B38ED6590B}"/>
              </a:ext>
            </a:extLst>
          </p:cNvPr>
          <p:cNvSpPr/>
          <p:nvPr/>
        </p:nvSpPr>
        <p:spPr>
          <a:xfrm>
            <a:off x="2396887" y="4346582"/>
            <a:ext cx="507454" cy="3135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1" name="TextBox 20">
            <a:extLst>
              <a:ext uri="{FF2B5EF4-FFF2-40B4-BE49-F238E27FC236}">
                <a16:creationId xmlns:a16="http://schemas.microsoft.com/office/drawing/2014/main" id="{DC9185D9-5EDE-2AC4-FC3E-4010643C7D1D}"/>
              </a:ext>
            </a:extLst>
          </p:cNvPr>
          <p:cNvSpPr txBox="1"/>
          <p:nvPr/>
        </p:nvSpPr>
        <p:spPr>
          <a:xfrm>
            <a:off x="1134412" y="4299974"/>
            <a:ext cx="1247457" cy="369332"/>
          </a:xfrm>
          <a:prstGeom prst="rect">
            <a:avLst/>
          </a:prstGeom>
          <a:noFill/>
        </p:spPr>
        <p:txBody>
          <a:bodyPr wrap="none" rtlCol="0">
            <a:spAutoFit/>
          </a:bodyPr>
          <a:lstStyle/>
          <a:p>
            <a:r>
              <a:rPr lang="en-US"/>
              <a:t>Confirmed</a:t>
            </a:r>
            <a:endParaRPr lang="en-CA"/>
          </a:p>
        </p:txBody>
      </p:sp>
      <p:sp>
        <p:nvSpPr>
          <p:cNvPr id="26" name="Rectangle 25">
            <a:extLst>
              <a:ext uri="{FF2B5EF4-FFF2-40B4-BE49-F238E27FC236}">
                <a16:creationId xmlns:a16="http://schemas.microsoft.com/office/drawing/2014/main" id="{B27B0CF2-6140-0766-89E3-CEA252B53A9D}"/>
              </a:ext>
            </a:extLst>
          </p:cNvPr>
          <p:cNvSpPr/>
          <p:nvPr/>
        </p:nvSpPr>
        <p:spPr>
          <a:xfrm>
            <a:off x="965199" y="3557274"/>
            <a:ext cx="5611871" cy="192622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b="1">
                <a:solidFill>
                  <a:schemeClr val="tx1"/>
                </a:solidFill>
              </a:rPr>
              <a:t>Minimum Case Definition Rule</a:t>
            </a:r>
            <a:endParaRPr lang="en-CA" b="1">
              <a:solidFill>
                <a:schemeClr val="tx1"/>
              </a:solidFill>
            </a:endParaRPr>
          </a:p>
        </p:txBody>
      </p:sp>
      <p:sp>
        <p:nvSpPr>
          <p:cNvPr id="27" name="Rectangle 26">
            <a:extLst>
              <a:ext uri="{FF2B5EF4-FFF2-40B4-BE49-F238E27FC236}">
                <a16:creationId xmlns:a16="http://schemas.microsoft.com/office/drawing/2014/main" id="{93C48957-1F91-CEA3-7CA3-38D1E3C9FA94}"/>
              </a:ext>
            </a:extLst>
          </p:cNvPr>
          <p:cNvSpPr/>
          <p:nvPr/>
        </p:nvSpPr>
        <p:spPr>
          <a:xfrm>
            <a:off x="4453518" y="3958338"/>
            <a:ext cx="507454" cy="3135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8" name="TextBox 27">
            <a:extLst>
              <a:ext uri="{FF2B5EF4-FFF2-40B4-BE49-F238E27FC236}">
                <a16:creationId xmlns:a16="http://schemas.microsoft.com/office/drawing/2014/main" id="{E6CC1559-EBC0-9FD8-7A6A-B04B03F78DAC}"/>
              </a:ext>
            </a:extLst>
          </p:cNvPr>
          <p:cNvSpPr txBox="1"/>
          <p:nvPr/>
        </p:nvSpPr>
        <p:spPr>
          <a:xfrm>
            <a:off x="3038453" y="3930642"/>
            <a:ext cx="1391728" cy="369332"/>
          </a:xfrm>
          <a:prstGeom prst="rect">
            <a:avLst/>
          </a:prstGeom>
          <a:noFill/>
        </p:spPr>
        <p:txBody>
          <a:bodyPr wrap="none" rtlCol="0">
            <a:spAutoFit/>
          </a:bodyPr>
          <a:lstStyle/>
          <a:p>
            <a:r>
              <a:rPr lang="en-US"/>
              <a:t>with epi-link</a:t>
            </a:r>
            <a:endParaRPr lang="en-CA"/>
          </a:p>
        </p:txBody>
      </p:sp>
      <p:sp>
        <p:nvSpPr>
          <p:cNvPr id="29" name="TextBox 28">
            <a:extLst>
              <a:ext uri="{FF2B5EF4-FFF2-40B4-BE49-F238E27FC236}">
                <a16:creationId xmlns:a16="http://schemas.microsoft.com/office/drawing/2014/main" id="{B6651056-567A-99DC-27C9-6710859F8A52}"/>
              </a:ext>
            </a:extLst>
          </p:cNvPr>
          <p:cNvSpPr txBox="1"/>
          <p:nvPr/>
        </p:nvSpPr>
        <p:spPr>
          <a:xfrm>
            <a:off x="5104973" y="2341510"/>
            <a:ext cx="1556836" cy="369332"/>
          </a:xfrm>
          <a:prstGeom prst="rect">
            <a:avLst/>
          </a:prstGeom>
          <a:noFill/>
        </p:spPr>
        <p:txBody>
          <a:bodyPr wrap="none" rtlCol="0">
            <a:spAutoFit/>
          </a:bodyPr>
          <a:lstStyle/>
          <a:p>
            <a:r>
              <a:rPr lang="en-US"/>
              <a:t>Report Timing</a:t>
            </a:r>
            <a:endParaRPr lang="en-CA"/>
          </a:p>
        </p:txBody>
      </p:sp>
      <p:sp>
        <p:nvSpPr>
          <p:cNvPr id="30" name="Rectangle 29">
            <a:extLst>
              <a:ext uri="{FF2B5EF4-FFF2-40B4-BE49-F238E27FC236}">
                <a16:creationId xmlns:a16="http://schemas.microsoft.com/office/drawing/2014/main" id="{1084BA38-CC47-A97C-B868-7ED2551B7F82}"/>
              </a:ext>
            </a:extLst>
          </p:cNvPr>
          <p:cNvSpPr/>
          <p:nvPr/>
        </p:nvSpPr>
        <p:spPr>
          <a:xfrm>
            <a:off x="6874616" y="2373838"/>
            <a:ext cx="1422400" cy="3147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4" name="TextBox 33">
            <a:extLst>
              <a:ext uri="{FF2B5EF4-FFF2-40B4-BE49-F238E27FC236}">
                <a16:creationId xmlns:a16="http://schemas.microsoft.com/office/drawing/2014/main" id="{4FBE6297-00E8-4020-752C-3BF6CF80FFA9}"/>
              </a:ext>
            </a:extLst>
          </p:cNvPr>
          <p:cNvSpPr txBox="1"/>
          <p:nvPr/>
        </p:nvSpPr>
        <p:spPr>
          <a:xfrm>
            <a:off x="5163244" y="2759123"/>
            <a:ext cx="1756122" cy="369332"/>
          </a:xfrm>
          <a:prstGeom prst="rect">
            <a:avLst/>
          </a:prstGeom>
          <a:noFill/>
        </p:spPr>
        <p:txBody>
          <a:bodyPr wrap="none" rtlCol="0">
            <a:spAutoFit/>
          </a:bodyPr>
          <a:lstStyle/>
          <a:p>
            <a:r>
              <a:rPr lang="en-US"/>
              <a:t>Closure Criteria</a:t>
            </a:r>
            <a:endParaRPr lang="en-CA"/>
          </a:p>
        </p:txBody>
      </p:sp>
      <p:sp>
        <p:nvSpPr>
          <p:cNvPr id="35" name="Rectangle 34">
            <a:extLst>
              <a:ext uri="{FF2B5EF4-FFF2-40B4-BE49-F238E27FC236}">
                <a16:creationId xmlns:a16="http://schemas.microsoft.com/office/drawing/2014/main" id="{73E650DF-00A6-123C-FC05-1CF367E065B1}"/>
              </a:ext>
            </a:extLst>
          </p:cNvPr>
          <p:cNvSpPr/>
          <p:nvPr/>
        </p:nvSpPr>
        <p:spPr>
          <a:xfrm>
            <a:off x="6874617" y="2791451"/>
            <a:ext cx="1422400" cy="3147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6" name="Rectangle 35">
            <a:extLst>
              <a:ext uri="{FF2B5EF4-FFF2-40B4-BE49-F238E27FC236}">
                <a16:creationId xmlns:a16="http://schemas.microsoft.com/office/drawing/2014/main" id="{3A259D49-DF58-92B5-47C2-06F078AE1DF9}"/>
              </a:ext>
            </a:extLst>
          </p:cNvPr>
          <p:cNvSpPr/>
          <p:nvPr/>
        </p:nvSpPr>
        <p:spPr>
          <a:xfrm>
            <a:off x="3341338" y="4706418"/>
            <a:ext cx="507454" cy="3135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a:solidFill>
                  <a:schemeClr val="tx1"/>
                </a:solidFill>
              </a:rPr>
              <a:t>%</a:t>
            </a:r>
            <a:endParaRPr lang="en-CA">
              <a:solidFill>
                <a:schemeClr val="tx1"/>
              </a:solidFill>
            </a:endParaRPr>
          </a:p>
        </p:txBody>
      </p:sp>
      <p:sp>
        <p:nvSpPr>
          <p:cNvPr id="37" name="TextBox 36">
            <a:extLst>
              <a:ext uri="{FF2B5EF4-FFF2-40B4-BE49-F238E27FC236}">
                <a16:creationId xmlns:a16="http://schemas.microsoft.com/office/drawing/2014/main" id="{2EC6E8EB-DB8C-7269-D2DF-1BED7CFBFBEE}"/>
              </a:ext>
            </a:extLst>
          </p:cNvPr>
          <p:cNvSpPr txBox="1"/>
          <p:nvPr/>
        </p:nvSpPr>
        <p:spPr>
          <a:xfrm>
            <a:off x="1123395" y="4696419"/>
            <a:ext cx="2230547" cy="369332"/>
          </a:xfrm>
          <a:prstGeom prst="rect">
            <a:avLst/>
          </a:prstGeom>
          <a:noFill/>
        </p:spPr>
        <p:txBody>
          <a:bodyPr wrap="none" rtlCol="0">
            <a:spAutoFit/>
          </a:bodyPr>
          <a:lstStyle/>
          <a:p>
            <a:r>
              <a:rPr lang="en-US"/>
              <a:t>School Absenteeism</a:t>
            </a:r>
            <a:endParaRPr lang="en-CA"/>
          </a:p>
        </p:txBody>
      </p:sp>
      <p:sp>
        <p:nvSpPr>
          <p:cNvPr id="38" name="TextBox 37">
            <a:extLst>
              <a:ext uri="{FF2B5EF4-FFF2-40B4-BE49-F238E27FC236}">
                <a16:creationId xmlns:a16="http://schemas.microsoft.com/office/drawing/2014/main" id="{E5D68326-A0A0-863A-8034-656725BD0177}"/>
              </a:ext>
            </a:extLst>
          </p:cNvPr>
          <p:cNvSpPr txBox="1"/>
          <p:nvPr/>
        </p:nvSpPr>
        <p:spPr>
          <a:xfrm>
            <a:off x="1132738" y="5037077"/>
            <a:ext cx="2536335" cy="369332"/>
          </a:xfrm>
          <a:prstGeom prst="rect">
            <a:avLst/>
          </a:prstGeom>
          <a:noFill/>
        </p:spPr>
        <p:txBody>
          <a:bodyPr wrap="none" rtlCol="0">
            <a:spAutoFit/>
          </a:bodyPr>
          <a:lstStyle/>
          <a:p>
            <a:r>
              <a:rPr lang="en-US"/>
              <a:t>Congregate Care Cases</a:t>
            </a:r>
            <a:endParaRPr lang="en-CA"/>
          </a:p>
        </p:txBody>
      </p:sp>
      <p:sp>
        <p:nvSpPr>
          <p:cNvPr id="39" name="Rectangle 38">
            <a:extLst>
              <a:ext uri="{FF2B5EF4-FFF2-40B4-BE49-F238E27FC236}">
                <a16:creationId xmlns:a16="http://schemas.microsoft.com/office/drawing/2014/main" id="{5A82CDA7-8C4C-B891-A39F-19BD86B89B10}"/>
              </a:ext>
            </a:extLst>
          </p:cNvPr>
          <p:cNvSpPr/>
          <p:nvPr/>
        </p:nvSpPr>
        <p:spPr>
          <a:xfrm>
            <a:off x="3691107" y="5079687"/>
            <a:ext cx="507454" cy="3135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aphicFrame>
        <p:nvGraphicFramePr>
          <p:cNvPr id="40" name="Table 39">
            <a:extLst>
              <a:ext uri="{FF2B5EF4-FFF2-40B4-BE49-F238E27FC236}">
                <a16:creationId xmlns:a16="http://schemas.microsoft.com/office/drawing/2014/main" id="{E3E7E910-A709-FB3F-F48C-0F9D9A947374}"/>
              </a:ext>
            </a:extLst>
          </p:cNvPr>
          <p:cNvGraphicFramePr>
            <a:graphicFrameLocks noGrp="1"/>
          </p:cNvGraphicFramePr>
          <p:nvPr>
            <p:extLst>
              <p:ext uri="{D42A27DB-BD31-4B8C-83A1-F6EECF244321}">
                <p14:modId xmlns:p14="http://schemas.microsoft.com/office/powerpoint/2010/main" val="475853166"/>
              </p:ext>
            </p:extLst>
          </p:nvPr>
        </p:nvGraphicFramePr>
        <p:xfrm>
          <a:off x="965199" y="5573343"/>
          <a:ext cx="5611871" cy="741680"/>
        </p:xfrm>
        <a:graphic>
          <a:graphicData uri="http://schemas.openxmlformats.org/drawingml/2006/table">
            <a:tbl>
              <a:tblPr firstRow="1" bandRow="1">
                <a:tableStyleId>{073A0DAA-6AF3-43AB-8588-CEC1D06C72B9}</a:tableStyleId>
              </a:tblPr>
              <a:tblGrid>
                <a:gridCol w="1402968">
                  <a:extLst>
                    <a:ext uri="{9D8B030D-6E8A-4147-A177-3AD203B41FA5}">
                      <a16:colId xmlns:a16="http://schemas.microsoft.com/office/drawing/2014/main" val="4214509355"/>
                    </a:ext>
                  </a:extLst>
                </a:gridCol>
                <a:gridCol w="1402968">
                  <a:extLst>
                    <a:ext uri="{9D8B030D-6E8A-4147-A177-3AD203B41FA5}">
                      <a16:colId xmlns:a16="http://schemas.microsoft.com/office/drawing/2014/main" val="2259141323"/>
                    </a:ext>
                  </a:extLst>
                </a:gridCol>
                <a:gridCol w="970809">
                  <a:extLst>
                    <a:ext uri="{9D8B030D-6E8A-4147-A177-3AD203B41FA5}">
                      <a16:colId xmlns:a16="http://schemas.microsoft.com/office/drawing/2014/main" val="524533930"/>
                    </a:ext>
                  </a:extLst>
                </a:gridCol>
                <a:gridCol w="1835126">
                  <a:extLst>
                    <a:ext uri="{9D8B030D-6E8A-4147-A177-3AD203B41FA5}">
                      <a16:colId xmlns:a16="http://schemas.microsoft.com/office/drawing/2014/main" val="227106013"/>
                    </a:ext>
                  </a:extLst>
                </a:gridCol>
              </a:tblGrid>
              <a:tr h="370840">
                <a:tc>
                  <a:txBody>
                    <a:bodyPr/>
                    <a:lstStyle/>
                    <a:p>
                      <a:r>
                        <a:rPr lang="en-US"/>
                        <a:t>Rule Name</a:t>
                      </a:r>
                      <a:endParaRPr lang="en-CA"/>
                    </a:p>
                  </a:txBody>
                  <a:tcPr/>
                </a:tc>
                <a:tc>
                  <a:txBody>
                    <a:bodyPr/>
                    <a:lstStyle/>
                    <a:p>
                      <a:r>
                        <a:rPr lang="en-US"/>
                        <a:t>Condition</a:t>
                      </a:r>
                      <a:endParaRPr lang="en-CA"/>
                    </a:p>
                  </a:txBody>
                  <a:tcPr/>
                </a:tc>
                <a:tc>
                  <a:txBody>
                    <a:bodyPr/>
                    <a:lstStyle/>
                    <a:p>
                      <a:r>
                        <a:rPr lang="en-US"/>
                        <a:t>Date</a:t>
                      </a:r>
                      <a:endParaRPr lang="en-CA"/>
                    </a:p>
                  </a:txBody>
                  <a:tcPr/>
                </a:tc>
                <a:tc>
                  <a:txBody>
                    <a:bodyPr/>
                    <a:lstStyle/>
                    <a:p>
                      <a:r>
                        <a:rPr lang="en-US"/>
                        <a:t>Comments</a:t>
                      </a:r>
                      <a:endParaRPr lang="en-CA"/>
                    </a:p>
                  </a:txBody>
                  <a:tcPr/>
                </a:tc>
                <a:extLst>
                  <a:ext uri="{0D108BD9-81ED-4DB2-BD59-A6C34878D82A}">
                    <a16:rowId xmlns:a16="http://schemas.microsoft.com/office/drawing/2014/main" val="2289060875"/>
                  </a:ext>
                </a:extLst>
              </a:tr>
              <a:tr h="370840">
                <a:tc>
                  <a:txBody>
                    <a:bodyPr/>
                    <a:lstStyle/>
                    <a:p>
                      <a:endParaRPr lang="en-CA"/>
                    </a:p>
                  </a:txBody>
                  <a:tcPr/>
                </a:tc>
                <a:tc>
                  <a:txBody>
                    <a:bodyPr/>
                    <a:lstStyle/>
                    <a:p>
                      <a:r>
                        <a:rPr lang="en-US"/>
                        <a:t>And/or</a:t>
                      </a:r>
                      <a:endParaRPr lang="en-CA"/>
                    </a:p>
                  </a:txBody>
                  <a:tcPr/>
                </a:tc>
                <a:tc>
                  <a:txBody>
                    <a:bodyPr/>
                    <a:lstStyle/>
                    <a:p>
                      <a:endParaRPr lang="en-CA"/>
                    </a:p>
                  </a:txBody>
                  <a:tcPr/>
                </a:tc>
                <a:tc>
                  <a:txBody>
                    <a:bodyPr/>
                    <a:lstStyle/>
                    <a:p>
                      <a:endParaRPr lang="en-CA"/>
                    </a:p>
                  </a:txBody>
                  <a:tcPr/>
                </a:tc>
                <a:extLst>
                  <a:ext uri="{0D108BD9-81ED-4DB2-BD59-A6C34878D82A}">
                    <a16:rowId xmlns:a16="http://schemas.microsoft.com/office/drawing/2014/main" val="428700896"/>
                  </a:ext>
                </a:extLst>
              </a:tr>
            </a:tbl>
          </a:graphicData>
        </a:graphic>
      </p:graphicFrame>
      <p:pic>
        <p:nvPicPr>
          <p:cNvPr id="25" name="Graphic 24" descr="User with solid fill">
            <a:extLst>
              <a:ext uri="{FF2B5EF4-FFF2-40B4-BE49-F238E27FC236}">
                <a16:creationId xmlns:a16="http://schemas.microsoft.com/office/drawing/2014/main" id="{5603AADB-26DB-A7A9-E969-784AD29FC16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81834" y="616307"/>
            <a:ext cx="517187" cy="517187"/>
          </a:xfrm>
          <a:prstGeom prst="rect">
            <a:avLst/>
          </a:prstGeom>
        </p:spPr>
      </p:pic>
      <p:sp>
        <p:nvSpPr>
          <p:cNvPr id="31" name="Rectangle 30">
            <a:extLst>
              <a:ext uri="{FF2B5EF4-FFF2-40B4-BE49-F238E27FC236}">
                <a16:creationId xmlns:a16="http://schemas.microsoft.com/office/drawing/2014/main" id="{8316166B-43CD-B013-D2EC-FC4C80932B8E}"/>
              </a:ext>
            </a:extLst>
          </p:cNvPr>
          <p:cNvSpPr/>
          <p:nvPr/>
        </p:nvSpPr>
        <p:spPr>
          <a:xfrm>
            <a:off x="6670593" y="3557273"/>
            <a:ext cx="1500913" cy="91769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r>
              <a:rPr lang="en-US" b="1">
                <a:solidFill>
                  <a:schemeClr val="tx1"/>
                </a:solidFill>
              </a:rPr>
              <a:t>Confirmed Episode Conditions</a:t>
            </a:r>
            <a:endParaRPr lang="en-US"/>
          </a:p>
        </p:txBody>
      </p:sp>
      <p:sp>
        <p:nvSpPr>
          <p:cNvPr id="32" name="Rectangle 31">
            <a:extLst>
              <a:ext uri="{FF2B5EF4-FFF2-40B4-BE49-F238E27FC236}">
                <a16:creationId xmlns:a16="http://schemas.microsoft.com/office/drawing/2014/main" id="{90CC3C0C-7B20-6CB8-D090-D17D962E2C43}"/>
              </a:ext>
            </a:extLst>
          </p:cNvPr>
          <p:cNvSpPr/>
          <p:nvPr/>
        </p:nvSpPr>
        <p:spPr>
          <a:xfrm>
            <a:off x="6670592" y="4517777"/>
            <a:ext cx="1500913" cy="96572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r>
              <a:rPr lang="en-US" b="1">
                <a:solidFill>
                  <a:schemeClr val="tx1"/>
                </a:solidFill>
              </a:rPr>
              <a:t>Probable Episode Conditions</a:t>
            </a:r>
            <a:endParaRPr lang="en-US"/>
          </a:p>
        </p:txBody>
      </p:sp>
    </p:spTree>
    <p:extLst>
      <p:ext uri="{BB962C8B-B14F-4D97-AF65-F5344CB8AC3E}">
        <p14:creationId xmlns:p14="http://schemas.microsoft.com/office/powerpoint/2010/main" val="29399493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68141" y="3261"/>
            <a:ext cx="4243309" cy="627696"/>
          </a:xfrm>
        </p:spPr>
        <p:txBody>
          <a:bodyPr>
            <a:noAutofit/>
          </a:bodyPr>
          <a:lstStyle/>
          <a:p>
            <a:r>
              <a:rPr lang="en-US" sz="3200"/>
              <a:t>Outbreak Value Stream</a:t>
            </a:r>
          </a:p>
        </p:txBody>
      </p:sp>
      <p:graphicFrame>
        <p:nvGraphicFramePr>
          <p:cNvPr id="6" name="Content Placeholder 5">
            <a:extLst>
              <a:ext uri="{FF2B5EF4-FFF2-40B4-BE49-F238E27FC236}">
                <a16:creationId xmlns:a16="http://schemas.microsoft.com/office/drawing/2014/main" id="{E96D4320-AA9F-BE4F-0C8D-23AD4FCFB71E}"/>
              </a:ext>
            </a:extLst>
          </p:cNvPr>
          <p:cNvGraphicFramePr>
            <a:graphicFrameLocks noGrp="1"/>
          </p:cNvGraphicFramePr>
          <p:nvPr>
            <p:ph idx="1"/>
          </p:nvPr>
        </p:nvGraphicFramePr>
        <p:xfrm>
          <a:off x="694090" y="720880"/>
          <a:ext cx="7702550" cy="9450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 Placeholder 3"/>
          <p:cNvSpPr>
            <a:spLocks noGrp="1"/>
          </p:cNvSpPr>
          <p:nvPr>
            <p:ph type="body" sz="quarter" idx="13"/>
          </p:nvPr>
        </p:nvSpPr>
        <p:spPr/>
        <p:txBody>
          <a:bodyPr/>
          <a:lstStyle/>
          <a:p>
            <a:r>
              <a:rPr lang="en-US"/>
              <a:t>Communicable Disease Solution Design</a:t>
            </a:r>
          </a:p>
        </p:txBody>
      </p:sp>
      <p:sp>
        <p:nvSpPr>
          <p:cNvPr id="5" name="Slide Number Placeholder 4"/>
          <p:cNvSpPr>
            <a:spLocks noGrp="1"/>
          </p:cNvSpPr>
          <p:nvPr>
            <p:ph type="sldNum" sz="quarter" idx="4"/>
          </p:nvPr>
        </p:nvSpPr>
        <p:spPr/>
        <p:txBody>
          <a:bodyPr/>
          <a:lstStyle/>
          <a:p>
            <a:fld id="{2639BB91-5DDD-4FF0-AA8B-B54FEC5F3DC9}" type="slidenum">
              <a:rPr lang="en-US" smtClean="0"/>
              <a:t>9</a:t>
            </a:fld>
            <a:endParaRPr lang="en-US"/>
          </a:p>
        </p:txBody>
      </p:sp>
      <p:sp>
        <p:nvSpPr>
          <p:cNvPr id="12" name="Rectangle 11">
            <a:hlinkClick r:id="rId7"/>
            <a:extLst>
              <a:ext uri="{FF2B5EF4-FFF2-40B4-BE49-F238E27FC236}">
                <a16:creationId xmlns:a16="http://schemas.microsoft.com/office/drawing/2014/main" id="{4563C661-9065-E8DC-7663-FC86882B7E55}"/>
              </a:ext>
            </a:extLst>
          </p:cNvPr>
          <p:cNvSpPr/>
          <p:nvPr/>
        </p:nvSpPr>
        <p:spPr>
          <a:xfrm>
            <a:off x="696752" y="2574654"/>
            <a:ext cx="1683164" cy="81212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Search Active Outbreaks</a:t>
            </a:r>
          </a:p>
        </p:txBody>
      </p:sp>
      <p:sp>
        <p:nvSpPr>
          <p:cNvPr id="13" name="Rectangle 12">
            <a:hlinkClick r:id="rId8"/>
            <a:extLst>
              <a:ext uri="{FF2B5EF4-FFF2-40B4-BE49-F238E27FC236}">
                <a16:creationId xmlns:a16="http://schemas.microsoft.com/office/drawing/2014/main" id="{7C95478A-FFB1-50D8-D594-D52C855087EC}"/>
              </a:ext>
            </a:extLst>
          </p:cNvPr>
          <p:cNvSpPr/>
          <p:nvPr/>
        </p:nvSpPr>
        <p:spPr>
          <a:xfrm>
            <a:off x="698838" y="4378279"/>
            <a:ext cx="1695747" cy="81212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t>Assess Outbreak</a:t>
            </a:r>
          </a:p>
        </p:txBody>
      </p:sp>
      <p:sp>
        <p:nvSpPr>
          <p:cNvPr id="108" name="Rectangle 107">
            <a:hlinkClick r:id="rId9"/>
            <a:extLst>
              <a:ext uri="{FF2B5EF4-FFF2-40B4-BE49-F238E27FC236}">
                <a16:creationId xmlns:a16="http://schemas.microsoft.com/office/drawing/2014/main" id="{BD702F22-EE0B-3DD9-C547-47E3A0382A1F}"/>
              </a:ext>
            </a:extLst>
          </p:cNvPr>
          <p:cNvSpPr/>
          <p:nvPr/>
        </p:nvSpPr>
        <p:spPr>
          <a:xfrm>
            <a:off x="699426" y="1668573"/>
            <a:ext cx="1683164" cy="812531"/>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t>Outbreak Notification</a:t>
            </a:r>
          </a:p>
        </p:txBody>
      </p:sp>
      <p:sp>
        <p:nvSpPr>
          <p:cNvPr id="177" name="Rectangle 176">
            <a:hlinkClick r:id="rId10"/>
            <a:extLst>
              <a:ext uri="{FF2B5EF4-FFF2-40B4-BE49-F238E27FC236}">
                <a16:creationId xmlns:a16="http://schemas.microsoft.com/office/drawing/2014/main" id="{5CB3569F-7FE0-4B3A-FD3A-E772ADCB1DEE}"/>
              </a:ext>
            </a:extLst>
          </p:cNvPr>
          <p:cNvSpPr/>
          <p:nvPr/>
        </p:nvSpPr>
        <p:spPr>
          <a:xfrm>
            <a:off x="697571" y="3476467"/>
            <a:ext cx="1688460" cy="81212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Arial"/>
              </a:rPr>
              <a:t>Create </a:t>
            </a:r>
            <a:endParaRPr lang="en-US"/>
          </a:p>
          <a:p>
            <a:pPr algn="ctr"/>
            <a:r>
              <a:rPr lang="en-US">
                <a:cs typeface="Arial"/>
              </a:rPr>
              <a:t>Investigation</a:t>
            </a:r>
            <a:endParaRPr lang="en-US"/>
          </a:p>
        </p:txBody>
      </p:sp>
      <p:sp>
        <p:nvSpPr>
          <p:cNvPr id="181" name="Rectangle 180">
            <a:hlinkClick r:id="rId11"/>
            <a:extLst>
              <a:ext uri="{FF2B5EF4-FFF2-40B4-BE49-F238E27FC236}">
                <a16:creationId xmlns:a16="http://schemas.microsoft.com/office/drawing/2014/main" id="{A6938BBF-6E25-95F0-59B1-86367ECDD733}"/>
              </a:ext>
            </a:extLst>
          </p:cNvPr>
          <p:cNvSpPr/>
          <p:nvPr/>
        </p:nvSpPr>
        <p:spPr>
          <a:xfrm>
            <a:off x="700920" y="5280092"/>
            <a:ext cx="1689455" cy="812125"/>
          </a:xfrm>
          <a:prstGeom prst="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t>Initial AORF</a:t>
            </a:r>
          </a:p>
        </p:txBody>
      </p:sp>
      <p:sp>
        <p:nvSpPr>
          <p:cNvPr id="31" name="Rectangle 30">
            <a:hlinkClick r:id="rId7"/>
            <a:extLst>
              <a:ext uri="{FF2B5EF4-FFF2-40B4-BE49-F238E27FC236}">
                <a16:creationId xmlns:a16="http://schemas.microsoft.com/office/drawing/2014/main" id="{273A7EB1-5528-647F-E094-5BEB90FDE5A2}"/>
              </a:ext>
            </a:extLst>
          </p:cNvPr>
          <p:cNvSpPr/>
          <p:nvPr/>
        </p:nvSpPr>
        <p:spPr>
          <a:xfrm>
            <a:off x="2559652" y="1670946"/>
            <a:ext cx="1683164" cy="812125"/>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Arial"/>
              </a:rPr>
              <a:t>Create Questionnaire</a:t>
            </a:r>
          </a:p>
        </p:txBody>
      </p:sp>
      <p:sp>
        <p:nvSpPr>
          <p:cNvPr id="11" name="Rectangle 10">
            <a:hlinkClick r:id="rId7"/>
            <a:extLst>
              <a:ext uri="{FF2B5EF4-FFF2-40B4-BE49-F238E27FC236}">
                <a16:creationId xmlns:a16="http://schemas.microsoft.com/office/drawing/2014/main" id="{7A044F48-BC57-BC10-6343-5007A5BA383D}"/>
              </a:ext>
            </a:extLst>
          </p:cNvPr>
          <p:cNvSpPr/>
          <p:nvPr/>
        </p:nvSpPr>
        <p:spPr>
          <a:xfrm>
            <a:off x="2559652" y="2574654"/>
            <a:ext cx="1683164" cy="812125"/>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Arial"/>
              </a:rPr>
              <a:t>Complete Questionnaire</a:t>
            </a:r>
          </a:p>
        </p:txBody>
      </p:sp>
      <p:sp>
        <p:nvSpPr>
          <p:cNvPr id="30" name="Rectangle 29">
            <a:hlinkClick r:id="rId7"/>
            <a:extLst>
              <a:ext uri="{FF2B5EF4-FFF2-40B4-BE49-F238E27FC236}">
                <a16:creationId xmlns:a16="http://schemas.microsoft.com/office/drawing/2014/main" id="{B8D2E974-EF2F-7E1D-F063-77449E820617}"/>
              </a:ext>
            </a:extLst>
          </p:cNvPr>
          <p:cNvSpPr/>
          <p:nvPr/>
        </p:nvSpPr>
        <p:spPr>
          <a:xfrm>
            <a:off x="2559652" y="3484002"/>
            <a:ext cx="1683164" cy="81212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Arial"/>
              </a:rPr>
              <a:t>Confirm Outbreak</a:t>
            </a:r>
            <a:endParaRPr lang="en-US"/>
          </a:p>
        </p:txBody>
      </p:sp>
      <p:sp>
        <p:nvSpPr>
          <p:cNvPr id="20" name="Rectangle 19">
            <a:hlinkClick r:id="rId11"/>
            <a:extLst>
              <a:ext uri="{FF2B5EF4-FFF2-40B4-BE49-F238E27FC236}">
                <a16:creationId xmlns:a16="http://schemas.microsoft.com/office/drawing/2014/main" id="{EF8E47E0-B8E8-ECC7-812B-5C5112A0F527}"/>
              </a:ext>
            </a:extLst>
          </p:cNvPr>
          <p:cNvSpPr/>
          <p:nvPr/>
        </p:nvSpPr>
        <p:spPr>
          <a:xfrm>
            <a:off x="2552004" y="4377912"/>
            <a:ext cx="1689455" cy="812125"/>
          </a:xfrm>
          <a:prstGeom prst="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t>Lab Confirmed AORF</a:t>
            </a:r>
            <a:endParaRPr lang="en-US">
              <a:cs typeface="Arial"/>
            </a:endParaRPr>
          </a:p>
        </p:txBody>
      </p:sp>
      <p:sp>
        <p:nvSpPr>
          <p:cNvPr id="21" name="Rectangle 20">
            <a:hlinkClick r:id="rId7"/>
            <a:extLst>
              <a:ext uri="{FF2B5EF4-FFF2-40B4-BE49-F238E27FC236}">
                <a16:creationId xmlns:a16="http://schemas.microsoft.com/office/drawing/2014/main" id="{D8365CE7-5E51-65C8-7524-4D55C10213AB}"/>
              </a:ext>
            </a:extLst>
          </p:cNvPr>
          <p:cNvSpPr/>
          <p:nvPr/>
        </p:nvSpPr>
        <p:spPr>
          <a:xfrm>
            <a:off x="4461057" y="1672475"/>
            <a:ext cx="1683164" cy="812125"/>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Arial"/>
              </a:rPr>
              <a:t>Daily </a:t>
            </a:r>
            <a:endParaRPr lang="en-US"/>
          </a:p>
          <a:p>
            <a:pPr algn="ctr"/>
            <a:r>
              <a:rPr lang="en-US">
                <a:cs typeface="Arial"/>
              </a:rPr>
              <a:t>Questionnaire</a:t>
            </a:r>
            <a:endParaRPr lang="en-US"/>
          </a:p>
        </p:txBody>
      </p:sp>
      <p:sp>
        <p:nvSpPr>
          <p:cNvPr id="22" name="Rectangle 21">
            <a:hlinkClick r:id="rId7"/>
            <a:extLst>
              <a:ext uri="{FF2B5EF4-FFF2-40B4-BE49-F238E27FC236}">
                <a16:creationId xmlns:a16="http://schemas.microsoft.com/office/drawing/2014/main" id="{04DC6D00-7CE2-067B-9188-0F8FBD894EE9}"/>
              </a:ext>
            </a:extLst>
          </p:cNvPr>
          <p:cNvSpPr/>
          <p:nvPr/>
        </p:nvSpPr>
        <p:spPr>
          <a:xfrm>
            <a:off x="4461057" y="2574633"/>
            <a:ext cx="1683164" cy="81212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Arial"/>
              </a:rPr>
              <a:t>Complete Tasks</a:t>
            </a:r>
          </a:p>
        </p:txBody>
      </p:sp>
      <p:sp>
        <p:nvSpPr>
          <p:cNvPr id="35" name="Rectangle 34">
            <a:hlinkClick r:id="rId7"/>
            <a:extLst>
              <a:ext uri="{FF2B5EF4-FFF2-40B4-BE49-F238E27FC236}">
                <a16:creationId xmlns:a16="http://schemas.microsoft.com/office/drawing/2014/main" id="{A1631515-0AF7-324B-4ADA-AE9FE990912A}"/>
              </a:ext>
            </a:extLst>
          </p:cNvPr>
          <p:cNvSpPr/>
          <p:nvPr/>
        </p:nvSpPr>
        <p:spPr>
          <a:xfrm>
            <a:off x="4461056" y="3484000"/>
            <a:ext cx="1683164" cy="812125"/>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Arial"/>
              </a:rPr>
              <a:t>Facility Orders</a:t>
            </a:r>
            <a:endParaRPr lang="en-US"/>
          </a:p>
        </p:txBody>
      </p:sp>
      <p:sp>
        <p:nvSpPr>
          <p:cNvPr id="36" name="Rectangle 35">
            <a:hlinkClick r:id="rId7"/>
            <a:extLst>
              <a:ext uri="{FF2B5EF4-FFF2-40B4-BE49-F238E27FC236}">
                <a16:creationId xmlns:a16="http://schemas.microsoft.com/office/drawing/2014/main" id="{4F713B9C-62C8-C250-45DA-9FAAE5996965}"/>
              </a:ext>
            </a:extLst>
          </p:cNvPr>
          <p:cNvSpPr/>
          <p:nvPr/>
        </p:nvSpPr>
        <p:spPr>
          <a:xfrm>
            <a:off x="6376839" y="1661670"/>
            <a:ext cx="1683164" cy="81212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Arial"/>
              </a:rPr>
              <a:t>Update Investigation</a:t>
            </a:r>
            <a:endParaRPr lang="en-US"/>
          </a:p>
        </p:txBody>
      </p:sp>
      <p:sp>
        <p:nvSpPr>
          <p:cNvPr id="37" name="Rectangle 36">
            <a:hlinkClick r:id="rId7"/>
            <a:extLst>
              <a:ext uri="{FF2B5EF4-FFF2-40B4-BE49-F238E27FC236}">
                <a16:creationId xmlns:a16="http://schemas.microsoft.com/office/drawing/2014/main" id="{B35F7E4E-D6DB-CD3C-93E6-56D8445C8909}"/>
              </a:ext>
            </a:extLst>
          </p:cNvPr>
          <p:cNvSpPr/>
          <p:nvPr/>
        </p:nvSpPr>
        <p:spPr>
          <a:xfrm>
            <a:off x="6376838" y="3484000"/>
            <a:ext cx="1683164" cy="81212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Arial"/>
              </a:rPr>
              <a:t>Update Investigation</a:t>
            </a:r>
            <a:endParaRPr lang="en-US"/>
          </a:p>
        </p:txBody>
      </p:sp>
      <p:sp>
        <p:nvSpPr>
          <p:cNvPr id="38" name="Rectangle 37">
            <a:hlinkClick r:id="rId11"/>
            <a:extLst>
              <a:ext uri="{FF2B5EF4-FFF2-40B4-BE49-F238E27FC236}">
                <a16:creationId xmlns:a16="http://schemas.microsoft.com/office/drawing/2014/main" id="{558657F5-A5FB-534F-E698-77F1E88A0B68}"/>
              </a:ext>
            </a:extLst>
          </p:cNvPr>
          <p:cNvSpPr/>
          <p:nvPr/>
        </p:nvSpPr>
        <p:spPr>
          <a:xfrm>
            <a:off x="6376381" y="2573553"/>
            <a:ext cx="1689455" cy="812125"/>
          </a:xfrm>
          <a:prstGeom prst="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t>Final </a:t>
            </a:r>
          </a:p>
          <a:p>
            <a:pPr algn="ctr"/>
            <a:r>
              <a:rPr lang="en-US"/>
              <a:t>AORF</a:t>
            </a:r>
            <a:endParaRPr lang="en-US">
              <a:cs typeface="Arial"/>
            </a:endParaRPr>
          </a:p>
        </p:txBody>
      </p:sp>
      <p:sp>
        <p:nvSpPr>
          <p:cNvPr id="39" name="Rectangle 38">
            <a:hlinkClick r:id="rId11"/>
            <a:extLst>
              <a:ext uri="{FF2B5EF4-FFF2-40B4-BE49-F238E27FC236}">
                <a16:creationId xmlns:a16="http://schemas.microsoft.com/office/drawing/2014/main" id="{DDD5B08C-82EA-9CD2-7371-D26FE57797D6}"/>
              </a:ext>
            </a:extLst>
          </p:cNvPr>
          <p:cNvSpPr/>
          <p:nvPr/>
        </p:nvSpPr>
        <p:spPr>
          <a:xfrm>
            <a:off x="6727767" y="6352998"/>
            <a:ext cx="1334476" cy="373616"/>
          </a:xfrm>
          <a:prstGeom prst="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a:cs typeface="Arial"/>
              </a:rPr>
              <a:t>PPHS</a:t>
            </a:r>
          </a:p>
        </p:txBody>
      </p:sp>
      <p:sp>
        <p:nvSpPr>
          <p:cNvPr id="46" name="Rectangle 45">
            <a:hlinkClick r:id="rId11"/>
            <a:extLst>
              <a:ext uri="{FF2B5EF4-FFF2-40B4-BE49-F238E27FC236}">
                <a16:creationId xmlns:a16="http://schemas.microsoft.com/office/drawing/2014/main" id="{073E4EBA-5222-20E5-B72F-1AC1CB138DAB}"/>
              </a:ext>
            </a:extLst>
          </p:cNvPr>
          <p:cNvSpPr/>
          <p:nvPr/>
        </p:nvSpPr>
        <p:spPr>
          <a:xfrm>
            <a:off x="5217460" y="6352998"/>
            <a:ext cx="1334476" cy="373616"/>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a:cs typeface="Arial"/>
              </a:rPr>
              <a:t>Facility</a:t>
            </a:r>
          </a:p>
        </p:txBody>
      </p:sp>
      <p:sp>
        <p:nvSpPr>
          <p:cNvPr id="52" name="Rectangle 51">
            <a:hlinkClick r:id="rId11"/>
            <a:extLst>
              <a:ext uri="{FF2B5EF4-FFF2-40B4-BE49-F238E27FC236}">
                <a16:creationId xmlns:a16="http://schemas.microsoft.com/office/drawing/2014/main" id="{CE1E17C7-17B9-9B11-4871-07BAA3CA1433}"/>
              </a:ext>
            </a:extLst>
          </p:cNvPr>
          <p:cNvSpPr/>
          <p:nvPr/>
        </p:nvSpPr>
        <p:spPr>
          <a:xfrm>
            <a:off x="3707152" y="6352998"/>
            <a:ext cx="1334476" cy="373616"/>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a:cs typeface="Arial"/>
              </a:rPr>
              <a:t>MOH</a:t>
            </a:r>
            <a:endParaRPr lang="en-US" sz="1200"/>
          </a:p>
        </p:txBody>
      </p:sp>
      <p:sp>
        <p:nvSpPr>
          <p:cNvPr id="53" name="Rectangle 52">
            <a:hlinkClick r:id="rId11"/>
            <a:extLst>
              <a:ext uri="{FF2B5EF4-FFF2-40B4-BE49-F238E27FC236}">
                <a16:creationId xmlns:a16="http://schemas.microsoft.com/office/drawing/2014/main" id="{0D54A166-1287-55F1-CE04-76793D4452BB}"/>
              </a:ext>
            </a:extLst>
          </p:cNvPr>
          <p:cNvSpPr/>
          <p:nvPr/>
        </p:nvSpPr>
        <p:spPr>
          <a:xfrm>
            <a:off x="2196845" y="6352998"/>
            <a:ext cx="1334476" cy="373616"/>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a:cs typeface="Arial"/>
              </a:rPr>
              <a:t>Epidemiologist</a:t>
            </a:r>
          </a:p>
        </p:txBody>
      </p:sp>
      <p:sp>
        <p:nvSpPr>
          <p:cNvPr id="54" name="Rectangle 53">
            <a:hlinkClick r:id="rId11"/>
            <a:extLst>
              <a:ext uri="{FF2B5EF4-FFF2-40B4-BE49-F238E27FC236}">
                <a16:creationId xmlns:a16="http://schemas.microsoft.com/office/drawing/2014/main" id="{A17EB8C2-4BDE-69AD-CF77-04BEFA05E109}"/>
              </a:ext>
            </a:extLst>
          </p:cNvPr>
          <p:cNvSpPr/>
          <p:nvPr/>
        </p:nvSpPr>
        <p:spPr>
          <a:xfrm>
            <a:off x="686538" y="6352998"/>
            <a:ext cx="1334476" cy="373616"/>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a:cs typeface="Arial"/>
              </a:rPr>
              <a:t>Investigation Team</a:t>
            </a:r>
            <a:endParaRPr lang="en-US" sz="1200"/>
          </a:p>
        </p:txBody>
      </p:sp>
    </p:spTree>
    <p:extLst>
      <p:ext uri="{BB962C8B-B14F-4D97-AF65-F5344CB8AC3E}">
        <p14:creationId xmlns:p14="http://schemas.microsoft.com/office/powerpoint/2010/main" val="33087424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073DB-11E1-7C2E-100A-BB0AD1B7C5D6}"/>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73C29A05-BF65-E271-84EA-7996AEC82A2F}"/>
              </a:ext>
            </a:extLst>
          </p:cNvPr>
          <p:cNvSpPr>
            <a:spLocks noGrp="1"/>
          </p:cNvSpPr>
          <p:nvPr>
            <p:ph type="body" sz="quarter" idx="13"/>
          </p:nvPr>
        </p:nvSpPr>
        <p:spPr>
          <a:xfrm>
            <a:off x="253092" y="138791"/>
            <a:ext cx="2758331" cy="383721"/>
          </a:xfrm>
        </p:spPr>
        <p:txBody>
          <a:bodyPr>
            <a:normAutofit fontScale="77500" lnSpcReduction="20000"/>
          </a:bodyPr>
          <a:lstStyle/>
          <a:p>
            <a:r>
              <a:rPr lang="en-US"/>
              <a:t>Outbreak Management Solution</a:t>
            </a:r>
          </a:p>
        </p:txBody>
      </p:sp>
      <p:sp>
        <p:nvSpPr>
          <p:cNvPr id="5" name="Slide Number Placeholder 4">
            <a:extLst>
              <a:ext uri="{FF2B5EF4-FFF2-40B4-BE49-F238E27FC236}">
                <a16:creationId xmlns:a16="http://schemas.microsoft.com/office/drawing/2014/main" id="{A4F48225-4FF3-984B-4CB2-D1AAC2ECF20F}"/>
              </a:ext>
            </a:extLst>
          </p:cNvPr>
          <p:cNvSpPr>
            <a:spLocks noGrp="1"/>
          </p:cNvSpPr>
          <p:nvPr>
            <p:ph type="sldNum" sz="quarter" idx="4"/>
          </p:nvPr>
        </p:nvSpPr>
        <p:spPr/>
        <p:txBody>
          <a:bodyPr/>
          <a:lstStyle/>
          <a:p>
            <a:fld id="{2639BB91-5DDD-4FF0-AA8B-B54FEC5F3DC9}" type="slidenum">
              <a:rPr lang="en-US" smtClean="0"/>
              <a:t>10</a:t>
            </a:fld>
            <a:endParaRPr lang="en-US"/>
          </a:p>
        </p:txBody>
      </p:sp>
      <p:sp>
        <p:nvSpPr>
          <p:cNvPr id="2" name="Title 1">
            <a:extLst>
              <a:ext uri="{FF2B5EF4-FFF2-40B4-BE49-F238E27FC236}">
                <a16:creationId xmlns:a16="http://schemas.microsoft.com/office/drawing/2014/main" id="{1170CA66-170F-D3B2-8C20-D5C87C006FE9}"/>
              </a:ext>
            </a:extLst>
          </p:cNvPr>
          <p:cNvSpPr>
            <a:spLocks noGrp="1"/>
          </p:cNvSpPr>
          <p:nvPr>
            <p:ph type="title"/>
          </p:nvPr>
        </p:nvSpPr>
        <p:spPr>
          <a:xfrm>
            <a:off x="3267456" y="14531"/>
            <a:ext cx="5553710" cy="631646"/>
          </a:xfrm>
        </p:spPr>
        <p:txBody>
          <a:bodyPr>
            <a:normAutofit fontScale="90000"/>
          </a:bodyPr>
          <a:lstStyle/>
          <a:p>
            <a:pPr algn="r"/>
            <a:r>
              <a:rPr lang="en-US"/>
              <a:t>AOMS Search</a:t>
            </a:r>
          </a:p>
        </p:txBody>
      </p:sp>
      <p:sp>
        <p:nvSpPr>
          <p:cNvPr id="3" name="Rounded Rectangle 2">
            <a:extLst>
              <a:ext uri="{FF2B5EF4-FFF2-40B4-BE49-F238E27FC236}">
                <a16:creationId xmlns:a16="http://schemas.microsoft.com/office/drawing/2014/main" id="{F5E31979-5323-BEC2-6566-BB818DAB08F1}"/>
              </a:ext>
            </a:extLst>
          </p:cNvPr>
          <p:cNvSpPr/>
          <p:nvPr/>
        </p:nvSpPr>
        <p:spPr>
          <a:xfrm>
            <a:off x="172591" y="890016"/>
            <a:ext cx="8853496" cy="5120640"/>
          </a:xfrm>
          <a:prstGeom prst="roundRect">
            <a:avLst>
              <a:gd name="adj" fmla="val 2501"/>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ctr"/>
            <a:r>
              <a:rPr lang="en-US" b="1">
                <a:solidFill>
                  <a:schemeClr val="tx1"/>
                </a:solidFill>
              </a:rPr>
              <a:t>Alberta Outbreak Management Solution (AOMS)</a:t>
            </a:r>
          </a:p>
        </p:txBody>
      </p:sp>
      <p:sp>
        <p:nvSpPr>
          <p:cNvPr id="13" name="Rounded Rectangle 12">
            <a:extLst>
              <a:ext uri="{FF2B5EF4-FFF2-40B4-BE49-F238E27FC236}">
                <a16:creationId xmlns:a16="http://schemas.microsoft.com/office/drawing/2014/main" id="{0E26939E-FA78-926E-BFA8-9801E98FD2F6}"/>
              </a:ext>
            </a:extLst>
          </p:cNvPr>
          <p:cNvSpPr/>
          <p:nvPr/>
        </p:nvSpPr>
        <p:spPr>
          <a:xfrm>
            <a:off x="256841" y="1383792"/>
            <a:ext cx="8604217" cy="4279392"/>
          </a:xfrm>
          <a:prstGeom prst="roundRect">
            <a:avLst>
              <a:gd name="adj" fmla="val 2501"/>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a:solidFill>
                <a:schemeClr val="accent5"/>
              </a:solidFill>
            </a:endParaRPr>
          </a:p>
        </p:txBody>
      </p:sp>
      <p:sp>
        <p:nvSpPr>
          <p:cNvPr id="14" name="Rectangle 13">
            <a:extLst>
              <a:ext uri="{FF2B5EF4-FFF2-40B4-BE49-F238E27FC236}">
                <a16:creationId xmlns:a16="http://schemas.microsoft.com/office/drawing/2014/main" id="{A8AAC7E5-E749-ABDF-3379-3A9BE57AA026}"/>
              </a:ext>
            </a:extLst>
          </p:cNvPr>
          <p:cNvSpPr/>
          <p:nvPr/>
        </p:nvSpPr>
        <p:spPr>
          <a:xfrm>
            <a:off x="1316755" y="2043946"/>
            <a:ext cx="1909519" cy="34137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0AAD03D3-D7F9-7413-0EC3-AE54EBA7C9CC}"/>
              </a:ext>
            </a:extLst>
          </p:cNvPr>
          <p:cNvSpPr txBox="1"/>
          <p:nvPr/>
        </p:nvSpPr>
        <p:spPr>
          <a:xfrm>
            <a:off x="434719" y="2029968"/>
            <a:ext cx="882036" cy="369332"/>
          </a:xfrm>
          <a:prstGeom prst="rect">
            <a:avLst/>
          </a:prstGeom>
          <a:noFill/>
        </p:spPr>
        <p:txBody>
          <a:bodyPr wrap="none" rtlCol="0">
            <a:spAutoFit/>
          </a:bodyPr>
          <a:lstStyle/>
          <a:p>
            <a:r>
              <a:rPr lang="en-US"/>
              <a:t>Search</a:t>
            </a:r>
          </a:p>
        </p:txBody>
      </p:sp>
      <p:graphicFrame>
        <p:nvGraphicFramePr>
          <p:cNvPr id="16" name="Table 15">
            <a:extLst>
              <a:ext uri="{FF2B5EF4-FFF2-40B4-BE49-F238E27FC236}">
                <a16:creationId xmlns:a16="http://schemas.microsoft.com/office/drawing/2014/main" id="{5E48CD79-3DD9-09F0-15C4-75103D4F6150}"/>
              </a:ext>
            </a:extLst>
          </p:cNvPr>
          <p:cNvGraphicFramePr>
            <a:graphicFrameLocks noGrp="1"/>
          </p:cNvGraphicFramePr>
          <p:nvPr>
            <p:extLst>
              <p:ext uri="{D42A27DB-BD31-4B8C-83A1-F6EECF244321}">
                <p14:modId xmlns:p14="http://schemas.microsoft.com/office/powerpoint/2010/main" val="1524412112"/>
              </p:ext>
            </p:extLst>
          </p:nvPr>
        </p:nvGraphicFramePr>
        <p:xfrm>
          <a:off x="434719" y="2622296"/>
          <a:ext cx="8334448" cy="2169381"/>
        </p:xfrm>
        <a:graphic>
          <a:graphicData uri="http://schemas.openxmlformats.org/drawingml/2006/table">
            <a:tbl>
              <a:tblPr firstRow="1" bandRow="1">
                <a:tableStyleId>{073A0DAA-6AF3-43AB-8588-CEC1D06C72B9}</a:tableStyleId>
              </a:tblPr>
              <a:tblGrid>
                <a:gridCol w="762298">
                  <a:extLst>
                    <a:ext uri="{9D8B030D-6E8A-4147-A177-3AD203B41FA5}">
                      <a16:colId xmlns:a16="http://schemas.microsoft.com/office/drawing/2014/main" val="1226098795"/>
                    </a:ext>
                  </a:extLst>
                </a:gridCol>
                <a:gridCol w="1202991">
                  <a:extLst>
                    <a:ext uri="{9D8B030D-6E8A-4147-A177-3AD203B41FA5}">
                      <a16:colId xmlns:a16="http://schemas.microsoft.com/office/drawing/2014/main" val="2327929776"/>
                    </a:ext>
                  </a:extLst>
                </a:gridCol>
                <a:gridCol w="755944">
                  <a:extLst>
                    <a:ext uri="{9D8B030D-6E8A-4147-A177-3AD203B41FA5}">
                      <a16:colId xmlns:a16="http://schemas.microsoft.com/office/drawing/2014/main" val="1006828560"/>
                    </a:ext>
                  </a:extLst>
                </a:gridCol>
                <a:gridCol w="724542">
                  <a:extLst>
                    <a:ext uri="{9D8B030D-6E8A-4147-A177-3AD203B41FA5}">
                      <a16:colId xmlns:a16="http://schemas.microsoft.com/office/drawing/2014/main" val="1773031606"/>
                    </a:ext>
                  </a:extLst>
                </a:gridCol>
                <a:gridCol w="621342">
                  <a:extLst>
                    <a:ext uri="{9D8B030D-6E8A-4147-A177-3AD203B41FA5}">
                      <a16:colId xmlns:a16="http://schemas.microsoft.com/office/drawing/2014/main" val="2480821750"/>
                    </a:ext>
                  </a:extLst>
                </a:gridCol>
                <a:gridCol w="774762">
                  <a:extLst>
                    <a:ext uri="{9D8B030D-6E8A-4147-A177-3AD203B41FA5}">
                      <a16:colId xmlns:a16="http://schemas.microsoft.com/office/drawing/2014/main" val="406044705"/>
                    </a:ext>
                  </a:extLst>
                </a:gridCol>
                <a:gridCol w="992234">
                  <a:extLst>
                    <a:ext uri="{9D8B030D-6E8A-4147-A177-3AD203B41FA5}">
                      <a16:colId xmlns:a16="http://schemas.microsoft.com/office/drawing/2014/main" val="1214218900"/>
                    </a:ext>
                  </a:extLst>
                </a:gridCol>
                <a:gridCol w="833445">
                  <a:extLst>
                    <a:ext uri="{9D8B030D-6E8A-4147-A177-3AD203B41FA5}">
                      <a16:colId xmlns:a16="http://schemas.microsoft.com/office/drawing/2014/main" val="3182481678"/>
                    </a:ext>
                  </a:extLst>
                </a:gridCol>
                <a:gridCol w="833445">
                  <a:extLst>
                    <a:ext uri="{9D8B030D-6E8A-4147-A177-3AD203B41FA5}">
                      <a16:colId xmlns:a16="http://schemas.microsoft.com/office/drawing/2014/main" val="3197957027"/>
                    </a:ext>
                  </a:extLst>
                </a:gridCol>
                <a:gridCol w="833445">
                  <a:extLst>
                    <a:ext uri="{9D8B030D-6E8A-4147-A177-3AD203B41FA5}">
                      <a16:colId xmlns:a16="http://schemas.microsoft.com/office/drawing/2014/main" val="1792354439"/>
                    </a:ext>
                  </a:extLst>
                </a:gridCol>
              </a:tblGrid>
              <a:tr h="442024">
                <a:tc>
                  <a:txBody>
                    <a:bodyPr/>
                    <a:lstStyle/>
                    <a:p>
                      <a:pPr algn="ctr"/>
                      <a:r>
                        <a:rPr lang="en-US" sz="900"/>
                        <a:t>Outbreak ID</a:t>
                      </a:r>
                    </a:p>
                  </a:txBody>
                  <a:tcPr/>
                </a:tc>
                <a:tc>
                  <a:txBody>
                    <a:bodyPr/>
                    <a:lstStyle/>
                    <a:p>
                      <a:pPr algn="ctr"/>
                      <a:r>
                        <a:rPr lang="en-US" sz="900"/>
                        <a:t>Outbreak Name</a:t>
                      </a:r>
                    </a:p>
                  </a:txBody>
                  <a:tcPr/>
                </a:tc>
                <a:tc>
                  <a:txBody>
                    <a:bodyPr/>
                    <a:lstStyle/>
                    <a:p>
                      <a:pPr algn="ctr"/>
                      <a:r>
                        <a:rPr lang="en-US" sz="900"/>
                        <a:t>Date Opened</a:t>
                      </a:r>
                    </a:p>
                  </a:txBody>
                  <a:tcPr/>
                </a:tc>
                <a:tc>
                  <a:txBody>
                    <a:bodyPr/>
                    <a:lstStyle/>
                    <a:p>
                      <a:pPr algn="ctr"/>
                      <a:r>
                        <a:rPr lang="en-US" sz="900"/>
                        <a:t>Date Closed</a:t>
                      </a:r>
                    </a:p>
                  </a:txBody>
                  <a:tcPr/>
                </a:tc>
                <a:tc>
                  <a:txBody>
                    <a:bodyPr/>
                    <a:lstStyle/>
                    <a:p>
                      <a:pPr algn="ctr"/>
                      <a:r>
                        <a:rPr lang="en-US" sz="900"/>
                        <a:t>Status</a:t>
                      </a:r>
                    </a:p>
                  </a:txBody>
                  <a:tcPr/>
                </a:tc>
                <a:tc>
                  <a:txBody>
                    <a:bodyPr/>
                    <a:lstStyle/>
                    <a:p>
                      <a:pPr algn="ctr"/>
                      <a:r>
                        <a:rPr lang="en-US" sz="900"/>
                        <a:t>Organism</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a:t>Facility Type</a:t>
                      </a:r>
                    </a:p>
                    <a:p>
                      <a:pPr algn="ctr"/>
                      <a:endParaRPr lang="en-US" sz="900"/>
                    </a:p>
                  </a:txBody>
                  <a:tcPr/>
                </a:tc>
                <a:tc>
                  <a:txBody>
                    <a:bodyPr/>
                    <a:lstStyle/>
                    <a:p>
                      <a:pPr algn="ctr"/>
                      <a:r>
                        <a:rPr lang="en-US" sz="900"/>
                        <a:t>Facility Name</a:t>
                      </a:r>
                    </a:p>
                  </a:txBody>
                  <a:tcPr/>
                </a:tc>
                <a:tc>
                  <a:txBody>
                    <a:bodyPr/>
                    <a:lstStyle/>
                    <a:p>
                      <a:pPr lvl="0" algn="ctr">
                        <a:buNone/>
                      </a:pPr>
                      <a:r>
                        <a:rPr lang="en-US" sz="900"/>
                        <a:t>Investigator</a:t>
                      </a:r>
                    </a:p>
                  </a:txBody>
                  <a:tcPr/>
                </a:tc>
                <a:tc>
                  <a:txBody>
                    <a:bodyPr/>
                    <a:lstStyle/>
                    <a:p>
                      <a:pPr lvl="0" algn="ctr">
                        <a:buNone/>
                      </a:pPr>
                      <a:r>
                        <a:rPr lang="en-US" sz="900"/>
                        <a:t>Region</a:t>
                      </a:r>
                    </a:p>
                  </a:txBody>
                  <a:tcPr/>
                </a:tc>
                <a:extLst>
                  <a:ext uri="{0D108BD9-81ED-4DB2-BD59-A6C34878D82A}">
                    <a16:rowId xmlns:a16="http://schemas.microsoft.com/office/drawing/2014/main" val="3664739466"/>
                  </a:ext>
                </a:extLst>
              </a:tr>
              <a:tr h="303455">
                <a:tc>
                  <a:txBody>
                    <a:bodyPr/>
                    <a:lstStyle/>
                    <a:p>
                      <a:r>
                        <a:rPr lang="en-US" sz="900" u="sng"/>
                        <a:t>00001</a:t>
                      </a:r>
                    </a:p>
                  </a:txBody>
                  <a:tcPr anchor="ctr"/>
                </a:tc>
                <a:tc>
                  <a:txBody>
                    <a:bodyPr/>
                    <a:lstStyle/>
                    <a:p>
                      <a:pPr algn="l" fontAlgn="b">
                        <a:buNone/>
                      </a:pPr>
                      <a:r>
                        <a:rPr lang="en-US" sz="900" u="none" kern="1200">
                          <a:solidFill>
                            <a:schemeClr val="dk1"/>
                          </a:solidFill>
                          <a:latin typeface="+mn-lt"/>
                          <a:ea typeface="+mn-ea"/>
                          <a:cs typeface="+mn-cs"/>
                        </a:rPr>
                        <a:t> </a:t>
                      </a:r>
                    </a:p>
                  </a:txBody>
                  <a:tcPr marL="6350" marR="6350" marT="6350" anchor="ctr"/>
                </a:tc>
                <a:tc>
                  <a:txBody>
                    <a:bodyPr/>
                    <a:lstStyle/>
                    <a:p>
                      <a:pPr lvl="0" algn="l">
                        <a:buNone/>
                      </a:pPr>
                      <a:r>
                        <a:rPr lang="en-US" sz="900"/>
                        <a:t>May 14, 26</a:t>
                      </a:r>
                    </a:p>
                  </a:txBody>
                  <a:tcPr anchor="ctr"/>
                </a:tc>
                <a:tc>
                  <a:txBody>
                    <a:bodyPr/>
                    <a:lstStyle/>
                    <a:p>
                      <a:pPr algn="l"/>
                      <a:endParaRPr lang="en-US" sz="900"/>
                    </a:p>
                  </a:txBody>
                  <a:tcPr anchor="ctr"/>
                </a:tc>
                <a:tc>
                  <a:txBody>
                    <a:bodyPr/>
                    <a:lstStyle/>
                    <a:p>
                      <a:pPr lvl="0" algn="l">
                        <a:buNone/>
                      </a:pPr>
                      <a:r>
                        <a:rPr lang="en-US" sz="900"/>
                        <a:t>Open</a:t>
                      </a:r>
                    </a:p>
                  </a:txBody>
                  <a:tcPr anchor="ctr"/>
                </a:tc>
                <a:tc>
                  <a:txBody>
                    <a:bodyPr/>
                    <a:lstStyle/>
                    <a:p>
                      <a:pPr algn="l"/>
                      <a:endParaRPr lang="en-US" sz="900"/>
                    </a:p>
                  </a:txBody>
                  <a:tcPr anchor="ctr"/>
                </a:tc>
                <a:tc>
                  <a:txBody>
                    <a:bodyPr/>
                    <a:lstStyle/>
                    <a:p>
                      <a:pPr marL="0" marR="0" lvl="0" indent="0" algn="l" defTabSz="914400">
                        <a:lnSpc>
                          <a:spcPct val="100000"/>
                        </a:lnSpc>
                        <a:spcBef>
                          <a:spcPts val="0"/>
                        </a:spcBef>
                        <a:spcAft>
                          <a:spcPts val="0"/>
                        </a:spcAft>
                        <a:buNone/>
                        <a:tabLst/>
                        <a:defRPr/>
                      </a:pPr>
                      <a:r>
                        <a:rPr lang="en-US" sz="900"/>
                        <a:t>Daycare</a:t>
                      </a:r>
                    </a:p>
                  </a:txBody>
                  <a:tcPr anchor="ctr"/>
                </a:tc>
                <a:tc>
                  <a:txBody>
                    <a:bodyPr/>
                    <a:lstStyle/>
                    <a:p>
                      <a:pPr algn="l"/>
                      <a:r>
                        <a:rPr lang="en-US" sz="900" u="none" kern="1200">
                          <a:solidFill>
                            <a:schemeClr val="dk1"/>
                          </a:solidFill>
                          <a:latin typeface="+mn-lt"/>
                          <a:ea typeface="+mn-ea"/>
                          <a:cs typeface="+mn-cs"/>
                        </a:rPr>
                        <a:t>Sunny Skies</a:t>
                      </a:r>
                      <a:endParaRPr lang="en-US" sz="900"/>
                    </a:p>
                  </a:txBody>
                  <a:tcPr anchor="ctr"/>
                </a:tc>
                <a:tc>
                  <a:txBody>
                    <a:bodyPr/>
                    <a:lstStyle/>
                    <a:p>
                      <a:pPr lvl="0" algn="l">
                        <a:buNone/>
                      </a:pPr>
                      <a:r>
                        <a:rPr lang="en-US" sz="900"/>
                        <a:t>Epi Demo</a:t>
                      </a:r>
                    </a:p>
                  </a:txBody>
                  <a:tcPr anchor="ctr"/>
                </a:tc>
                <a:tc>
                  <a:txBody>
                    <a:bodyPr/>
                    <a:lstStyle/>
                    <a:p>
                      <a:pPr lvl="0" algn="l">
                        <a:buNone/>
                      </a:pPr>
                      <a:r>
                        <a:rPr lang="en-US" sz="900"/>
                        <a:t>South</a:t>
                      </a:r>
                    </a:p>
                  </a:txBody>
                  <a:tcPr anchor="ctr"/>
                </a:tc>
                <a:extLst>
                  <a:ext uri="{0D108BD9-81ED-4DB2-BD59-A6C34878D82A}">
                    <a16:rowId xmlns:a16="http://schemas.microsoft.com/office/drawing/2014/main" val="132873861"/>
                  </a:ext>
                </a:extLst>
              </a:tr>
              <a:tr h="358530">
                <a:tc>
                  <a:txBody>
                    <a:bodyPr/>
                    <a:lstStyle/>
                    <a:p>
                      <a:endParaRPr lang="en-US" sz="900"/>
                    </a:p>
                  </a:txBody>
                  <a:tcPr anchor="ctr"/>
                </a:tc>
                <a:tc>
                  <a:txBody>
                    <a:bodyPr/>
                    <a:lstStyle/>
                    <a:p>
                      <a:endParaRPr lang="en-US" sz="900"/>
                    </a:p>
                  </a:txBody>
                  <a:tcPr anchor="ctr"/>
                </a:tc>
                <a:tc>
                  <a:txBody>
                    <a:bodyPr/>
                    <a:lstStyle/>
                    <a:p>
                      <a:endParaRPr lang="en-US" sz="900"/>
                    </a:p>
                  </a:txBody>
                  <a:tcPr anchor="ctr"/>
                </a:tc>
                <a:tc>
                  <a:txBody>
                    <a:bodyPr/>
                    <a:lstStyle/>
                    <a:p>
                      <a:endParaRPr lang="en-US" sz="900"/>
                    </a:p>
                  </a:txBody>
                  <a:tcPr anchor="ctr"/>
                </a:tc>
                <a:tc>
                  <a:txBody>
                    <a:bodyPr/>
                    <a:lstStyle/>
                    <a:p>
                      <a:endParaRPr lang="en-US" sz="900"/>
                    </a:p>
                  </a:txBody>
                  <a:tcPr anchor="ctr"/>
                </a:tc>
                <a:tc>
                  <a:txBody>
                    <a:bodyPr/>
                    <a:lstStyle/>
                    <a:p>
                      <a:endParaRPr lang="en-US" sz="900"/>
                    </a:p>
                  </a:txBody>
                  <a:tcPr anchor="ctr"/>
                </a:tc>
                <a:tc>
                  <a:txBody>
                    <a:bodyPr/>
                    <a:lstStyle/>
                    <a:p>
                      <a:endParaRPr lang="en-US" sz="900"/>
                    </a:p>
                  </a:txBody>
                  <a:tcPr anchor="ctr"/>
                </a:tc>
                <a:tc>
                  <a:txBody>
                    <a:bodyPr/>
                    <a:lstStyle/>
                    <a:p>
                      <a:endParaRPr lang="en-US" sz="900"/>
                    </a:p>
                  </a:txBody>
                  <a:tcPr anchor="ctr"/>
                </a:tc>
                <a:tc>
                  <a:txBody>
                    <a:bodyPr/>
                    <a:lstStyle/>
                    <a:p>
                      <a:pPr lvl="0">
                        <a:buNone/>
                      </a:pPr>
                      <a:endParaRPr lang="en-US" sz="900"/>
                    </a:p>
                  </a:txBody>
                  <a:tcPr anchor="ctr"/>
                </a:tc>
                <a:tc>
                  <a:txBody>
                    <a:bodyPr/>
                    <a:lstStyle/>
                    <a:p>
                      <a:pPr lvl="0">
                        <a:buNone/>
                      </a:pPr>
                      <a:endParaRPr lang="en-US" sz="900"/>
                    </a:p>
                  </a:txBody>
                  <a:tcPr anchor="ctr"/>
                </a:tc>
                <a:extLst>
                  <a:ext uri="{0D108BD9-81ED-4DB2-BD59-A6C34878D82A}">
                    <a16:rowId xmlns:a16="http://schemas.microsoft.com/office/drawing/2014/main" val="2918427994"/>
                  </a:ext>
                </a:extLst>
              </a:tr>
              <a:tr h="348312">
                <a:tc>
                  <a:txBody>
                    <a:bodyPr/>
                    <a:lstStyle/>
                    <a:p>
                      <a:endParaRPr lang="en-US" sz="900"/>
                    </a:p>
                  </a:txBody>
                  <a:tcPr anchor="ctr"/>
                </a:tc>
                <a:tc>
                  <a:txBody>
                    <a:bodyPr/>
                    <a:lstStyle/>
                    <a:p>
                      <a:endParaRPr lang="en-US" sz="900"/>
                    </a:p>
                  </a:txBody>
                  <a:tcPr anchor="ctr"/>
                </a:tc>
                <a:tc>
                  <a:txBody>
                    <a:bodyPr/>
                    <a:lstStyle/>
                    <a:p>
                      <a:endParaRPr lang="en-US" sz="900"/>
                    </a:p>
                  </a:txBody>
                  <a:tcPr anchor="ctr"/>
                </a:tc>
                <a:tc>
                  <a:txBody>
                    <a:bodyPr/>
                    <a:lstStyle/>
                    <a:p>
                      <a:endParaRPr lang="en-US" sz="900"/>
                    </a:p>
                  </a:txBody>
                  <a:tcPr anchor="ctr"/>
                </a:tc>
                <a:tc>
                  <a:txBody>
                    <a:bodyPr/>
                    <a:lstStyle/>
                    <a:p>
                      <a:endParaRPr lang="en-US" sz="900"/>
                    </a:p>
                  </a:txBody>
                  <a:tcPr anchor="ctr"/>
                </a:tc>
                <a:tc>
                  <a:txBody>
                    <a:bodyPr/>
                    <a:lstStyle/>
                    <a:p>
                      <a:endParaRPr lang="en-US" sz="900"/>
                    </a:p>
                  </a:txBody>
                  <a:tcPr anchor="ctr"/>
                </a:tc>
                <a:tc>
                  <a:txBody>
                    <a:bodyPr/>
                    <a:lstStyle/>
                    <a:p>
                      <a:endParaRPr lang="en-US" sz="900"/>
                    </a:p>
                  </a:txBody>
                  <a:tcPr anchor="ctr"/>
                </a:tc>
                <a:tc>
                  <a:txBody>
                    <a:bodyPr/>
                    <a:lstStyle/>
                    <a:p>
                      <a:endParaRPr lang="en-US" sz="900"/>
                    </a:p>
                  </a:txBody>
                  <a:tcPr anchor="ctr"/>
                </a:tc>
                <a:tc>
                  <a:txBody>
                    <a:bodyPr/>
                    <a:lstStyle/>
                    <a:p>
                      <a:pPr lvl="0">
                        <a:buNone/>
                      </a:pPr>
                      <a:endParaRPr lang="en-US" sz="900"/>
                    </a:p>
                  </a:txBody>
                  <a:tcPr anchor="ctr"/>
                </a:tc>
                <a:tc>
                  <a:txBody>
                    <a:bodyPr/>
                    <a:lstStyle/>
                    <a:p>
                      <a:pPr lvl="0">
                        <a:buNone/>
                      </a:pPr>
                      <a:endParaRPr lang="en-US" sz="900"/>
                    </a:p>
                  </a:txBody>
                  <a:tcPr anchor="ctr"/>
                </a:tc>
                <a:extLst>
                  <a:ext uri="{0D108BD9-81ED-4DB2-BD59-A6C34878D82A}">
                    <a16:rowId xmlns:a16="http://schemas.microsoft.com/office/drawing/2014/main" val="2672856278"/>
                  </a:ext>
                </a:extLst>
              </a:tr>
              <a:tr h="358530">
                <a:tc>
                  <a:txBody>
                    <a:bodyPr/>
                    <a:lstStyle/>
                    <a:p>
                      <a:endParaRPr lang="en-US" sz="900"/>
                    </a:p>
                  </a:txBody>
                  <a:tcPr anchor="ctr"/>
                </a:tc>
                <a:tc>
                  <a:txBody>
                    <a:bodyPr/>
                    <a:lstStyle/>
                    <a:p>
                      <a:endParaRPr lang="en-US" sz="900"/>
                    </a:p>
                  </a:txBody>
                  <a:tcPr anchor="ctr"/>
                </a:tc>
                <a:tc>
                  <a:txBody>
                    <a:bodyPr/>
                    <a:lstStyle/>
                    <a:p>
                      <a:endParaRPr lang="en-US" sz="900"/>
                    </a:p>
                  </a:txBody>
                  <a:tcPr anchor="ctr"/>
                </a:tc>
                <a:tc>
                  <a:txBody>
                    <a:bodyPr/>
                    <a:lstStyle/>
                    <a:p>
                      <a:endParaRPr lang="en-US" sz="900"/>
                    </a:p>
                  </a:txBody>
                  <a:tcPr anchor="ctr"/>
                </a:tc>
                <a:tc>
                  <a:txBody>
                    <a:bodyPr/>
                    <a:lstStyle/>
                    <a:p>
                      <a:endParaRPr lang="en-US" sz="900"/>
                    </a:p>
                  </a:txBody>
                  <a:tcPr anchor="ctr"/>
                </a:tc>
                <a:tc>
                  <a:txBody>
                    <a:bodyPr/>
                    <a:lstStyle/>
                    <a:p>
                      <a:endParaRPr lang="en-US" sz="900"/>
                    </a:p>
                  </a:txBody>
                  <a:tcPr anchor="ctr"/>
                </a:tc>
                <a:tc>
                  <a:txBody>
                    <a:bodyPr/>
                    <a:lstStyle/>
                    <a:p>
                      <a:endParaRPr lang="en-US" sz="900"/>
                    </a:p>
                  </a:txBody>
                  <a:tcPr anchor="ctr"/>
                </a:tc>
                <a:tc>
                  <a:txBody>
                    <a:bodyPr/>
                    <a:lstStyle/>
                    <a:p>
                      <a:endParaRPr lang="en-US" sz="900"/>
                    </a:p>
                  </a:txBody>
                  <a:tcPr anchor="ctr"/>
                </a:tc>
                <a:tc>
                  <a:txBody>
                    <a:bodyPr/>
                    <a:lstStyle/>
                    <a:p>
                      <a:pPr lvl="0">
                        <a:buNone/>
                      </a:pPr>
                      <a:endParaRPr lang="en-US" sz="900"/>
                    </a:p>
                  </a:txBody>
                  <a:tcPr anchor="ctr"/>
                </a:tc>
                <a:tc>
                  <a:txBody>
                    <a:bodyPr/>
                    <a:lstStyle/>
                    <a:p>
                      <a:pPr lvl="0">
                        <a:buNone/>
                      </a:pPr>
                      <a:endParaRPr lang="en-US" sz="900"/>
                    </a:p>
                  </a:txBody>
                  <a:tcPr anchor="ctr"/>
                </a:tc>
                <a:extLst>
                  <a:ext uri="{0D108BD9-81ED-4DB2-BD59-A6C34878D82A}">
                    <a16:rowId xmlns:a16="http://schemas.microsoft.com/office/drawing/2014/main" val="3873062857"/>
                  </a:ext>
                </a:extLst>
              </a:tr>
              <a:tr h="358530">
                <a:tc>
                  <a:txBody>
                    <a:bodyPr/>
                    <a:lstStyle/>
                    <a:p>
                      <a:endParaRPr lang="en-US" sz="900"/>
                    </a:p>
                  </a:txBody>
                  <a:tcPr anchor="ctr"/>
                </a:tc>
                <a:tc>
                  <a:txBody>
                    <a:bodyPr/>
                    <a:lstStyle/>
                    <a:p>
                      <a:endParaRPr lang="en-US" sz="900"/>
                    </a:p>
                  </a:txBody>
                  <a:tcPr anchor="ctr"/>
                </a:tc>
                <a:tc>
                  <a:txBody>
                    <a:bodyPr/>
                    <a:lstStyle/>
                    <a:p>
                      <a:endParaRPr lang="en-US" sz="900"/>
                    </a:p>
                  </a:txBody>
                  <a:tcPr anchor="ctr"/>
                </a:tc>
                <a:tc>
                  <a:txBody>
                    <a:bodyPr/>
                    <a:lstStyle/>
                    <a:p>
                      <a:endParaRPr lang="en-US" sz="900"/>
                    </a:p>
                  </a:txBody>
                  <a:tcPr anchor="ctr"/>
                </a:tc>
                <a:tc>
                  <a:txBody>
                    <a:bodyPr/>
                    <a:lstStyle/>
                    <a:p>
                      <a:endParaRPr lang="en-US" sz="900"/>
                    </a:p>
                  </a:txBody>
                  <a:tcPr anchor="ctr"/>
                </a:tc>
                <a:tc>
                  <a:txBody>
                    <a:bodyPr/>
                    <a:lstStyle/>
                    <a:p>
                      <a:endParaRPr lang="en-US" sz="900"/>
                    </a:p>
                  </a:txBody>
                  <a:tcPr anchor="ctr"/>
                </a:tc>
                <a:tc>
                  <a:txBody>
                    <a:bodyPr/>
                    <a:lstStyle/>
                    <a:p>
                      <a:endParaRPr lang="en-US" sz="900"/>
                    </a:p>
                  </a:txBody>
                  <a:tcPr anchor="ctr"/>
                </a:tc>
                <a:tc>
                  <a:txBody>
                    <a:bodyPr/>
                    <a:lstStyle/>
                    <a:p>
                      <a:endParaRPr lang="en-US" sz="900"/>
                    </a:p>
                  </a:txBody>
                  <a:tcPr anchor="ctr"/>
                </a:tc>
                <a:tc>
                  <a:txBody>
                    <a:bodyPr/>
                    <a:lstStyle/>
                    <a:p>
                      <a:pPr lvl="0">
                        <a:buNone/>
                      </a:pPr>
                      <a:endParaRPr lang="en-US" sz="900"/>
                    </a:p>
                  </a:txBody>
                  <a:tcPr anchor="ctr"/>
                </a:tc>
                <a:tc>
                  <a:txBody>
                    <a:bodyPr/>
                    <a:lstStyle/>
                    <a:p>
                      <a:pPr lvl="0">
                        <a:buNone/>
                      </a:pPr>
                      <a:endParaRPr lang="en-US" sz="900"/>
                    </a:p>
                  </a:txBody>
                  <a:tcPr anchor="ctr"/>
                </a:tc>
                <a:extLst>
                  <a:ext uri="{0D108BD9-81ED-4DB2-BD59-A6C34878D82A}">
                    <a16:rowId xmlns:a16="http://schemas.microsoft.com/office/drawing/2014/main" val="1565406522"/>
                  </a:ext>
                </a:extLst>
              </a:tr>
            </a:tbl>
          </a:graphicData>
        </a:graphic>
      </p:graphicFrame>
      <p:sp>
        <p:nvSpPr>
          <p:cNvPr id="17" name="Rounded Rectangle 16">
            <a:hlinkClick r:id="rId3" action="ppaction://hlinksldjump"/>
            <a:extLst>
              <a:ext uri="{FF2B5EF4-FFF2-40B4-BE49-F238E27FC236}">
                <a16:creationId xmlns:a16="http://schemas.microsoft.com/office/drawing/2014/main" id="{709A4ADC-56D9-5F53-EF2E-5632F02590FC}"/>
              </a:ext>
            </a:extLst>
          </p:cNvPr>
          <p:cNvSpPr/>
          <p:nvPr/>
        </p:nvSpPr>
        <p:spPr>
          <a:xfrm>
            <a:off x="6812645" y="2043946"/>
            <a:ext cx="1909519" cy="355354"/>
          </a:xfrm>
          <a:prstGeom prst="roundRect">
            <a:avLst/>
          </a:prstGeom>
          <a:solidFill>
            <a:schemeClr val="bg1">
              <a:lumMod val="50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solidFill>
                  <a:schemeClr val="bg1"/>
                </a:solidFill>
                <a:hlinkClick r:id="rId3" action="ppaction://hlinksldjump">
                  <a:extLst>
                    <a:ext uri="{A12FA001-AC4F-418D-AE19-62706E023703}">
                      <ahyp:hlinkClr xmlns:ahyp="http://schemas.microsoft.com/office/drawing/2018/hyperlinkcolor" val="tx"/>
                    </a:ext>
                  </a:extLst>
                </a:hlinkClick>
              </a:rPr>
              <a:t>Create Outbreak</a:t>
            </a:r>
            <a:endParaRPr lang="en-US">
              <a:solidFill>
                <a:schemeClr val="bg1"/>
              </a:solidFill>
            </a:endParaRPr>
          </a:p>
        </p:txBody>
      </p:sp>
      <p:sp>
        <p:nvSpPr>
          <p:cNvPr id="18" name="Rounded Rectangle 17">
            <a:extLst>
              <a:ext uri="{FF2B5EF4-FFF2-40B4-BE49-F238E27FC236}">
                <a16:creationId xmlns:a16="http://schemas.microsoft.com/office/drawing/2014/main" id="{3194AB5A-93B5-22BA-95D5-EAFCFD34C3DC}"/>
              </a:ext>
            </a:extLst>
          </p:cNvPr>
          <p:cNvSpPr/>
          <p:nvPr/>
        </p:nvSpPr>
        <p:spPr>
          <a:xfrm>
            <a:off x="4736705" y="2043946"/>
            <a:ext cx="1909519" cy="355354"/>
          </a:xfrm>
          <a:prstGeom prst="roundRect">
            <a:avLst/>
          </a:prstGeom>
          <a:solidFill>
            <a:schemeClr val="bg1">
              <a:lumMod val="50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t>Export View</a:t>
            </a:r>
          </a:p>
        </p:txBody>
      </p:sp>
      <p:grpSp>
        <p:nvGrpSpPr>
          <p:cNvPr id="12" name="Group 11">
            <a:extLst>
              <a:ext uri="{FF2B5EF4-FFF2-40B4-BE49-F238E27FC236}">
                <a16:creationId xmlns:a16="http://schemas.microsoft.com/office/drawing/2014/main" id="{91273248-E07E-17AD-8BD5-C6F12C80E8FE}"/>
              </a:ext>
            </a:extLst>
          </p:cNvPr>
          <p:cNvGrpSpPr/>
          <p:nvPr/>
        </p:nvGrpSpPr>
        <p:grpSpPr>
          <a:xfrm>
            <a:off x="257992" y="1372140"/>
            <a:ext cx="8603066" cy="378649"/>
            <a:chOff x="314012" y="1028086"/>
            <a:chExt cx="8687316" cy="378649"/>
          </a:xfrm>
        </p:grpSpPr>
        <p:sp>
          <p:nvSpPr>
            <p:cNvPr id="19" name="Rounded Rectangle 6">
              <a:extLst>
                <a:ext uri="{FF2B5EF4-FFF2-40B4-BE49-F238E27FC236}">
                  <a16:creationId xmlns:a16="http://schemas.microsoft.com/office/drawing/2014/main" id="{79B2F96A-F949-7E94-3AAB-49A790309859}"/>
                </a:ext>
              </a:extLst>
            </p:cNvPr>
            <p:cNvSpPr/>
            <p:nvPr/>
          </p:nvSpPr>
          <p:spPr>
            <a:xfrm>
              <a:off x="314012" y="1028086"/>
              <a:ext cx="2173164" cy="371856"/>
            </a:xfrm>
            <a:prstGeom prst="roundRect">
              <a:avLst/>
            </a:prstGeom>
            <a:solidFill>
              <a:schemeClr val="bg1">
                <a:lumMod val="85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600"/>
                <a:t>Search</a:t>
              </a:r>
            </a:p>
          </p:txBody>
        </p:sp>
        <p:sp>
          <p:nvSpPr>
            <p:cNvPr id="20" name="Rounded Rectangle 7">
              <a:extLst>
                <a:ext uri="{FF2B5EF4-FFF2-40B4-BE49-F238E27FC236}">
                  <a16:creationId xmlns:a16="http://schemas.microsoft.com/office/drawing/2014/main" id="{075852F8-3A95-26AE-3795-ECC9EF42799E}"/>
                </a:ext>
              </a:extLst>
            </p:cNvPr>
            <p:cNvSpPr/>
            <p:nvPr/>
          </p:nvSpPr>
          <p:spPr>
            <a:xfrm>
              <a:off x="2487176" y="1028086"/>
              <a:ext cx="2173164" cy="371856"/>
            </a:xfrm>
            <a:prstGeom prst="roundRect">
              <a:avLst/>
            </a:prstGeom>
            <a:solidFill>
              <a:schemeClr val="bg1">
                <a:lumMod val="75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600"/>
                <a:t>Investigation</a:t>
              </a:r>
            </a:p>
          </p:txBody>
        </p:sp>
        <p:sp>
          <p:nvSpPr>
            <p:cNvPr id="21" name="Rounded Rectangle 9">
              <a:extLst>
                <a:ext uri="{FF2B5EF4-FFF2-40B4-BE49-F238E27FC236}">
                  <a16:creationId xmlns:a16="http://schemas.microsoft.com/office/drawing/2014/main" id="{43664496-8DD9-EA1B-E5E3-1FE2D7573E2A}"/>
                </a:ext>
              </a:extLst>
            </p:cNvPr>
            <p:cNvSpPr/>
            <p:nvPr/>
          </p:nvSpPr>
          <p:spPr>
            <a:xfrm>
              <a:off x="4655001" y="1034879"/>
              <a:ext cx="2173164" cy="371856"/>
            </a:xfrm>
            <a:prstGeom prst="roundRect">
              <a:avLst/>
            </a:prstGeom>
            <a:solidFill>
              <a:schemeClr val="bg1">
                <a:lumMod val="85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600"/>
                <a:t>Progress</a:t>
              </a:r>
            </a:p>
          </p:txBody>
        </p:sp>
        <p:sp>
          <p:nvSpPr>
            <p:cNvPr id="22" name="Rounded Rectangle 10">
              <a:extLst>
                <a:ext uri="{FF2B5EF4-FFF2-40B4-BE49-F238E27FC236}">
                  <a16:creationId xmlns:a16="http://schemas.microsoft.com/office/drawing/2014/main" id="{5EC07787-F9A5-4813-615D-E32A7FD7EE90}"/>
                </a:ext>
              </a:extLst>
            </p:cNvPr>
            <p:cNvSpPr/>
            <p:nvPr/>
          </p:nvSpPr>
          <p:spPr>
            <a:xfrm>
              <a:off x="6828164" y="1034879"/>
              <a:ext cx="2173164" cy="371856"/>
            </a:xfrm>
            <a:prstGeom prst="roundRect">
              <a:avLst/>
            </a:prstGeom>
            <a:solidFill>
              <a:schemeClr val="bg1">
                <a:lumMod val="85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600"/>
                <a:t>Case Counts</a:t>
              </a:r>
            </a:p>
          </p:txBody>
        </p:sp>
      </p:grpSp>
      <p:pic>
        <p:nvPicPr>
          <p:cNvPr id="23" name="Graphic 22" descr="User with solid fill">
            <a:extLst>
              <a:ext uri="{FF2B5EF4-FFF2-40B4-BE49-F238E27FC236}">
                <a16:creationId xmlns:a16="http://schemas.microsoft.com/office/drawing/2014/main" id="{B9CAE735-E7ED-4420-5552-07DEB5C6038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562572" y="869173"/>
            <a:ext cx="517187" cy="517187"/>
          </a:xfrm>
          <a:prstGeom prst="rect">
            <a:avLst/>
          </a:prstGeom>
        </p:spPr>
      </p:pic>
    </p:spTree>
    <p:extLst>
      <p:ext uri="{BB962C8B-B14F-4D97-AF65-F5344CB8AC3E}">
        <p14:creationId xmlns:p14="http://schemas.microsoft.com/office/powerpoint/2010/main" val="3433110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51056-F797-A167-BC38-C54C69343786}"/>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FE9CF401-1986-5A1E-4FD5-244707E96136}"/>
              </a:ext>
            </a:extLst>
          </p:cNvPr>
          <p:cNvSpPr>
            <a:spLocks noGrp="1"/>
          </p:cNvSpPr>
          <p:nvPr>
            <p:ph type="body" sz="quarter" idx="13"/>
          </p:nvPr>
        </p:nvSpPr>
        <p:spPr>
          <a:xfrm>
            <a:off x="253092" y="138791"/>
            <a:ext cx="2758331" cy="383721"/>
          </a:xfrm>
        </p:spPr>
        <p:txBody>
          <a:bodyPr vert="horz" lIns="91440" tIns="45720" rIns="91440" bIns="45720" rtlCol="0" anchor="t">
            <a:normAutofit fontScale="77500" lnSpcReduction="20000"/>
          </a:bodyPr>
          <a:lstStyle/>
          <a:p>
            <a:r>
              <a:rPr lang="en-US"/>
              <a:t>Communicable Disease Solution</a:t>
            </a:r>
          </a:p>
        </p:txBody>
      </p:sp>
      <p:sp>
        <p:nvSpPr>
          <p:cNvPr id="5" name="Slide Number Placeholder 4">
            <a:extLst>
              <a:ext uri="{FF2B5EF4-FFF2-40B4-BE49-F238E27FC236}">
                <a16:creationId xmlns:a16="http://schemas.microsoft.com/office/drawing/2014/main" id="{205F9FE0-8BAF-CEAF-20F2-C0E686BEBF2A}"/>
              </a:ext>
            </a:extLst>
          </p:cNvPr>
          <p:cNvSpPr>
            <a:spLocks noGrp="1"/>
          </p:cNvSpPr>
          <p:nvPr>
            <p:ph type="sldNum" sz="quarter" idx="4"/>
          </p:nvPr>
        </p:nvSpPr>
        <p:spPr/>
        <p:txBody>
          <a:bodyPr/>
          <a:lstStyle/>
          <a:p>
            <a:fld id="{2639BB91-5DDD-4FF0-AA8B-B54FEC5F3DC9}" type="slidenum">
              <a:rPr lang="en-US" smtClean="0"/>
              <a:t>11</a:t>
            </a:fld>
            <a:endParaRPr lang="en-US"/>
          </a:p>
        </p:txBody>
      </p:sp>
      <p:sp>
        <p:nvSpPr>
          <p:cNvPr id="2" name="Title 1">
            <a:extLst>
              <a:ext uri="{FF2B5EF4-FFF2-40B4-BE49-F238E27FC236}">
                <a16:creationId xmlns:a16="http://schemas.microsoft.com/office/drawing/2014/main" id="{4653DED0-A601-B740-D8E5-6E01056F581F}"/>
              </a:ext>
            </a:extLst>
          </p:cNvPr>
          <p:cNvSpPr>
            <a:spLocks noGrp="1"/>
          </p:cNvSpPr>
          <p:nvPr>
            <p:ph type="title"/>
          </p:nvPr>
        </p:nvSpPr>
        <p:spPr>
          <a:xfrm>
            <a:off x="3267456" y="14531"/>
            <a:ext cx="5553710" cy="631646"/>
          </a:xfrm>
        </p:spPr>
        <p:txBody>
          <a:bodyPr>
            <a:normAutofit fontScale="90000"/>
          </a:bodyPr>
          <a:lstStyle/>
          <a:p>
            <a:r>
              <a:rPr lang="en-US"/>
              <a:t>AOMS Create Outbreak</a:t>
            </a:r>
          </a:p>
        </p:txBody>
      </p:sp>
      <p:sp>
        <p:nvSpPr>
          <p:cNvPr id="3" name="Rounded Rectangle 2">
            <a:extLst>
              <a:ext uri="{FF2B5EF4-FFF2-40B4-BE49-F238E27FC236}">
                <a16:creationId xmlns:a16="http://schemas.microsoft.com/office/drawing/2014/main" id="{C6B7FC82-DC00-EEB7-E248-CAD9DEB50AAC}"/>
              </a:ext>
            </a:extLst>
          </p:cNvPr>
          <p:cNvSpPr/>
          <p:nvPr/>
        </p:nvSpPr>
        <p:spPr>
          <a:xfrm>
            <a:off x="469392" y="757596"/>
            <a:ext cx="8124239" cy="5253060"/>
          </a:xfrm>
          <a:prstGeom prst="roundRect">
            <a:avLst>
              <a:gd name="adj" fmla="val 2501"/>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ctr"/>
            <a:r>
              <a:rPr lang="en-US" b="1">
                <a:solidFill>
                  <a:schemeClr val="tx1"/>
                </a:solidFill>
              </a:rPr>
              <a:t>Alberta Outbreak Management System (AOMS)</a:t>
            </a:r>
          </a:p>
        </p:txBody>
      </p:sp>
      <p:sp>
        <p:nvSpPr>
          <p:cNvPr id="13" name="Rounded Rectangle 12">
            <a:extLst>
              <a:ext uri="{FF2B5EF4-FFF2-40B4-BE49-F238E27FC236}">
                <a16:creationId xmlns:a16="http://schemas.microsoft.com/office/drawing/2014/main" id="{E88E2841-1DCB-BB5B-AA58-5B8D541CCC18}"/>
              </a:ext>
            </a:extLst>
          </p:cNvPr>
          <p:cNvSpPr/>
          <p:nvPr/>
        </p:nvSpPr>
        <p:spPr>
          <a:xfrm>
            <a:off x="603504" y="1251802"/>
            <a:ext cx="7821168" cy="4573802"/>
          </a:xfrm>
          <a:prstGeom prst="roundRect">
            <a:avLst>
              <a:gd name="adj" fmla="val 2501"/>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a:solidFill>
                  <a:schemeClr val="tx1"/>
                </a:solidFill>
              </a:rPr>
              <a:t>Create Outbreak Investigation</a:t>
            </a:r>
          </a:p>
        </p:txBody>
      </p:sp>
      <p:sp>
        <p:nvSpPr>
          <p:cNvPr id="6" name="Rectangle: Rounded Corners 5">
            <a:extLst>
              <a:ext uri="{FF2B5EF4-FFF2-40B4-BE49-F238E27FC236}">
                <a16:creationId xmlns:a16="http://schemas.microsoft.com/office/drawing/2014/main" id="{4383F933-B522-FCCD-9776-012953AE1DB0}"/>
              </a:ext>
            </a:extLst>
          </p:cNvPr>
          <p:cNvSpPr/>
          <p:nvPr/>
        </p:nvSpPr>
        <p:spPr>
          <a:xfrm>
            <a:off x="6705600" y="5247917"/>
            <a:ext cx="1422400" cy="452582"/>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Create</a:t>
            </a:r>
            <a:endParaRPr lang="en-CA"/>
          </a:p>
        </p:txBody>
      </p:sp>
      <p:sp>
        <p:nvSpPr>
          <p:cNvPr id="7" name="TextBox 6">
            <a:extLst>
              <a:ext uri="{FF2B5EF4-FFF2-40B4-BE49-F238E27FC236}">
                <a16:creationId xmlns:a16="http://schemas.microsoft.com/office/drawing/2014/main" id="{BF4D4742-2E80-8684-7EA1-2EAAECEA7370}"/>
              </a:ext>
            </a:extLst>
          </p:cNvPr>
          <p:cNvSpPr txBox="1"/>
          <p:nvPr/>
        </p:nvSpPr>
        <p:spPr>
          <a:xfrm>
            <a:off x="693950" y="1579741"/>
            <a:ext cx="1311321" cy="369332"/>
          </a:xfrm>
          <a:prstGeom prst="rect">
            <a:avLst/>
          </a:prstGeom>
          <a:noFill/>
        </p:spPr>
        <p:txBody>
          <a:bodyPr wrap="none" rtlCol="0">
            <a:spAutoFit/>
          </a:bodyPr>
          <a:lstStyle/>
          <a:p>
            <a:r>
              <a:rPr lang="en-US"/>
              <a:t>Onset Date</a:t>
            </a:r>
            <a:endParaRPr lang="en-CA"/>
          </a:p>
        </p:txBody>
      </p:sp>
      <p:sp>
        <p:nvSpPr>
          <p:cNvPr id="8" name="Rectangle 7">
            <a:extLst>
              <a:ext uri="{FF2B5EF4-FFF2-40B4-BE49-F238E27FC236}">
                <a16:creationId xmlns:a16="http://schemas.microsoft.com/office/drawing/2014/main" id="{66F8F9B3-67BD-DE06-4071-AC2202CFAB64}"/>
              </a:ext>
            </a:extLst>
          </p:cNvPr>
          <p:cNvSpPr/>
          <p:nvPr/>
        </p:nvSpPr>
        <p:spPr>
          <a:xfrm>
            <a:off x="2074787" y="1612068"/>
            <a:ext cx="1108364"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TextBox 8">
            <a:extLst>
              <a:ext uri="{FF2B5EF4-FFF2-40B4-BE49-F238E27FC236}">
                <a16:creationId xmlns:a16="http://schemas.microsoft.com/office/drawing/2014/main" id="{894BAA7B-74EF-DC6A-45FA-81391470F3F5}"/>
              </a:ext>
            </a:extLst>
          </p:cNvPr>
          <p:cNvSpPr txBox="1"/>
          <p:nvPr/>
        </p:nvSpPr>
        <p:spPr>
          <a:xfrm>
            <a:off x="693950" y="2008246"/>
            <a:ext cx="1881221" cy="369332"/>
          </a:xfrm>
          <a:prstGeom prst="rect">
            <a:avLst/>
          </a:prstGeom>
          <a:noFill/>
        </p:spPr>
        <p:txBody>
          <a:bodyPr wrap="none" rtlCol="0">
            <a:spAutoFit/>
          </a:bodyPr>
          <a:lstStyle/>
          <a:p>
            <a:r>
              <a:rPr lang="en-US"/>
              <a:t>Lead Investigator</a:t>
            </a:r>
            <a:endParaRPr lang="en-CA"/>
          </a:p>
        </p:txBody>
      </p:sp>
      <p:sp>
        <p:nvSpPr>
          <p:cNvPr id="10" name="Rectangle 9">
            <a:extLst>
              <a:ext uri="{FF2B5EF4-FFF2-40B4-BE49-F238E27FC236}">
                <a16:creationId xmlns:a16="http://schemas.microsoft.com/office/drawing/2014/main" id="{526D9CAB-6C0C-D3DD-0A96-1BFCD6419A8B}"/>
              </a:ext>
            </a:extLst>
          </p:cNvPr>
          <p:cNvSpPr/>
          <p:nvPr/>
        </p:nvSpPr>
        <p:spPr>
          <a:xfrm>
            <a:off x="2628968" y="2040573"/>
            <a:ext cx="2309288"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CA">
                <a:solidFill>
                  <a:schemeClr val="tx1"/>
                </a:solidFill>
                <a:latin typeface="Arial" panose="020B0604020202020204" pitchFamily="34" charset="0"/>
                <a:cs typeface="Arial" panose="020B0604020202020204" pitchFamily="34" charset="0"/>
              </a:rPr>
              <a:t>▼</a:t>
            </a:r>
            <a:endParaRPr lang="en-CA">
              <a:solidFill>
                <a:schemeClr val="tx1"/>
              </a:solidFill>
            </a:endParaRPr>
          </a:p>
        </p:txBody>
      </p:sp>
      <p:sp>
        <p:nvSpPr>
          <p:cNvPr id="11" name="TextBox 10">
            <a:extLst>
              <a:ext uri="{FF2B5EF4-FFF2-40B4-BE49-F238E27FC236}">
                <a16:creationId xmlns:a16="http://schemas.microsoft.com/office/drawing/2014/main" id="{9FEF4C51-91F8-0817-DB7F-94CC314B6229}"/>
              </a:ext>
            </a:extLst>
          </p:cNvPr>
          <p:cNvSpPr txBox="1"/>
          <p:nvPr/>
        </p:nvSpPr>
        <p:spPr>
          <a:xfrm>
            <a:off x="693950" y="2764318"/>
            <a:ext cx="2266518" cy="369332"/>
          </a:xfrm>
          <a:prstGeom prst="rect">
            <a:avLst/>
          </a:prstGeom>
          <a:noFill/>
        </p:spPr>
        <p:txBody>
          <a:bodyPr wrap="none" rtlCol="0">
            <a:spAutoFit/>
          </a:bodyPr>
          <a:lstStyle/>
          <a:p>
            <a:r>
              <a:rPr lang="en-US"/>
              <a:t>Suspected Organism</a:t>
            </a:r>
            <a:endParaRPr lang="en-CA"/>
          </a:p>
        </p:txBody>
      </p:sp>
      <p:sp>
        <p:nvSpPr>
          <p:cNvPr id="12" name="Rectangle 11">
            <a:extLst>
              <a:ext uri="{FF2B5EF4-FFF2-40B4-BE49-F238E27FC236}">
                <a16:creationId xmlns:a16="http://schemas.microsoft.com/office/drawing/2014/main" id="{151F76BE-76CB-3539-25E1-ACE4CA2DE66C}"/>
              </a:ext>
            </a:extLst>
          </p:cNvPr>
          <p:cNvSpPr/>
          <p:nvPr/>
        </p:nvSpPr>
        <p:spPr>
          <a:xfrm>
            <a:off x="2960468" y="2813116"/>
            <a:ext cx="1977788"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CA">
                <a:solidFill>
                  <a:schemeClr val="tx1"/>
                </a:solidFill>
                <a:latin typeface="Arial" panose="020B0604020202020204" pitchFamily="34" charset="0"/>
                <a:cs typeface="Arial" panose="020B0604020202020204" pitchFamily="34" charset="0"/>
              </a:rPr>
              <a:t>▼</a:t>
            </a:r>
            <a:endParaRPr lang="en-CA">
              <a:solidFill>
                <a:schemeClr val="tx1"/>
              </a:solidFill>
            </a:endParaRPr>
          </a:p>
        </p:txBody>
      </p:sp>
      <p:sp>
        <p:nvSpPr>
          <p:cNvPr id="14" name="TextBox 13">
            <a:extLst>
              <a:ext uri="{FF2B5EF4-FFF2-40B4-BE49-F238E27FC236}">
                <a16:creationId xmlns:a16="http://schemas.microsoft.com/office/drawing/2014/main" id="{ECFFAE69-752A-9DE0-59A9-968AAFC96C36}"/>
              </a:ext>
            </a:extLst>
          </p:cNvPr>
          <p:cNvSpPr txBox="1"/>
          <p:nvPr/>
        </p:nvSpPr>
        <p:spPr>
          <a:xfrm>
            <a:off x="693950" y="4424219"/>
            <a:ext cx="2031775" cy="369332"/>
          </a:xfrm>
          <a:prstGeom prst="rect">
            <a:avLst/>
          </a:prstGeom>
          <a:noFill/>
        </p:spPr>
        <p:txBody>
          <a:bodyPr wrap="none" rtlCol="0">
            <a:spAutoFit/>
          </a:bodyPr>
          <a:lstStyle/>
          <a:p>
            <a:r>
              <a:rPr lang="en-US"/>
              <a:t>Outbreak Location</a:t>
            </a:r>
            <a:endParaRPr lang="en-CA"/>
          </a:p>
        </p:txBody>
      </p:sp>
      <p:sp>
        <p:nvSpPr>
          <p:cNvPr id="15" name="Rectangle 14">
            <a:extLst>
              <a:ext uri="{FF2B5EF4-FFF2-40B4-BE49-F238E27FC236}">
                <a16:creationId xmlns:a16="http://schemas.microsoft.com/office/drawing/2014/main" id="{14BC39EF-D36C-6B21-119F-4A64813E0788}"/>
              </a:ext>
            </a:extLst>
          </p:cNvPr>
          <p:cNvSpPr/>
          <p:nvPr/>
        </p:nvSpPr>
        <p:spPr>
          <a:xfrm>
            <a:off x="2725724" y="4443216"/>
            <a:ext cx="2216196"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CA">
                <a:solidFill>
                  <a:schemeClr val="tx1"/>
                </a:solidFill>
                <a:latin typeface="Arial" panose="020B0604020202020204" pitchFamily="34" charset="0"/>
                <a:cs typeface="Arial" panose="020B0604020202020204" pitchFamily="34" charset="0"/>
              </a:rPr>
              <a:t>▼</a:t>
            </a:r>
            <a:endParaRPr lang="en-CA">
              <a:solidFill>
                <a:schemeClr val="tx1"/>
              </a:solidFill>
            </a:endParaRPr>
          </a:p>
        </p:txBody>
      </p:sp>
      <p:sp>
        <p:nvSpPr>
          <p:cNvPr id="17" name="Rectangle 16">
            <a:extLst>
              <a:ext uri="{FF2B5EF4-FFF2-40B4-BE49-F238E27FC236}">
                <a16:creationId xmlns:a16="http://schemas.microsoft.com/office/drawing/2014/main" id="{B3E7B327-58F0-54D8-340C-7406CCCC6282}"/>
              </a:ext>
            </a:extLst>
          </p:cNvPr>
          <p:cNvSpPr/>
          <p:nvPr/>
        </p:nvSpPr>
        <p:spPr>
          <a:xfrm>
            <a:off x="3060887" y="4836302"/>
            <a:ext cx="1881033"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CA">
                <a:solidFill>
                  <a:schemeClr val="tx1"/>
                </a:solidFill>
                <a:latin typeface="Arial" panose="020B0604020202020204" pitchFamily="34" charset="0"/>
                <a:cs typeface="Arial" panose="020B0604020202020204" pitchFamily="34" charset="0"/>
              </a:rPr>
              <a:t>▼</a:t>
            </a:r>
            <a:endParaRPr lang="en-CA">
              <a:solidFill>
                <a:schemeClr val="tx1"/>
              </a:solidFill>
            </a:endParaRPr>
          </a:p>
        </p:txBody>
      </p:sp>
      <p:sp>
        <p:nvSpPr>
          <p:cNvPr id="18" name="TextBox 17">
            <a:extLst>
              <a:ext uri="{FF2B5EF4-FFF2-40B4-BE49-F238E27FC236}">
                <a16:creationId xmlns:a16="http://schemas.microsoft.com/office/drawing/2014/main" id="{67466432-B1F4-F966-0637-08B782F8C143}"/>
              </a:ext>
            </a:extLst>
          </p:cNvPr>
          <p:cNvSpPr txBox="1"/>
          <p:nvPr/>
        </p:nvSpPr>
        <p:spPr>
          <a:xfrm>
            <a:off x="689660" y="4817305"/>
            <a:ext cx="2371227" cy="369332"/>
          </a:xfrm>
          <a:prstGeom prst="rect">
            <a:avLst/>
          </a:prstGeom>
          <a:noFill/>
        </p:spPr>
        <p:txBody>
          <a:bodyPr wrap="none" rtlCol="0">
            <a:spAutoFit/>
          </a:bodyPr>
          <a:lstStyle/>
          <a:p>
            <a:r>
              <a:rPr lang="en-US"/>
              <a:t>Outbreak Department</a:t>
            </a:r>
            <a:endParaRPr lang="en-CA"/>
          </a:p>
        </p:txBody>
      </p:sp>
      <p:sp>
        <p:nvSpPr>
          <p:cNvPr id="19" name="Rectangle 18">
            <a:extLst>
              <a:ext uri="{FF2B5EF4-FFF2-40B4-BE49-F238E27FC236}">
                <a16:creationId xmlns:a16="http://schemas.microsoft.com/office/drawing/2014/main" id="{42D3B5F4-AA35-7BB3-2071-916E791C907D}"/>
              </a:ext>
            </a:extLst>
          </p:cNvPr>
          <p:cNvSpPr/>
          <p:nvPr/>
        </p:nvSpPr>
        <p:spPr>
          <a:xfrm>
            <a:off x="3057223" y="5258121"/>
            <a:ext cx="1881033"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CA">
              <a:solidFill>
                <a:schemeClr val="tx1"/>
              </a:solidFill>
            </a:endParaRPr>
          </a:p>
        </p:txBody>
      </p:sp>
      <p:sp>
        <p:nvSpPr>
          <p:cNvPr id="20" name="TextBox 19">
            <a:extLst>
              <a:ext uri="{FF2B5EF4-FFF2-40B4-BE49-F238E27FC236}">
                <a16:creationId xmlns:a16="http://schemas.microsoft.com/office/drawing/2014/main" id="{989ADF33-D5B3-3AB4-7B1A-35C65F9B6613}"/>
              </a:ext>
            </a:extLst>
          </p:cNvPr>
          <p:cNvSpPr txBox="1"/>
          <p:nvPr/>
        </p:nvSpPr>
        <p:spPr>
          <a:xfrm>
            <a:off x="685996" y="5239124"/>
            <a:ext cx="1770100" cy="369332"/>
          </a:xfrm>
          <a:prstGeom prst="rect">
            <a:avLst/>
          </a:prstGeom>
          <a:noFill/>
        </p:spPr>
        <p:txBody>
          <a:bodyPr wrap="none" rtlCol="0">
            <a:spAutoFit/>
          </a:bodyPr>
          <a:lstStyle/>
          <a:p>
            <a:r>
              <a:rPr lang="en-US"/>
              <a:t>Outbreak Name</a:t>
            </a:r>
            <a:endParaRPr lang="en-CA"/>
          </a:p>
        </p:txBody>
      </p:sp>
      <p:sp>
        <p:nvSpPr>
          <p:cNvPr id="21" name="TextBox 20">
            <a:extLst>
              <a:ext uri="{FF2B5EF4-FFF2-40B4-BE49-F238E27FC236}">
                <a16:creationId xmlns:a16="http://schemas.microsoft.com/office/drawing/2014/main" id="{EAA2EE97-A353-0492-3ECB-5C98D40F1AF8}"/>
              </a:ext>
            </a:extLst>
          </p:cNvPr>
          <p:cNvSpPr txBox="1"/>
          <p:nvPr/>
        </p:nvSpPr>
        <p:spPr>
          <a:xfrm>
            <a:off x="691252" y="3572959"/>
            <a:ext cx="1859868" cy="369332"/>
          </a:xfrm>
          <a:prstGeom prst="rect">
            <a:avLst/>
          </a:prstGeom>
          <a:noFill/>
        </p:spPr>
        <p:txBody>
          <a:bodyPr wrap="none" rtlCol="0">
            <a:spAutoFit/>
          </a:bodyPr>
          <a:lstStyle/>
          <a:p>
            <a:r>
              <a:rPr lang="en-US"/>
              <a:t>Outbreak Setting</a:t>
            </a:r>
            <a:endParaRPr lang="en-CA"/>
          </a:p>
        </p:txBody>
      </p:sp>
      <p:sp>
        <p:nvSpPr>
          <p:cNvPr id="22" name="Rectangle 21">
            <a:extLst>
              <a:ext uri="{FF2B5EF4-FFF2-40B4-BE49-F238E27FC236}">
                <a16:creationId xmlns:a16="http://schemas.microsoft.com/office/drawing/2014/main" id="{0A595DD6-F123-D419-02E1-75AE67E0D57D}"/>
              </a:ext>
            </a:extLst>
          </p:cNvPr>
          <p:cNvSpPr/>
          <p:nvPr/>
        </p:nvSpPr>
        <p:spPr>
          <a:xfrm>
            <a:off x="2725724" y="3601983"/>
            <a:ext cx="2216196"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CA">
                <a:solidFill>
                  <a:schemeClr val="tx1"/>
                </a:solidFill>
                <a:latin typeface="Arial" panose="020B0604020202020204" pitchFamily="34" charset="0"/>
                <a:cs typeface="Arial" panose="020B0604020202020204" pitchFamily="34" charset="0"/>
              </a:rPr>
              <a:t>▼</a:t>
            </a:r>
            <a:endParaRPr lang="en-CA">
              <a:solidFill>
                <a:schemeClr val="tx1"/>
              </a:solidFill>
            </a:endParaRPr>
          </a:p>
        </p:txBody>
      </p:sp>
      <p:pic>
        <p:nvPicPr>
          <p:cNvPr id="23" name="Graphic 22" descr="Daily calendar outline">
            <a:extLst>
              <a:ext uri="{FF2B5EF4-FFF2-40B4-BE49-F238E27FC236}">
                <a16:creationId xmlns:a16="http://schemas.microsoft.com/office/drawing/2014/main" id="{4BBE6F7E-532C-1474-EDA2-FC81FB00259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45356" y="1595485"/>
            <a:ext cx="338586" cy="338586"/>
          </a:xfrm>
          <a:prstGeom prst="rect">
            <a:avLst/>
          </a:prstGeom>
        </p:spPr>
      </p:pic>
      <p:sp>
        <p:nvSpPr>
          <p:cNvPr id="24" name="TextBox 23">
            <a:extLst>
              <a:ext uri="{FF2B5EF4-FFF2-40B4-BE49-F238E27FC236}">
                <a16:creationId xmlns:a16="http://schemas.microsoft.com/office/drawing/2014/main" id="{CDC37343-437D-1B55-1F00-8BD49029E428}"/>
              </a:ext>
            </a:extLst>
          </p:cNvPr>
          <p:cNvSpPr txBox="1"/>
          <p:nvPr/>
        </p:nvSpPr>
        <p:spPr>
          <a:xfrm>
            <a:off x="6033781" y="1966481"/>
            <a:ext cx="1343638" cy="369332"/>
          </a:xfrm>
          <a:prstGeom prst="rect">
            <a:avLst/>
          </a:prstGeom>
          <a:noFill/>
        </p:spPr>
        <p:txBody>
          <a:bodyPr wrap="none" rtlCol="0">
            <a:spAutoFit/>
          </a:bodyPr>
          <a:lstStyle/>
          <a:p>
            <a:r>
              <a:rPr lang="en-US"/>
              <a:t>Description</a:t>
            </a:r>
            <a:endParaRPr lang="en-CA"/>
          </a:p>
        </p:txBody>
      </p:sp>
      <p:sp>
        <p:nvSpPr>
          <p:cNvPr id="25" name="Rectangle 24">
            <a:extLst>
              <a:ext uri="{FF2B5EF4-FFF2-40B4-BE49-F238E27FC236}">
                <a16:creationId xmlns:a16="http://schemas.microsoft.com/office/drawing/2014/main" id="{117B5A5E-985E-4DC5-702A-47BF64C0B34C}"/>
              </a:ext>
            </a:extLst>
          </p:cNvPr>
          <p:cNvSpPr/>
          <p:nvPr/>
        </p:nvSpPr>
        <p:spPr>
          <a:xfrm>
            <a:off x="5406247" y="2368140"/>
            <a:ext cx="2816868" cy="253408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CA">
              <a:solidFill>
                <a:schemeClr val="tx1"/>
              </a:solidFill>
            </a:endParaRPr>
          </a:p>
        </p:txBody>
      </p:sp>
      <p:sp>
        <p:nvSpPr>
          <p:cNvPr id="26" name="TextBox 25">
            <a:extLst>
              <a:ext uri="{FF2B5EF4-FFF2-40B4-BE49-F238E27FC236}">
                <a16:creationId xmlns:a16="http://schemas.microsoft.com/office/drawing/2014/main" id="{5C626A96-BD35-BBF7-C8D3-6DCB56CEE2FD}"/>
              </a:ext>
            </a:extLst>
          </p:cNvPr>
          <p:cNvSpPr txBox="1"/>
          <p:nvPr/>
        </p:nvSpPr>
        <p:spPr>
          <a:xfrm>
            <a:off x="4896592" y="4271986"/>
            <a:ext cx="308098" cy="369332"/>
          </a:xfrm>
          <a:prstGeom prst="rect">
            <a:avLst/>
          </a:prstGeom>
          <a:noFill/>
        </p:spPr>
        <p:txBody>
          <a:bodyPr wrap="none" rtlCol="0">
            <a:spAutoFit/>
          </a:bodyPr>
          <a:lstStyle/>
          <a:p>
            <a:r>
              <a:rPr lang="en-US"/>
              <a:t>+</a:t>
            </a:r>
            <a:endParaRPr lang="en-CA"/>
          </a:p>
        </p:txBody>
      </p:sp>
      <p:sp>
        <p:nvSpPr>
          <p:cNvPr id="27" name="TextBox 26">
            <a:extLst>
              <a:ext uri="{FF2B5EF4-FFF2-40B4-BE49-F238E27FC236}">
                <a16:creationId xmlns:a16="http://schemas.microsoft.com/office/drawing/2014/main" id="{50EFBD31-7A13-057F-112E-DF7028E1D0AD}"/>
              </a:ext>
            </a:extLst>
          </p:cNvPr>
          <p:cNvSpPr txBox="1"/>
          <p:nvPr/>
        </p:nvSpPr>
        <p:spPr>
          <a:xfrm>
            <a:off x="4836347" y="2144645"/>
            <a:ext cx="290464" cy="369332"/>
          </a:xfrm>
          <a:prstGeom prst="rect">
            <a:avLst/>
          </a:prstGeom>
          <a:noFill/>
        </p:spPr>
        <p:txBody>
          <a:bodyPr wrap="none" rtlCol="0">
            <a:spAutoFit/>
          </a:bodyPr>
          <a:lstStyle/>
          <a:p>
            <a:r>
              <a:rPr lang="en-US">
                <a:solidFill>
                  <a:schemeClr val="accent6"/>
                </a:solidFill>
              </a:rPr>
              <a:t>*</a:t>
            </a:r>
            <a:endParaRPr lang="en-CA">
              <a:solidFill>
                <a:schemeClr val="accent6"/>
              </a:solidFill>
            </a:endParaRPr>
          </a:p>
        </p:txBody>
      </p:sp>
      <p:sp>
        <p:nvSpPr>
          <p:cNvPr id="28" name="TextBox 27">
            <a:extLst>
              <a:ext uri="{FF2B5EF4-FFF2-40B4-BE49-F238E27FC236}">
                <a16:creationId xmlns:a16="http://schemas.microsoft.com/office/drawing/2014/main" id="{E1011D53-C8C9-382D-1AC8-D9A16DA43534}"/>
              </a:ext>
            </a:extLst>
          </p:cNvPr>
          <p:cNvSpPr txBox="1"/>
          <p:nvPr/>
        </p:nvSpPr>
        <p:spPr>
          <a:xfrm>
            <a:off x="4860080" y="2613518"/>
            <a:ext cx="290464" cy="369332"/>
          </a:xfrm>
          <a:prstGeom prst="rect">
            <a:avLst/>
          </a:prstGeom>
          <a:noFill/>
        </p:spPr>
        <p:txBody>
          <a:bodyPr wrap="none" rtlCol="0">
            <a:spAutoFit/>
          </a:bodyPr>
          <a:lstStyle/>
          <a:p>
            <a:r>
              <a:rPr lang="en-US">
                <a:solidFill>
                  <a:schemeClr val="accent6"/>
                </a:solidFill>
              </a:rPr>
              <a:t>*</a:t>
            </a:r>
            <a:endParaRPr lang="en-CA">
              <a:solidFill>
                <a:schemeClr val="accent6"/>
              </a:solidFill>
            </a:endParaRPr>
          </a:p>
        </p:txBody>
      </p:sp>
      <p:sp>
        <p:nvSpPr>
          <p:cNvPr id="29" name="TextBox 28">
            <a:extLst>
              <a:ext uri="{FF2B5EF4-FFF2-40B4-BE49-F238E27FC236}">
                <a16:creationId xmlns:a16="http://schemas.microsoft.com/office/drawing/2014/main" id="{BA966CAF-ADD8-482B-4BA4-38B67CD794D5}"/>
              </a:ext>
            </a:extLst>
          </p:cNvPr>
          <p:cNvSpPr txBox="1"/>
          <p:nvPr/>
        </p:nvSpPr>
        <p:spPr>
          <a:xfrm>
            <a:off x="4858882" y="3433140"/>
            <a:ext cx="290464" cy="369332"/>
          </a:xfrm>
          <a:prstGeom prst="rect">
            <a:avLst/>
          </a:prstGeom>
          <a:noFill/>
        </p:spPr>
        <p:txBody>
          <a:bodyPr wrap="square" rtlCol="0">
            <a:spAutoFit/>
          </a:bodyPr>
          <a:lstStyle/>
          <a:p>
            <a:r>
              <a:rPr lang="en-US">
                <a:solidFill>
                  <a:schemeClr val="accent6"/>
                </a:solidFill>
              </a:rPr>
              <a:t>*</a:t>
            </a:r>
            <a:endParaRPr lang="en-CA">
              <a:solidFill>
                <a:schemeClr val="accent6"/>
              </a:solidFill>
            </a:endParaRPr>
          </a:p>
        </p:txBody>
      </p:sp>
      <p:sp>
        <p:nvSpPr>
          <p:cNvPr id="30" name="TextBox 29">
            <a:extLst>
              <a:ext uri="{FF2B5EF4-FFF2-40B4-BE49-F238E27FC236}">
                <a16:creationId xmlns:a16="http://schemas.microsoft.com/office/drawing/2014/main" id="{0CB8DF07-76EB-29A1-87BE-8391126BCC5D}"/>
              </a:ext>
            </a:extLst>
          </p:cNvPr>
          <p:cNvSpPr txBox="1"/>
          <p:nvPr/>
        </p:nvSpPr>
        <p:spPr>
          <a:xfrm>
            <a:off x="4869773" y="5073069"/>
            <a:ext cx="290464" cy="369332"/>
          </a:xfrm>
          <a:prstGeom prst="rect">
            <a:avLst/>
          </a:prstGeom>
          <a:noFill/>
        </p:spPr>
        <p:txBody>
          <a:bodyPr wrap="square" rtlCol="0">
            <a:spAutoFit/>
          </a:bodyPr>
          <a:lstStyle/>
          <a:p>
            <a:r>
              <a:rPr lang="en-US">
                <a:solidFill>
                  <a:schemeClr val="accent6"/>
                </a:solidFill>
              </a:rPr>
              <a:t>*</a:t>
            </a:r>
            <a:endParaRPr lang="en-CA">
              <a:solidFill>
                <a:schemeClr val="accent6"/>
              </a:solidFill>
            </a:endParaRPr>
          </a:p>
        </p:txBody>
      </p:sp>
      <p:sp>
        <p:nvSpPr>
          <p:cNvPr id="31" name="TextBox 30">
            <a:extLst>
              <a:ext uri="{FF2B5EF4-FFF2-40B4-BE49-F238E27FC236}">
                <a16:creationId xmlns:a16="http://schemas.microsoft.com/office/drawing/2014/main" id="{C38120E3-321C-D27C-F017-AC2AD0EA5DE4}"/>
              </a:ext>
            </a:extLst>
          </p:cNvPr>
          <p:cNvSpPr txBox="1"/>
          <p:nvPr/>
        </p:nvSpPr>
        <p:spPr>
          <a:xfrm>
            <a:off x="8076962" y="2144645"/>
            <a:ext cx="290464" cy="369332"/>
          </a:xfrm>
          <a:prstGeom prst="rect">
            <a:avLst/>
          </a:prstGeom>
          <a:noFill/>
        </p:spPr>
        <p:txBody>
          <a:bodyPr wrap="square" rtlCol="0">
            <a:spAutoFit/>
          </a:bodyPr>
          <a:lstStyle/>
          <a:p>
            <a:r>
              <a:rPr lang="en-US">
                <a:solidFill>
                  <a:schemeClr val="accent6"/>
                </a:solidFill>
              </a:rPr>
              <a:t>*</a:t>
            </a:r>
            <a:endParaRPr lang="en-CA">
              <a:solidFill>
                <a:schemeClr val="accent6"/>
              </a:solidFill>
            </a:endParaRPr>
          </a:p>
        </p:txBody>
      </p:sp>
      <p:pic>
        <p:nvPicPr>
          <p:cNvPr id="16" name="Graphic 15" descr="User with solid fill">
            <a:extLst>
              <a:ext uri="{FF2B5EF4-FFF2-40B4-BE49-F238E27FC236}">
                <a16:creationId xmlns:a16="http://schemas.microsoft.com/office/drawing/2014/main" id="{3D6F7E3F-8A7D-135A-0661-6B18F4BF6C8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076962" y="711480"/>
            <a:ext cx="517187" cy="517187"/>
          </a:xfrm>
          <a:prstGeom prst="rect">
            <a:avLst/>
          </a:prstGeom>
        </p:spPr>
      </p:pic>
      <p:sp>
        <p:nvSpPr>
          <p:cNvPr id="32" name="TextBox 31">
            <a:extLst>
              <a:ext uri="{FF2B5EF4-FFF2-40B4-BE49-F238E27FC236}">
                <a16:creationId xmlns:a16="http://schemas.microsoft.com/office/drawing/2014/main" id="{9F2AB3BE-6613-2CF9-9A46-6275F90DA661}"/>
              </a:ext>
            </a:extLst>
          </p:cNvPr>
          <p:cNvSpPr txBox="1"/>
          <p:nvPr/>
        </p:nvSpPr>
        <p:spPr>
          <a:xfrm>
            <a:off x="661275" y="3171493"/>
            <a:ext cx="1622495" cy="369332"/>
          </a:xfrm>
          <a:prstGeom prst="rect">
            <a:avLst/>
          </a:prstGeom>
          <a:noFill/>
        </p:spPr>
        <p:txBody>
          <a:bodyPr wrap="none" rtlCol="0">
            <a:spAutoFit/>
          </a:bodyPr>
          <a:lstStyle/>
          <a:p>
            <a:r>
              <a:rPr lang="en-US"/>
              <a:t>Outbreak Type</a:t>
            </a:r>
            <a:endParaRPr lang="en-CA"/>
          </a:p>
        </p:txBody>
      </p:sp>
      <p:sp>
        <p:nvSpPr>
          <p:cNvPr id="33" name="Rectangle 32">
            <a:extLst>
              <a:ext uri="{FF2B5EF4-FFF2-40B4-BE49-F238E27FC236}">
                <a16:creationId xmlns:a16="http://schemas.microsoft.com/office/drawing/2014/main" id="{4E212D1C-2653-B9D5-7602-69B957BDD855}"/>
              </a:ext>
            </a:extLst>
          </p:cNvPr>
          <p:cNvSpPr/>
          <p:nvPr/>
        </p:nvSpPr>
        <p:spPr>
          <a:xfrm>
            <a:off x="2695747" y="3200517"/>
            <a:ext cx="2216196"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CA">
                <a:solidFill>
                  <a:schemeClr val="tx1"/>
                </a:solidFill>
                <a:latin typeface="Arial" panose="020B0604020202020204" pitchFamily="34" charset="0"/>
                <a:cs typeface="Arial" panose="020B0604020202020204" pitchFamily="34" charset="0"/>
              </a:rPr>
              <a:t>▼</a:t>
            </a:r>
            <a:endParaRPr lang="en-CA">
              <a:solidFill>
                <a:schemeClr val="tx1"/>
              </a:solidFill>
            </a:endParaRPr>
          </a:p>
        </p:txBody>
      </p:sp>
      <p:sp>
        <p:nvSpPr>
          <p:cNvPr id="34" name="TextBox 33">
            <a:extLst>
              <a:ext uri="{FF2B5EF4-FFF2-40B4-BE49-F238E27FC236}">
                <a16:creationId xmlns:a16="http://schemas.microsoft.com/office/drawing/2014/main" id="{D5864516-F831-B80D-E4E8-C85AF0D6C038}"/>
              </a:ext>
            </a:extLst>
          </p:cNvPr>
          <p:cNvSpPr txBox="1"/>
          <p:nvPr/>
        </p:nvSpPr>
        <p:spPr>
          <a:xfrm>
            <a:off x="4828905" y="3031674"/>
            <a:ext cx="290464" cy="369332"/>
          </a:xfrm>
          <a:prstGeom prst="rect">
            <a:avLst/>
          </a:prstGeom>
          <a:noFill/>
        </p:spPr>
        <p:txBody>
          <a:bodyPr wrap="square" rtlCol="0">
            <a:spAutoFit/>
          </a:bodyPr>
          <a:lstStyle/>
          <a:p>
            <a:r>
              <a:rPr lang="en-US">
                <a:solidFill>
                  <a:schemeClr val="accent6"/>
                </a:solidFill>
              </a:rPr>
              <a:t>*</a:t>
            </a:r>
            <a:endParaRPr lang="en-CA">
              <a:solidFill>
                <a:schemeClr val="accent6"/>
              </a:solidFill>
            </a:endParaRPr>
          </a:p>
        </p:txBody>
      </p:sp>
      <p:sp>
        <p:nvSpPr>
          <p:cNvPr id="35" name="TextBox 34">
            <a:extLst>
              <a:ext uri="{FF2B5EF4-FFF2-40B4-BE49-F238E27FC236}">
                <a16:creationId xmlns:a16="http://schemas.microsoft.com/office/drawing/2014/main" id="{F3A08920-92EE-3734-2CE5-D0CCB85DE9A8}"/>
              </a:ext>
            </a:extLst>
          </p:cNvPr>
          <p:cNvSpPr txBox="1"/>
          <p:nvPr/>
        </p:nvSpPr>
        <p:spPr>
          <a:xfrm>
            <a:off x="691251" y="3977190"/>
            <a:ext cx="1845442" cy="369332"/>
          </a:xfrm>
          <a:prstGeom prst="rect">
            <a:avLst/>
          </a:prstGeom>
          <a:noFill/>
        </p:spPr>
        <p:txBody>
          <a:bodyPr wrap="none" lIns="91440" tIns="45720" rIns="91440" bIns="45720" rtlCol="0" anchor="t">
            <a:spAutoFit/>
          </a:bodyPr>
          <a:lstStyle/>
          <a:p>
            <a:r>
              <a:rPr lang="en-US"/>
              <a:t>Outbreak Region</a:t>
            </a:r>
            <a:endParaRPr lang="en-CA"/>
          </a:p>
        </p:txBody>
      </p:sp>
      <p:sp>
        <p:nvSpPr>
          <p:cNvPr id="36" name="Rectangle 35">
            <a:extLst>
              <a:ext uri="{FF2B5EF4-FFF2-40B4-BE49-F238E27FC236}">
                <a16:creationId xmlns:a16="http://schemas.microsoft.com/office/drawing/2014/main" id="{F4F364BC-43E7-6FF8-F5B5-DC1B2D5C9B18}"/>
              </a:ext>
            </a:extLst>
          </p:cNvPr>
          <p:cNvSpPr/>
          <p:nvPr/>
        </p:nvSpPr>
        <p:spPr>
          <a:xfrm>
            <a:off x="2725723" y="4006214"/>
            <a:ext cx="2216196"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CA">
                <a:solidFill>
                  <a:schemeClr val="tx1"/>
                </a:solidFill>
                <a:latin typeface="Arial" panose="020B0604020202020204" pitchFamily="34" charset="0"/>
                <a:cs typeface="Arial" panose="020B0604020202020204" pitchFamily="34" charset="0"/>
              </a:rPr>
              <a:t>▼</a:t>
            </a:r>
            <a:endParaRPr lang="en-CA">
              <a:solidFill>
                <a:schemeClr val="tx1"/>
              </a:solidFill>
            </a:endParaRPr>
          </a:p>
        </p:txBody>
      </p:sp>
      <p:sp>
        <p:nvSpPr>
          <p:cNvPr id="37" name="TextBox 36">
            <a:extLst>
              <a:ext uri="{FF2B5EF4-FFF2-40B4-BE49-F238E27FC236}">
                <a16:creationId xmlns:a16="http://schemas.microsoft.com/office/drawing/2014/main" id="{F49FD5BC-1D04-8682-A782-8071048A4B63}"/>
              </a:ext>
            </a:extLst>
          </p:cNvPr>
          <p:cNvSpPr txBox="1"/>
          <p:nvPr/>
        </p:nvSpPr>
        <p:spPr>
          <a:xfrm>
            <a:off x="700919" y="2384599"/>
            <a:ext cx="2103012" cy="369332"/>
          </a:xfrm>
          <a:prstGeom prst="rect">
            <a:avLst/>
          </a:prstGeom>
          <a:noFill/>
        </p:spPr>
        <p:txBody>
          <a:bodyPr wrap="none" lIns="91440" tIns="45720" rIns="91440" bIns="45720" rtlCol="0" anchor="t">
            <a:spAutoFit/>
          </a:bodyPr>
          <a:lstStyle/>
          <a:p>
            <a:r>
              <a:rPr lang="en-US"/>
              <a:t>Investigation 'Zone'</a:t>
            </a:r>
          </a:p>
        </p:txBody>
      </p:sp>
      <p:sp>
        <p:nvSpPr>
          <p:cNvPr id="38" name="Rectangle 37">
            <a:extLst>
              <a:ext uri="{FF2B5EF4-FFF2-40B4-BE49-F238E27FC236}">
                <a16:creationId xmlns:a16="http://schemas.microsoft.com/office/drawing/2014/main" id="{47E4D9DB-6352-B412-085D-77ECD175B96B}"/>
              </a:ext>
            </a:extLst>
          </p:cNvPr>
          <p:cNvSpPr/>
          <p:nvPr/>
        </p:nvSpPr>
        <p:spPr>
          <a:xfrm>
            <a:off x="2726540" y="2382079"/>
            <a:ext cx="2211715" cy="36740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CA">
                <a:solidFill>
                  <a:schemeClr val="tx1"/>
                </a:solidFill>
                <a:latin typeface="Arial" panose="020B0604020202020204" pitchFamily="34" charset="0"/>
                <a:cs typeface="Arial" panose="020B0604020202020204" pitchFamily="34" charset="0"/>
              </a:rPr>
              <a:t>▼</a:t>
            </a:r>
            <a:endParaRPr lang="en-CA">
              <a:solidFill>
                <a:schemeClr val="tx1"/>
              </a:solidFill>
            </a:endParaRPr>
          </a:p>
        </p:txBody>
      </p:sp>
    </p:spTree>
    <p:extLst>
      <p:ext uri="{BB962C8B-B14F-4D97-AF65-F5344CB8AC3E}">
        <p14:creationId xmlns:p14="http://schemas.microsoft.com/office/powerpoint/2010/main" val="34763364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B7634-D8BC-9346-6248-EC38BE80E39F}"/>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1656EF0A-BDB7-FB18-F01C-1BF7844DB107}"/>
              </a:ext>
            </a:extLst>
          </p:cNvPr>
          <p:cNvSpPr>
            <a:spLocks noGrp="1"/>
          </p:cNvSpPr>
          <p:nvPr>
            <p:ph type="body" sz="quarter" idx="13"/>
          </p:nvPr>
        </p:nvSpPr>
        <p:spPr>
          <a:xfrm>
            <a:off x="253092" y="138791"/>
            <a:ext cx="2758331" cy="383721"/>
          </a:xfrm>
        </p:spPr>
        <p:txBody>
          <a:bodyPr vert="horz" lIns="91440" tIns="45720" rIns="91440" bIns="45720" rtlCol="0" anchor="t">
            <a:normAutofit fontScale="77500" lnSpcReduction="20000"/>
          </a:bodyPr>
          <a:lstStyle/>
          <a:p>
            <a:r>
              <a:rPr lang="en-US"/>
              <a:t>Communicable Disease Solution</a:t>
            </a:r>
          </a:p>
        </p:txBody>
      </p:sp>
      <p:sp>
        <p:nvSpPr>
          <p:cNvPr id="2" name="Title 1">
            <a:extLst>
              <a:ext uri="{FF2B5EF4-FFF2-40B4-BE49-F238E27FC236}">
                <a16:creationId xmlns:a16="http://schemas.microsoft.com/office/drawing/2014/main" id="{F0740CA5-1B9A-FA3B-80D9-188098486C0D}"/>
              </a:ext>
            </a:extLst>
          </p:cNvPr>
          <p:cNvSpPr>
            <a:spLocks noGrp="1"/>
          </p:cNvSpPr>
          <p:nvPr>
            <p:ph type="title"/>
          </p:nvPr>
        </p:nvSpPr>
        <p:spPr>
          <a:xfrm>
            <a:off x="2915187" y="14531"/>
            <a:ext cx="5905979" cy="631646"/>
          </a:xfrm>
        </p:spPr>
        <p:txBody>
          <a:bodyPr>
            <a:normAutofit fontScale="90000"/>
          </a:bodyPr>
          <a:lstStyle/>
          <a:p>
            <a:pPr algn="r"/>
            <a:r>
              <a:rPr lang="en-US"/>
              <a:t>AOMS Investigation Details</a:t>
            </a:r>
          </a:p>
        </p:txBody>
      </p:sp>
      <p:sp>
        <p:nvSpPr>
          <p:cNvPr id="3" name="Rounded Rectangle 2">
            <a:extLst>
              <a:ext uri="{FF2B5EF4-FFF2-40B4-BE49-F238E27FC236}">
                <a16:creationId xmlns:a16="http://schemas.microsoft.com/office/drawing/2014/main" id="{9CC419F3-CD54-9382-F39F-2D3B67AC272C}"/>
              </a:ext>
            </a:extLst>
          </p:cNvPr>
          <p:cNvSpPr/>
          <p:nvPr/>
        </p:nvSpPr>
        <p:spPr>
          <a:xfrm>
            <a:off x="103762" y="646177"/>
            <a:ext cx="8897566" cy="5969272"/>
          </a:xfrm>
          <a:prstGeom prst="roundRect">
            <a:avLst>
              <a:gd name="adj" fmla="val 2501"/>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a:solidFill>
                  <a:schemeClr val="tx1"/>
                </a:solidFill>
              </a:rPr>
              <a:t>Alberta Outbreak Management System (AOMS)</a:t>
            </a:r>
          </a:p>
        </p:txBody>
      </p:sp>
      <p:sp>
        <p:nvSpPr>
          <p:cNvPr id="13" name="Rounded Rectangle 12">
            <a:extLst>
              <a:ext uri="{FF2B5EF4-FFF2-40B4-BE49-F238E27FC236}">
                <a16:creationId xmlns:a16="http://schemas.microsoft.com/office/drawing/2014/main" id="{BB891CFB-E1EA-D64B-DE62-1CE9C4BB754B}"/>
              </a:ext>
            </a:extLst>
          </p:cNvPr>
          <p:cNvSpPr/>
          <p:nvPr/>
        </p:nvSpPr>
        <p:spPr>
          <a:xfrm>
            <a:off x="221003" y="1443200"/>
            <a:ext cx="8683050" cy="5080817"/>
          </a:xfrm>
          <a:prstGeom prst="roundRect">
            <a:avLst>
              <a:gd name="adj" fmla="val 2501"/>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a:solidFill>
                <a:schemeClr val="accent5"/>
              </a:solidFill>
            </a:endParaRPr>
          </a:p>
        </p:txBody>
      </p:sp>
      <p:grpSp>
        <p:nvGrpSpPr>
          <p:cNvPr id="67" name="Group 66">
            <a:extLst>
              <a:ext uri="{FF2B5EF4-FFF2-40B4-BE49-F238E27FC236}">
                <a16:creationId xmlns:a16="http://schemas.microsoft.com/office/drawing/2014/main" id="{13FAEDD1-1CDD-0813-30B8-098D2BD03976}"/>
              </a:ext>
            </a:extLst>
          </p:cNvPr>
          <p:cNvGrpSpPr/>
          <p:nvPr/>
        </p:nvGrpSpPr>
        <p:grpSpPr>
          <a:xfrm>
            <a:off x="230450" y="1451544"/>
            <a:ext cx="8687316" cy="378649"/>
            <a:chOff x="314012" y="1028086"/>
            <a:chExt cx="8687316" cy="378649"/>
          </a:xfrm>
        </p:grpSpPr>
        <p:sp>
          <p:nvSpPr>
            <p:cNvPr id="7" name="Rounded Rectangle 6">
              <a:extLst>
                <a:ext uri="{FF2B5EF4-FFF2-40B4-BE49-F238E27FC236}">
                  <a16:creationId xmlns:a16="http://schemas.microsoft.com/office/drawing/2014/main" id="{C6E8E2F6-BD0E-BE68-E590-C617180DA042}"/>
                </a:ext>
              </a:extLst>
            </p:cNvPr>
            <p:cNvSpPr/>
            <p:nvPr/>
          </p:nvSpPr>
          <p:spPr>
            <a:xfrm>
              <a:off x="314012" y="1028086"/>
              <a:ext cx="2173164" cy="371856"/>
            </a:xfrm>
            <a:prstGeom prst="roundRect">
              <a:avLst/>
            </a:prstGeom>
            <a:solidFill>
              <a:schemeClr val="bg1">
                <a:lumMod val="85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600">
                  <a:solidFill>
                    <a:schemeClr val="tx1"/>
                  </a:solidFill>
                </a:rPr>
                <a:t>Search</a:t>
              </a:r>
            </a:p>
          </p:txBody>
        </p:sp>
        <p:sp>
          <p:nvSpPr>
            <p:cNvPr id="8" name="Rounded Rectangle 7">
              <a:extLst>
                <a:ext uri="{FF2B5EF4-FFF2-40B4-BE49-F238E27FC236}">
                  <a16:creationId xmlns:a16="http://schemas.microsoft.com/office/drawing/2014/main" id="{00C1725B-3327-5C2F-FFB2-920EAE3A16AF}"/>
                </a:ext>
              </a:extLst>
            </p:cNvPr>
            <p:cNvSpPr/>
            <p:nvPr/>
          </p:nvSpPr>
          <p:spPr>
            <a:xfrm>
              <a:off x="2487176" y="1028086"/>
              <a:ext cx="2173164" cy="371856"/>
            </a:xfrm>
            <a:prstGeom prst="roundRect">
              <a:avLst/>
            </a:prstGeom>
            <a:solidFill>
              <a:schemeClr val="bg1">
                <a:lumMod val="75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600">
                  <a:solidFill>
                    <a:schemeClr val="tx1"/>
                  </a:solidFill>
                </a:rPr>
                <a:t>Investigation</a:t>
              </a:r>
            </a:p>
          </p:txBody>
        </p:sp>
        <p:sp>
          <p:nvSpPr>
            <p:cNvPr id="10" name="Rounded Rectangle 9">
              <a:extLst>
                <a:ext uri="{FF2B5EF4-FFF2-40B4-BE49-F238E27FC236}">
                  <a16:creationId xmlns:a16="http://schemas.microsoft.com/office/drawing/2014/main" id="{B434A6EF-3C95-947C-9EE6-077630C0523C}"/>
                </a:ext>
              </a:extLst>
            </p:cNvPr>
            <p:cNvSpPr/>
            <p:nvPr/>
          </p:nvSpPr>
          <p:spPr>
            <a:xfrm>
              <a:off x="4655001" y="1034879"/>
              <a:ext cx="2173164" cy="371856"/>
            </a:xfrm>
            <a:prstGeom prst="roundRect">
              <a:avLst/>
            </a:prstGeom>
            <a:solidFill>
              <a:schemeClr val="bg1">
                <a:lumMod val="85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600">
                  <a:solidFill>
                    <a:schemeClr val="tx1"/>
                  </a:solidFill>
                </a:rPr>
                <a:t>Tasks</a:t>
              </a:r>
            </a:p>
          </p:txBody>
        </p:sp>
        <p:sp>
          <p:nvSpPr>
            <p:cNvPr id="11" name="Rounded Rectangle 10">
              <a:extLst>
                <a:ext uri="{FF2B5EF4-FFF2-40B4-BE49-F238E27FC236}">
                  <a16:creationId xmlns:a16="http://schemas.microsoft.com/office/drawing/2014/main" id="{83DDEFF4-4BDB-4FAE-F8EA-91A48C692A30}"/>
                </a:ext>
              </a:extLst>
            </p:cNvPr>
            <p:cNvSpPr/>
            <p:nvPr/>
          </p:nvSpPr>
          <p:spPr>
            <a:xfrm>
              <a:off x="6828164" y="1034879"/>
              <a:ext cx="2173164" cy="371856"/>
            </a:xfrm>
            <a:prstGeom prst="roundRect">
              <a:avLst/>
            </a:prstGeom>
            <a:solidFill>
              <a:schemeClr val="bg1">
                <a:lumMod val="85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600">
                  <a:solidFill>
                    <a:schemeClr val="tx1"/>
                  </a:solidFill>
                </a:rPr>
                <a:t>Case Counts</a:t>
              </a:r>
            </a:p>
          </p:txBody>
        </p:sp>
      </p:grpSp>
      <p:sp>
        <p:nvSpPr>
          <p:cNvPr id="6" name="TextBox 5">
            <a:extLst>
              <a:ext uri="{FF2B5EF4-FFF2-40B4-BE49-F238E27FC236}">
                <a16:creationId xmlns:a16="http://schemas.microsoft.com/office/drawing/2014/main" id="{6C6E790C-EF5C-3955-A147-DC22EE1DEA25}"/>
              </a:ext>
            </a:extLst>
          </p:cNvPr>
          <p:cNvSpPr txBox="1"/>
          <p:nvPr/>
        </p:nvSpPr>
        <p:spPr>
          <a:xfrm>
            <a:off x="254942" y="2322178"/>
            <a:ext cx="1311321" cy="369332"/>
          </a:xfrm>
          <a:prstGeom prst="rect">
            <a:avLst/>
          </a:prstGeom>
          <a:noFill/>
        </p:spPr>
        <p:txBody>
          <a:bodyPr wrap="none" rtlCol="0">
            <a:spAutoFit/>
          </a:bodyPr>
          <a:lstStyle/>
          <a:p>
            <a:r>
              <a:rPr lang="en-US"/>
              <a:t>Onset Date</a:t>
            </a:r>
            <a:endParaRPr lang="en-CA"/>
          </a:p>
        </p:txBody>
      </p:sp>
      <p:sp>
        <p:nvSpPr>
          <p:cNvPr id="12" name="Rectangle 11">
            <a:extLst>
              <a:ext uri="{FF2B5EF4-FFF2-40B4-BE49-F238E27FC236}">
                <a16:creationId xmlns:a16="http://schemas.microsoft.com/office/drawing/2014/main" id="{0A3E673C-832D-3713-2863-4C9376B89E53}"/>
              </a:ext>
            </a:extLst>
          </p:cNvPr>
          <p:cNvSpPr/>
          <p:nvPr/>
        </p:nvSpPr>
        <p:spPr>
          <a:xfrm>
            <a:off x="1635779" y="2354505"/>
            <a:ext cx="1108364"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TextBox 13">
            <a:extLst>
              <a:ext uri="{FF2B5EF4-FFF2-40B4-BE49-F238E27FC236}">
                <a16:creationId xmlns:a16="http://schemas.microsoft.com/office/drawing/2014/main" id="{C041BB06-C1A4-1BA9-D3BB-9451BF3D483A}"/>
              </a:ext>
            </a:extLst>
          </p:cNvPr>
          <p:cNvSpPr txBox="1"/>
          <p:nvPr/>
        </p:nvSpPr>
        <p:spPr>
          <a:xfrm>
            <a:off x="214634" y="3047538"/>
            <a:ext cx="1881221" cy="369332"/>
          </a:xfrm>
          <a:prstGeom prst="rect">
            <a:avLst/>
          </a:prstGeom>
          <a:noFill/>
        </p:spPr>
        <p:txBody>
          <a:bodyPr wrap="none" rtlCol="0">
            <a:spAutoFit/>
          </a:bodyPr>
          <a:lstStyle/>
          <a:p>
            <a:r>
              <a:rPr lang="en-US"/>
              <a:t>Lead Investigator</a:t>
            </a:r>
            <a:endParaRPr lang="en-CA"/>
          </a:p>
        </p:txBody>
      </p:sp>
      <p:sp>
        <p:nvSpPr>
          <p:cNvPr id="15" name="Rectangle 14">
            <a:extLst>
              <a:ext uri="{FF2B5EF4-FFF2-40B4-BE49-F238E27FC236}">
                <a16:creationId xmlns:a16="http://schemas.microsoft.com/office/drawing/2014/main" id="{8F70FC49-8640-B054-770D-2213EA8EE519}"/>
              </a:ext>
            </a:extLst>
          </p:cNvPr>
          <p:cNvSpPr/>
          <p:nvPr/>
        </p:nvSpPr>
        <p:spPr>
          <a:xfrm>
            <a:off x="2194250" y="3101247"/>
            <a:ext cx="2216196"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CA">
                <a:solidFill>
                  <a:schemeClr val="tx1"/>
                </a:solidFill>
                <a:latin typeface="Arial" panose="020B0604020202020204" pitchFamily="34" charset="0"/>
                <a:cs typeface="Arial" panose="020B0604020202020204" pitchFamily="34" charset="0"/>
              </a:rPr>
              <a:t>▼</a:t>
            </a:r>
            <a:endParaRPr lang="en-CA">
              <a:solidFill>
                <a:schemeClr val="tx1"/>
              </a:solidFill>
            </a:endParaRPr>
          </a:p>
        </p:txBody>
      </p:sp>
      <p:sp>
        <p:nvSpPr>
          <p:cNvPr id="16" name="TextBox 15">
            <a:extLst>
              <a:ext uri="{FF2B5EF4-FFF2-40B4-BE49-F238E27FC236}">
                <a16:creationId xmlns:a16="http://schemas.microsoft.com/office/drawing/2014/main" id="{67143E73-DC7B-00F7-4983-7B5A809C6DAF}"/>
              </a:ext>
            </a:extLst>
          </p:cNvPr>
          <p:cNvSpPr txBox="1"/>
          <p:nvPr/>
        </p:nvSpPr>
        <p:spPr>
          <a:xfrm>
            <a:off x="4506850" y="3395421"/>
            <a:ext cx="2266518" cy="369332"/>
          </a:xfrm>
          <a:prstGeom prst="rect">
            <a:avLst/>
          </a:prstGeom>
          <a:noFill/>
        </p:spPr>
        <p:txBody>
          <a:bodyPr wrap="none" rtlCol="0">
            <a:spAutoFit/>
          </a:bodyPr>
          <a:lstStyle/>
          <a:p>
            <a:r>
              <a:rPr lang="en-US"/>
              <a:t>Suspected Organism</a:t>
            </a:r>
            <a:endParaRPr lang="en-CA"/>
          </a:p>
        </p:txBody>
      </p:sp>
      <p:sp>
        <p:nvSpPr>
          <p:cNvPr id="17" name="Rectangle 16">
            <a:extLst>
              <a:ext uri="{FF2B5EF4-FFF2-40B4-BE49-F238E27FC236}">
                <a16:creationId xmlns:a16="http://schemas.microsoft.com/office/drawing/2014/main" id="{8FE287E4-7FB2-F425-7B85-506797451C2A}"/>
              </a:ext>
            </a:extLst>
          </p:cNvPr>
          <p:cNvSpPr/>
          <p:nvPr/>
        </p:nvSpPr>
        <p:spPr>
          <a:xfrm>
            <a:off x="6773368" y="3431519"/>
            <a:ext cx="1977788"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CA">
                <a:solidFill>
                  <a:schemeClr val="tx1"/>
                </a:solidFill>
                <a:latin typeface="Arial" panose="020B0604020202020204" pitchFamily="34" charset="0"/>
                <a:cs typeface="Arial" panose="020B0604020202020204" pitchFamily="34" charset="0"/>
              </a:rPr>
              <a:t>▼</a:t>
            </a:r>
            <a:endParaRPr lang="en-CA">
              <a:solidFill>
                <a:schemeClr val="tx1"/>
              </a:solidFill>
            </a:endParaRPr>
          </a:p>
        </p:txBody>
      </p:sp>
      <p:sp>
        <p:nvSpPr>
          <p:cNvPr id="18" name="TextBox 17">
            <a:extLst>
              <a:ext uri="{FF2B5EF4-FFF2-40B4-BE49-F238E27FC236}">
                <a16:creationId xmlns:a16="http://schemas.microsoft.com/office/drawing/2014/main" id="{F3044F0E-75C4-317D-D207-C05A5B85468D}"/>
              </a:ext>
            </a:extLst>
          </p:cNvPr>
          <p:cNvSpPr txBox="1"/>
          <p:nvPr/>
        </p:nvSpPr>
        <p:spPr>
          <a:xfrm>
            <a:off x="227016" y="3836250"/>
            <a:ext cx="1052276" cy="369332"/>
          </a:xfrm>
          <a:prstGeom prst="rect">
            <a:avLst/>
          </a:prstGeom>
          <a:noFill/>
        </p:spPr>
        <p:txBody>
          <a:bodyPr wrap="none" rtlCol="0">
            <a:spAutoFit/>
          </a:bodyPr>
          <a:lstStyle/>
          <a:p>
            <a:r>
              <a:rPr lang="en-US"/>
              <a:t>Location</a:t>
            </a:r>
            <a:endParaRPr lang="en-CA"/>
          </a:p>
        </p:txBody>
      </p:sp>
      <p:sp>
        <p:nvSpPr>
          <p:cNvPr id="19" name="Rectangle 18">
            <a:extLst>
              <a:ext uri="{FF2B5EF4-FFF2-40B4-BE49-F238E27FC236}">
                <a16:creationId xmlns:a16="http://schemas.microsoft.com/office/drawing/2014/main" id="{8D2E4F7B-EEF6-9064-04F1-A8A52C04D162}"/>
              </a:ext>
            </a:extLst>
          </p:cNvPr>
          <p:cNvSpPr/>
          <p:nvPr/>
        </p:nvSpPr>
        <p:spPr>
          <a:xfrm>
            <a:off x="1379663" y="3904759"/>
            <a:ext cx="2216196"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CA"/>
          </a:p>
        </p:txBody>
      </p:sp>
      <p:sp>
        <p:nvSpPr>
          <p:cNvPr id="21" name="Rectangle 20">
            <a:extLst>
              <a:ext uri="{FF2B5EF4-FFF2-40B4-BE49-F238E27FC236}">
                <a16:creationId xmlns:a16="http://schemas.microsoft.com/office/drawing/2014/main" id="{8CE195F6-3359-0CED-5A68-A72C695A39DC}"/>
              </a:ext>
            </a:extLst>
          </p:cNvPr>
          <p:cNvSpPr/>
          <p:nvPr/>
        </p:nvSpPr>
        <p:spPr>
          <a:xfrm>
            <a:off x="2295617" y="4665471"/>
            <a:ext cx="1881033"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CA">
                <a:solidFill>
                  <a:schemeClr val="tx1"/>
                </a:solidFill>
                <a:latin typeface="Arial" panose="020B0604020202020204" pitchFamily="34" charset="0"/>
                <a:cs typeface="Arial" panose="020B0604020202020204" pitchFamily="34" charset="0"/>
              </a:rPr>
              <a:t>▼</a:t>
            </a:r>
            <a:endParaRPr lang="en-CA"/>
          </a:p>
        </p:txBody>
      </p:sp>
      <p:sp>
        <p:nvSpPr>
          <p:cNvPr id="22" name="TextBox 21">
            <a:extLst>
              <a:ext uri="{FF2B5EF4-FFF2-40B4-BE49-F238E27FC236}">
                <a16:creationId xmlns:a16="http://schemas.microsoft.com/office/drawing/2014/main" id="{5BD7DCED-2EB4-6A29-ECAF-494BF0B016A8}"/>
              </a:ext>
            </a:extLst>
          </p:cNvPr>
          <p:cNvSpPr txBox="1"/>
          <p:nvPr/>
        </p:nvSpPr>
        <p:spPr>
          <a:xfrm>
            <a:off x="251289" y="4625914"/>
            <a:ext cx="2110911" cy="369332"/>
          </a:xfrm>
          <a:prstGeom prst="rect">
            <a:avLst/>
          </a:prstGeom>
          <a:noFill/>
        </p:spPr>
        <p:txBody>
          <a:bodyPr wrap="square" rtlCol="0">
            <a:spAutoFit/>
          </a:bodyPr>
          <a:lstStyle/>
          <a:p>
            <a:r>
              <a:rPr lang="en-US"/>
              <a:t>Department/Grade</a:t>
            </a:r>
            <a:endParaRPr lang="en-CA"/>
          </a:p>
        </p:txBody>
      </p:sp>
      <p:sp>
        <p:nvSpPr>
          <p:cNvPr id="25" name="Rectangle 24">
            <a:extLst>
              <a:ext uri="{FF2B5EF4-FFF2-40B4-BE49-F238E27FC236}">
                <a16:creationId xmlns:a16="http://schemas.microsoft.com/office/drawing/2014/main" id="{9C627E8F-61E0-1611-5A19-74247E6FC1A5}"/>
              </a:ext>
            </a:extLst>
          </p:cNvPr>
          <p:cNvSpPr/>
          <p:nvPr/>
        </p:nvSpPr>
        <p:spPr>
          <a:xfrm>
            <a:off x="4547233" y="1081182"/>
            <a:ext cx="1345583"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CA">
                <a:solidFill>
                  <a:schemeClr val="tx1"/>
                </a:solidFill>
                <a:latin typeface="Arial" panose="020B0604020202020204" pitchFamily="34" charset="0"/>
                <a:cs typeface="Arial" panose="020B0604020202020204" pitchFamily="34" charset="0"/>
              </a:rPr>
              <a:t>▼</a:t>
            </a:r>
            <a:endParaRPr lang="en-CA"/>
          </a:p>
        </p:txBody>
      </p:sp>
      <p:sp>
        <p:nvSpPr>
          <p:cNvPr id="27" name="Rectangle 26">
            <a:extLst>
              <a:ext uri="{FF2B5EF4-FFF2-40B4-BE49-F238E27FC236}">
                <a16:creationId xmlns:a16="http://schemas.microsoft.com/office/drawing/2014/main" id="{76A0B5ED-61CB-1670-6CCF-6D9632CD763F}"/>
              </a:ext>
            </a:extLst>
          </p:cNvPr>
          <p:cNvSpPr/>
          <p:nvPr/>
        </p:nvSpPr>
        <p:spPr>
          <a:xfrm>
            <a:off x="7037710" y="1088052"/>
            <a:ext cx="1389068"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CA">
                <a:solidFill>
                  <a:schemeClr val="tx1"/>
                </a:solidFill>
                <a:latin typeface="Arial" panose="020B0604020202020204" pitchFamily="34" charset="0"/>
                <a:cs typeface="Arial" panose="020B0604020202020204" pitchFamily="34" charset="0"/>
              </a:rPr>
              <a:t>▼</a:t>
            </a:r>
            <a:endParaRPr lang="en-CA"/>
          </a:p>
        </p:txBody>
      </p:sp>
      <p:sp>
        <p:nvSpPr>
          <p:cNvPr id="29" name="TextBox 28">
            <a:extLst>
              <a:ext uri="{FF2B5EF4-FFF2-40B4-BE49-F238E27FC236}">
                <a16:creationId xmlns:a16="http://schemas.microsoft.com/office/drawing/2014/main" id="{AFB45C44-000B-371C-6BC3-A1D1B850774A}"/>
              </a:ext>
            </a:extLst>
          </p:cNvPr>
          <p:cNvSpPr txBox="1"/>
          <p:nvPr/>
        </p:nvSpPr>
        <p:spPr>
          <a:xfrm>
            <a:off x="214634" y="3453431"/>
            <a:ext cx="1557093" cy="369332"/>
          </a:xfrm>
          <a:prstGeom prst="rect">
            <a:avLst/>
          </a:prstGeom>
          <a:noFill/>
        </p:spPr>
        <p:txBody>
          <a:bodyPr wrap="none" rtlCol="0">
            <a:spAutoFit/>
          </a:bodyPr>
          <a:lstStyle/>
          <a:p>
            <a:r>
              <a:rPr lang="en-US"/>
              <a:t>Location Type</a:t>
            </a:r>
            <a:endParaRPr lang="en-CA"/>
          </a:p>
        </p:txBody>
      </p:sp>
      <p:sp>
        <p:nvSpPr>
          <p:cNvPr id="30" name="Rectangle 29">
            <a:extLst>
              <a:ext uri="{FF2B5EF4-FFF2-40B4-BE49-F238E27FC236}">
                <a16:creationId xmlns:a16="http://schemas.microsoft.com/office/drawing/2014/main" id="{E4D35632-E257-ACC1-7799-4929451F520C}"/>
              </a:ext>
            </a:extLst>
          </p:cNvPr>
          <p:cNvSpPr/>
          <p:nvPr/>
        </p:nvSpPr>
        <p:spPr>
          <a:xfrm>
            <a:off x="2205570" y="3511122"/>
            <a:ext cx="2216196"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CA"/>
          </a:p>
        </p:txBody>
      </p:sp>
      <p:sp>
        <p:nvSpPr>
          <p:cNvPr id="32" name="TextBox 31">
            <a:extLst>
              <a:ext uri="{FF2B5EF4-FFF2-40B4-BE49-F238E27FC236}">
                <a16:creationId xmlns:a16="http://schemas.microsoft.com/office/drawing/2014/main" id="{AE0A5A1E-BCE9-464E-EEC5-11C3D853BE63}"/>
              </a:ext>
            </a:extLst>
          </p:cNvPr>
          <p:cNvSpPr txBox="1"/>
          <p:nvPr/>
        </p:nvSpPr>
        <p:spPr>
          <a:xfrm>
            <a:off x="274680" y="1941098"/>
            <a:ext cx="987835" cy="369332"/>
          </a:xfrm>
          <a:prstGeom prst="rect">
            <a:avLst/>
          </a:prstGeom>
          <a:noFill/>
        </p:spPr>
        <p:txBody>
          <a:bodyPr wrap="none" rtlCol="0">
            <a:spAutoFit/>
          </a:bodyPr>
          <a:lstStyle/>
          <a:p>
            <a:r>
              <a:rPr lang="en-US"/>
              <a:t>Created</a:t>
            </a:r>
            <a:endParaRPr lang="en-CA"/>
          </a:p>
        </p:txBody>
      </p:sp>
      <p:sp>
        <p:nvSpPr>
          <p:cNvPr id="33" name="Rectangle 32">
            <a:extLst>
              <a:ext uri="{FF2B5EF4-FFF2-40B4-BE49-F238E27FC236}">
                <a16:creationId xmlns:a16="http://schemas.microsoft.com/office/drawing/2014/main" id="{A08C0304-DE38-AD70-8ADA-19C27E7E7E30}"/>
              </a:ext>
            </a:extLst>
          </p:cNvPr>
          <p:cNvSpPr/>
          <p:nvPr/>
        </p:nvSpPr>
        <p:spPr>
          <a:xfrm>
            <a:off x="1386395" y="1972225"/>
            <a:ext cx="1108364"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6" name="TextBox 35">
            <a:extLst>
              <a:ext uri="{FF2B5EF4-FFF2-40B4-BE49-F238E27FC236}">
                <a16:creationId xmlns:a16="http://schemas.microsoft.com/office/drawing/2014/main" id="{C72EE0D0-5EE0-5FF2-26CC-0893AEB939FF}"/>
              </a:ext>
            </a:extLst>
          </p:cNvPr>
          <p:cNvSpPr txBox="1"/>
          <p:nvPr/>
        </p:nvSpPr>
        <p:spPr>
          <a:xfrm>
            <a:off x="3527639" y="2640039"/>
            <a:ext cx="1590628" cy="369332"/>
          </a:xfrm>
          <a:prstGeom prst="rect">
            <a:avLst/>
          </a:prstGeom>
          <a:noFill/>
        </p:spPr>
        <p:txBody>
          <a:bodyPr wrap="none" rtlCol="0">
            <a:spAutoFit/>
          </a:bodyPr>
          <a:lstStyle/>
          <a:p>
            <a:r>
              <a:rPr lang="en-US"/>
              <a:t>PHAC Event # </a:t>
            </a:r>
            <a:endParaRPr lang="en-CA"/>
          </a:p>
        </p:txBody>
      </p:sp>
      <p:sp>
        <p:nvSpPr>
          <p:cNvPr id="37" name="Rectangle 36">
            <a:extLst>
              <a:ext uri="{FF2B5EF4-FFF2-40B4-BE49-F238E27FC236}">
                <a16:creationId xmlns:a16="http://schemas.microsoft.com/office/drawing/2014/main" id="{FC4C115B-33C8-4533-B41E-8545A7D5AD3A}"/>
              </a:ext>
            </a:extLst>
          </p:cNvPr>
          <p:cNvSpPr/>
          <p:nvPr/>
        </p:nvSpPr>
        <p:spPr>
          <a:xfrm>
            <a:off x="5118267" y="2672366"/>
            <a:ext cx="1108364"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9" name="TextBox 38">
            <a:extLst>
              <a:ext uri="{FF2B5EF4-FFF2-40B4-BE49-F238E27FC236}">
                <a16:creationId xmlns:a16="http://schemas.microsoft.com/office/drawing/2014/main" id="{0B4C3611-ACC3-DC82-9A47-6AA3857704D4}"/>
              </a:ext>
            </a:extLst>
          </p:cNvPr>
          <p:cNvSpPr txBox="1"/>
          <p:nvPr/>
        </p:nvSpPr>
        <p:spPr>
          <a:xfrm>
            <a:off x="4511807" y="3813681"/>
            <a:ext cx="2261517" cy="369332"/>
          </a:xfrm>
          <a:prstGeom prst="rect">
            <a:avLst/>
          </a:prstGeom>
          <a:noFill/>
        </p:spPr>
        <p:txBody>
          <a:bodyPr wrap="none" rtlCol="0">
            <a:spAutoFit/>
          </a:bodyPr>
          <a:lstStyle/>
          <a:p>
            <a:r>
              <a:rPr lang="en-US"/>
              <a:t>Secondary Organism</a:t>
            </a:r>
            <a:endParaRPr lang="en-CA"/>
          </a:p>
        </p:txBody>
      </p:sp>
      <p:sp>
        <p:nvSpPr>
          <p:cNvPr id="40" name="Rectangle 39">
            <a:extLst>
              <a:ext uri="{FF2B5EF4-FFF2-40B4-BE49-F238E27FC236}">
                <a16:creationId xmlns:a16="http://schemas.microsoft.com/office/drawing/2014/main" id="{826A6F00-5A20-BDCE-2E5B-DA80A2C0F766}"/>
              </a:ext>
            </a:extLst>
          </p:cNvPr>
          <p:cNvSpPr/>
          <p:nvPr/>
        </p:nvSpPr>
        <p:spPr>
          <a:xfrm>
            <a:off x="6778325" y="3849779"/>
            <a:ext cx="1977788"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CA">
                <a:solidFill>
                  <a:schemeClr val="tx1"/>
                </a:solidFill>
                <a:latin typeface="Arial" panose="020B0604020202020204" pitchFamily="34" charset="0"/>
                <a:cs typeface="Arial" panose="020B0604020202020204" pitchFamily="34" charset="0"/>
              </a:rPr>
              <a:t>▼</a:t>
            </a:r>
            <a:endParaRPr lang="en-CA">
              <a:solidFill>
                <a:schemeClr val="tx1"/>
              </a:solidFill>
            </a:endParaRPr>
          </a:p>
        </p:txBody>
      </p:sp>
      <p:sp>
        <p:nvSpPr>
          <p:cNvPr id="41" name="Rectangle 40">
            <a:extLst>
              <a:ext uri="{FF2B5EF4-FFF2-40B4-BE49-F238E27FC236}">
                <a16:creationId xmlns:a16="http://schemas.microsoft.com/office/drawing/2014/main" id="{AB67534E-7E96-A773-DE5B-3360FEEBAD90}"/>
              </a:ext>
            </a:extLst>
          </p:cNvPr>
          <p:cNvSpPr/>
          <p:nvPr/>
        </p:nvSpPr>
        <p:spPr>
          <a:xfrm>
            <a:off x="1032821" y="5070524"/>
            <a:ext cx="1881033"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CA">
                <a:solidFill>
                  <a:schemeClr val="tx1"/>
                </a:solidFill>
                <a:latin typeface="Arial" panose="020B0604020202020204" pitchFamily="34" charset="0"/>
                <a:cs typeface="Arial" panose="020B0604020202020204" pitchFamily="34" charset="0"/>
              </a:rPr>
              <a:t>▼</a:t>
            </a:r>
            <a:endParaRPr lang="en-CA"/>
          </a:p>
        </p:txBody>
      </p:sp>
      <p:sp>
        <p:nvSpPr>
          <p:cNvPr id="42" name="TextBox 41">
            <a:extLst>
              <a:ext uri="{FF2B5EF4-FFF2-40B4-BE49-F238E27FC236}">
                <a16:creationId xmlns:a16="http://schemas.microsoft.com/office/drawing/2014/main" id="{EE6F847B-8D3A-9412-D20C-46007FBD02BD}"/>
              </a:ext>
            </a:extLst>
          </p:cNvPr>
          <p:cNvSpPr txBox="1"/>
          <p:nvPr/>
        </p:nvSpPr>
        <p:spPr>
          <a:xfrm>
            <a:off x="259999" y="5005869"/>
            <a:ext cx="696024" cy="369332"/>
          </a:xfrm>
          <a:prstGeom prst="rect">
            <a:avLst/>
          </a:prstGeom>
          <a:noFill/>
        </p:spPr>
        <p:txBody>
          <a:bodyPr wrap="none" rtlCol="0">
            <a:spAutoFit/>
          </a:bodyPr>
          <a:lstStyle/>
          <a:p>
            <a:r>
              <a:rPr lang="en-US"/>
              <a:t>Floor</a:t>
            </a:r>
            <a:endParaRPr lang="en-CA"/>
          </a:p>
        </p:txBody>
      </p:sp>
      <p:sp>
        <p:nvSpPr>
          <p:cNvPr id="43" name="Rectangle 42">
            <a:extLst>
              <a:ext uri="{FF2B5EF4-FFF2-40B4-BE49-F238E27FC236}">
                <a16:creationId xmlns:a16="http://schemas.microsoft.com/office/drawing/2014/main" id="{A8C475E9-3CFE-BB19-5120-C29991B42D39}"/>
              </a:ext>
            </a:extLst>
          </p:cNvPr>
          <p:cNvSpPr/>
          <p:nvPr/>
        </p:nvSpPr>
        <p:spPr>
          <a:xfrm>
            <a:off x="1024111" y="5438028"/>
            <a:ext cx="1881033"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CA">
                <a:solidFill>
                  <a:schemeClr val="tx1"/>
                </a:solidFill>
                <a:latin typeface="Arial" panose="020B0604020202020204" pitchFamily="34" charset="0"/>
                <a:cs typeface="Arial" panose="020B0604020202020204" pitchFamily="34" charset="0"/>
              </a:rPr>
              <a:t>▼</a:t>
            </a:r>
            <a:endParaRPr lang="en-CA"/>
          </a:p>
        </p:txBody>
      </p:sp>
      <p:sp>
        <p:nvSpPr>
          <p:cNvPr id="44" name="TextBox 43">
            <a:extLst>
              <a:ext uri="{FF2B5EF4-FFF2-40B4-BE49-F238E27FC236}">
                <a16:creationId xmlns:a16="http://schemas.microsoft.com/office/drawing/2014/main" id="{88993A00-C43C-28A8-FE11-9677DC91B7CE}"/>
              </a:ext>
            </a:extLst>
          </p:cNvPr>
          <p:cNvSpPr txBox="1"/>
          <p:nvPr/>
        </p:nvSpPr>
        <p:spPr>
          <a:xfrm>
            <a:off x="251289" y="5373373"/>
            <a:ext cx="774571" cy="369332"/>
          </a:xfrm>
          <a:prstGeom prst="rect">
            <a:avLst/>
          </a:prstGeom>
          <a:noFill/>
        </p:spPr>
        <p:txBody>
          <a:bodyPr wrap="none" rtlCol="0">
            <a:spAutoFit/>
          </a:bodyPr>
          <a:lstStyle/>
          <a:p>
            <a:r>
              <a:rPr lang="en-US"/>
              <a:t>Room</a:t>
            </a:r>
            <a:endParaRPr lang="en-CA"/>
          </a:p>
        </p:txBody>
      </p:sp>
      <p:pic>
        <p:nvPicPr>
          <p:cNvPr id="46" name="Graphic 45" descr="Daily calendar outline">
            <a:extLst>
              <a:ext uri="{FF2B5EF4-FFF2-40B4-BE49-F238E27FC236}">
                <a16:creationId xmlns:a16="http://schemas.microsoft.com/office/drawing/2014/main" id="{A9A899CA-684C-F713-A461-FB35D18680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88210" y="2334894"/>
            <a:ext cx="338586" cy="338586"/>
          </a:xfrm>
          <a:prstGeom prst="rect">
            <a:avLst/>
          </a:prstGeom>
        </p:spPr>
      </p:pic>
      <p:pic>
        <p:nvPicPr>
          <p:cNvPr id="47" name="Graphic 46" descr="Daily calendar outline">
            <a:extLst>
              <a:ext uri="{FF2B5EF4-FFF2-40B4-BE49-F238E27FC236}">
                <a16:creationId xmlns:a16="http://schemas.microsoft.com/office/drawing/2014/main" id="{E4BE84E8-1321-6174-491B-FC958E94B5E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26324" y="1963981"/>
            <a:ext cx="338586" cy="338586"/>
          </a:xfrm>
          <a:prstGeom prst="rect">
            <a:avLst/>
          </a:prstGeom>
        </p:spPr>
      </p:pic>
      <p:grpSp>
        <p:nvGrpSpPr>
          <p:cNvPr id="45" name="Group 44">
            <a:extLst>
              <a:ext uri="{FF2B5EF4-FFF2-40B4-BE49-F238E27FC236}">
                <a16:creationId xmlns:a16="http://schemas.microsoft.com/office/drawing/2014/main" id="{2C60206B-B0E6-08C9-0F44-871EE1FFBA64}"/>
              </a:ext>
            </a:extLst>
          </p:cNvPr>
          <p:cNvGrpSpPr/>
          <p:nvPr/>
        </p:nvGrpSpPr>
        <p:grpSpPr>
          <a:xfrm>
            <a:off x="242189" y="2694735"/>
            <a:ext cx="2473040" cy="377008"/>
            <a:chOff x="2849062" y="1783457"/>
            <a:chExt cx="2473040" cy="377008"/>
          </a:xfrm>
        </p:grpSpPr>
        <p:sp>
          <p:nvSpPr>
            <p:cNvPr id="23" name="TextBox 22">
              <a:extLst>
                <a:ext uri="{FF2B5EF4-FFF2-40B4-BE49-F238E27FC236}">
                  <a16:creationId xmlns:a16="http://schemas.microsoft.com/office/drawing/2014/main" id="{BAFE5393-BF33-4CA0-E24A-9A4F4F1AABAB}"/>
                </a:ext>
              </a:extLst>
            </p:cNvPr>
            <p:cNvSpPr txBox="1"/>
            <p:nvPr/>
          </p:nvSpPr>
          <p:spPr>
            <a:xfrm>
              <a:off x="2849062" y="1791133"/>
              <a:ext cx="1305614" cy="369332"/>
            </a:xfrm>
            <a:prstGeom prst="rect">
              <a:avLst/>
            </a:prstGeom>
            <a:noFill/>
          </p:spPr>
          <p:txBody>
            <a:bodyPr wrap="none" rtlCol="0">
              <a:spAutoFit/>
            </a:bodyPr>
            <a:lstStyle/>
            <a:p>
              <a:r>
                <a:rPr lang="en-US"/>
                <a:t>Completed</a:t>
              </a:r>
              <a:endParaRPr lang="en-CA"/>
            </a:p>
          </p:txBody>
        </p:sp>
        <p:sp>
          <p:nvSpPr>
            <p:cNvPr id="24" name="Rectangle 23">
              <a:extLst>
                <a:ext uri="{FF2B5EF4-FFF2-40B4-BE49-F238E27FC236}">
                  <a16:creationId xmlns:a16="http://schemas.microsoft.com/office/drawing/2014/main" id="{9BCF4113-E7B2-0739-2FFD-8FF3B5B09ABC}"/>
                </a:ext>
              </a:extLst>
            </p:cNvPr>
            <p:cNvSpPr/>
            <p:nvPr/>
          </p:nvSpPr>
          <p:spPr>
            <a:xfrm>
              <a:off x="4213738" y="1810358"/>
              <a:ext cx="1108364"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48" name="Graphic 47" descr="Daily calendar outline">
              <a:extLst>
                <a:ext uri="{FF2B5EF4-FFF2-40B4-BE49-F238E27FC236}">
                  <a16:creationId xmlns:a16="http://schemas.microsoft.com/office/drawing/2014/main" id="{A7937D61-BB64-E9D9-CD7A-4CC62C151C3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83516" y="1783457"/>
              <a:ext cx="338586" cy="338586"/>
            </a:xfrm>
            <a:prstGeom prst="rect">
              <a:avLst/>
            </a:prstGeom>
          </p:spPr>
        </p:pic>
      </p:grpSp>
      <p:sp>
        <p:nvSpPr>
          <p:cNvPr id="49" name="TextBox 48">
            <a:extLst>
              <a:ext uri="{FF2B5EF4-FFF2-40B4-BE49-F238E27FC236}">
                <a16:creationId xmlns:a16="http://schemas.microsoft.com/office/drawing/2014/main" id="{7FE18CAB-25CD-5BC0-FCC6-34FFA5838EBD}"/>
              </a:ext>
            </a:extLst>
          </p:cNvPr>
          <p:cNvSpPr txBox="1"/>
          <p:nvPr/>
        </p:nvSpPr>
        <p:spPr>
          <a:xfrm>
            <a:off x="5633509" y="4180881"/>
            <a:ext cx="2935547" cy="369332"/>
          </a:xfrm>
          <a:prstGeom prst="rect">
            <a:avLst/>
          </a:prstGeom>
          <a:noFill/>
        </p:spPr>
        <p:txBody>
          <a:bodyPr wrap="none" rtlCol="0">
            <a:spAutoFit/>
          </a:bodyPr>
          <a:lstStyle/>
          <a:p>
            <a:r>
              <a:rPr lang="en-US"/>
              <a:t>Outbreak Incident Narrative</a:t>
            </a:r>
            <a:endParaRPr lang="en-CA"/>
          </a:p>
        </p:txBody>
      </p:sp>
      <p:sp>
        <p:nvSpPr>
          <p:cNvPr id="50" name="Rectangle 49">
            <a:extLst>
              <a:ext uri="{FF2B5EF4-FFF2-40B4-BE49-F238E27FC236}">
                <a16:creationId xmlns:a16="http://schemas.microsoft.com/office/drawing/2014/main" id="{AF6E1DF8-4883-D7CD-7495-F5AB5C61BAEA}"/>
              </a:ext>
            </a:extLst>
          </p:cNvPr>
          <p:cNvSpPr/>
          <p:nvPr/>
        </p:nvSpPr>
        <p:spPr>
          <a:xfrm>
            <a:off x="4943350" y="4519523"/>
            <a:ext cx="3834006" cy="184146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CA">
              <a:solidFill>
                <a:schemeClr val="tx1"/>
              </a:solidFill>
            </a:endParaRPr>
          </a:p>
        </p:txBody>
      </p:sp>
      <p:sp>
        <p:nvSpPr>
          <p:cNvPr id="51" name="TextBox 50">
            <a:extLst>
              <a:ext uri="{FF2B5EF4-FFF2-40B4-BE49-F238E27FC236}">
                <a16:creationId xmlns:a16="http://schemas.microsoft.com/office/drawing/2014/main" id="{009F706E-0F68-4DE5-F022-0311184E3871}"/>
              </a:ext>
            </a:extLst>
          </p:cNvPr>
          <p:cNvSpPr txBox="1"/>
          <p:nvPr/>
        </p:nvSpPr>
        <p:spPr>
          <a:xfrm>
            <a:off x="6191199" y="2635106"/>
            <a:ext cx="1457450" cy="369332"/>
          </a:xfrm>
          <a:prstGeom prst="rect">
            <a:avLst/>
          </a:prstGeom>
          <a:noFill/>
        </p:spPr>
        <p:txBody>
          <a:bodyPr wrap="none" rtlCol="0">
            <a:spAutoFit/>
          </a:bodyPr>
          <a:lstStyle/>
          <a:p>
            <a:r>
              <a:rPr lang="en-US"/>
              <a:t>International</a:t>
            </a:r>
            <a:endParaRPr lang="en-CA"/>
          </a:p>
        </p:txBody>
      </p:sp>
      <p:sp>
        <p:nvSpPr>
          <p:cNvPr id="52" name="Rectangle 51">
            <a:extLst>
              <a:ext uri="{FF2B5EF4-FFF2-40B4-BE49-F238E27FC236}">
                <a16:creationId xmlns:a16="http://schemas.microsoft.com/office/drawing/2014/main" id="{FDF276C5-F553-9258-E9F0-566425201178}"/>
              </a:ext>
            </a:extLst>
          </p:cNvPr>
          <p:cNvSpPr/>
          <p:nvPr/>
        </p:nvSpPr>
        <p:spPr>
          <a:xfrm>
            <a:off x="7661402" y="2675328"/>
            <a:ext cx="1108364"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a:t>
            </a:r>
            <a:endParaRPr lang="en-CA">
              <a:solidFill>
                <a:schemeClr val="tx1"/>
              </a:solidFill>
            </a:endParaRPr>
          </a:p>
        </p:txBody>
      </p:sp>
      <p:sp>
        <p:nvSpPr>
          <p:cNvPr id="53" name="Rectangle: Rounded Corners 52">
            <a:extLst>
              <a:ext uri="{FF2B5EF4-FFF2-40B4-BE49-F238E27FC236}">
                <a16:creationId xmlns:a16="http://schemas.microsoft.com/office/drawing/2014/main" id="{2936E288-2C4B-25DA-F489-A5FFA9D42D95}"/>
              </a:ext>
            </a:extLst>
          </p:cNvPr>
          <p:cNvSpPr/>
          <p:nvPr/>
        </p:nvSpPr>
        <p:spPr>
          <a:xfrm>
            <a:off x="352476" y="5891530"/>
            <a:ext cx="2035734" cy="562617"/>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hlinkClick r:id="rId4" action="ppaction://hlinksldjump">
                  <a:extLst>
                    <a:ext uri="{A12FA001-AC4F-418D-AE19-62706E023703}">
                      <ahyp:hlinkClr xmlns:ahyp="http://schemas.microsoft.com/office/drawing/2018/hyperlinkcolor" val="tx"/>
                    </a:ext>
                  </a:extLst>
                </a:hlinkClick>
              </a:rPr>
              <a:t>Create Line List Questionnaire</a:t>
            </a:r>
            <a:endParaRPr lang="en-CA">
              <a:solidFill>
                <a:schemeClr val="bg1"/>
              </a:solidFill>
            </a:endParaRPr>
          </a:p>
        </p:txBody>
      </p:sp>
      <p:sp>
        <p:nvSpPr>
          <p:cNvPr id="54" name="Rectangle: Rounded Corners 53">
            <a:extLst>
              <a:ext uri="{FF2B5EF4-FFF2-40B4-BE49-F238E27FC236}">
                <a16:creationId xmlns:a16="http://schemas.microsoft.com/office/drawing/2014/main" id="{C0AFF6E6-D9D1-B097-1D40-08A24220F2EE}"/>
              </a:ext>
            </a:extLst>
          </p:cNvPr>
          <p:cNvSpPr/>
          <p:nvPr/>
        </p:nvSpPr>
        <p:spPr>
          <a:xfrm>
            <a:off x="2536241" y="5882783"/>
            <a:ext cx="2035734" cy="562617"/>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hlinkClick r:id="rId5" action="ppaction://hlinksldjump">
                  <a:extLst>
                    <a:ext uri="{A12FA001-AC4F-418D-AE19-62706E023703}">
                      <ahyp:hlinkClr xmlns:ahyp="http://schemas.microsoft.com/office/drawing/2018/hyperlinkcolor" val="tx"/>
                    </a:ext>
                  </a:extLst>
                </a:hlinkClick>
              </a:rPr>
              <a:t>Create Summary Questionnaire</a:t>
            </a:r>
            <a:endParaRPr lang="en-CA">
              <a:solidFill>
                <a:schemeClr val="bg1"/>
              </a:solidFill>
            </a:endParaRPr>
          </a:p>
        </p:txBody>
      </p:sp>
      <p:sp>
        <p:nvSpPr>
          <p:cNvPr id="5" name="TextBox 4">
            <a:extLst>
              <a:ext uri="{FF2B5EF4-FFF2-40B4-BE49-F238E27FC236}">
                <a16:creationId xmlns:a16="http://schemas.microsoft.com/office/drawing/2014/main" id="{B88AEDC6-A07A-0F2C-3C60-BDB942DC53B1}"/>
              </a:ext>
            </a:extLst>
          </p:cNvPr>
          <p:cNvSpPr txBox="1"/>
          <p:nvPr/>
        </p:nvSpPr>
        <p:spPr>
          <a:xfrm>
            <a:off x="5468215" y="2284985"/>
            <a:ext cx="2160335" cy="369332"/>
          </a:xfrm>
          <a:prstGeom prst="rect">
            <a:avLst/>
          </a:prstGeom>
          <a:noFill/>
        </p:spPr>
        <p:txBody>
          <a:bodyPr wrap="none" rtlCol="0">
            <a:spAutoFit/>
          </a:bodyPr>
          <a:lstStyle/>
          <a:p>
            <a:r>
              <a:rPr lang="en-US"/>
              <a:t>Outbreak Cluster ID</a:t>
            </a:r>
            <a:endParaRPr lang="en-CA"/>
          </a:p>
        </p:txBody>
      </p:sp>
      <p:sp>
        <p:nvSpPr>
          <p:cNvPr id="38" name="Rectangle 37">
            <a:extLst>
              <a:ext uri="{FF2B5EF4-FFF2-40B4-BE49-F238E27FC236}">
                <a16:creationId xmlns:a16="http://schemas.microsoft.com/office/drawing/2014/main" id="{44B1109D-5668-A0BC-68F7-49ACF54BF896}"/>
              </a:ext>
            </a:extLst>
          </p:cNvPr>
          <p:cNvSpPr/>
          <p:nvPr/>
        </p:nvSpPr>
        <p:spPr>
          <a:xfrm>
            <a:off x="7658418" y="2307508"/>
            <a:ext cx="1108364"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6" name="TextBox 55">
            <a:extLst>
              <a:ext uri="{FF2B5EF4-FFF2-40B4-BE49-F238E27FC236}">
                <a16:creationId xmlns:a16="http://schemas.microsoft.com/office/drawing/2014/main" id="{442D3AAC-290E-1329-856C-8E62C762B250}"/>
              </a:ext>
            </a:extLst>
          </p:cNvPr>
          <p:cNvSpPr txBox="1"/>
          <p:nvPr/>
        </p:nvSpPr>
        <p:spPr>
          <a:xfrm>
            <a:off x="8704610" y="2975112"/>
            <a:ext cx="290464" cy="369332"/>
          </a:xfrm>
          <a:prstGeom prst="rect">
            <a:avLst/>
          </a:prstGeom>
          <a:noFill/>
        </p:spPr>
        <p:txBody>
          <a:bodyPr wrap="none" rtlCol="0">
            <a:spAutoFit/>
          </a:bodyPr>
          <a:lstStyle/>
          <a:p>
            <a:r>
              <a:rPr lang="en-US">
                <a:solidFill>
                  <a:schemeClr val="accent6"/>
                </a:solidFill>
              </a:rPr>
              <a:t>*</a:t>
            </a:r>
            <a:endParaRPr lang="en-CA">
              <a:solidFill>
                <a:schemeClr val="accent6"/>
              </a:solidFill>
            </a:endParaRPr>
          </a:p>
        </p:txBody>
      </p:sp>
      <p:sp>
        <p:nvSpPr>
          <p:cNvPr id="57" name="TextBox 56">
            <a:extLst>
              <a:ext uri="{FF2B5EF4-FFF2-40B4-BE49-F238E27FC236}">
                <a16:creationId xmlns:a16="http://schemas.microsoft.com/office/drawing/2014/main" id="{EE0FD7AB-9E9F-CE16-E95C-B09ED323D22A}"/>
              </a:ext>
            </a:extLst>
          </p:cNvPr>
          <p:cNvSpPr txBox="1"/>
          <p:nvPr/>
        </p:nvSpPr>
        <p:spPr>
          <a:xfrm>
            <a:off x="4329228" y="2903670"/>
            <a:ext cx="290464" cy="369332"/>
          </a:xfrm>
          <a:prstGeom prst="rect">
            <a:avLst/>
          </a:prstGeom>
          <a:noFill/>
        </p:spPr>
        <p:txBody>
          <a:bodyPr wrap="none" rtlCol="0">
            <a:spAutoFit/>
          </a:bodyPr>
          <a:lstStyle/>
          <a:p>
            <a:r>
              <a:rPr lang="en-US">
                <a:solidFill>
                  <a:schemeClr val="accent6"/>
                </a:solidFill>
              </a:rPr>
              <a:t>*</a:t>
            </a:r>
            <a:endParaRPr lang="en-CA">
              <a:solidFill>
                <a:schemeClr val="accent6"/>
              </a:solidFill>
            </a:endParaRPr>
          </a:p>
        </p:txBody>
      </p:sp>
      <p:sp>
        <p:nvSpPr>
          <p:cNvPr id="58" name="TextBox 57">
            <a:extLst>
              <a:ext uri="{FF2B5EF4-FFF2-40B4-BE49-F238E27FC236}">
                <a16:creationId xmlns:a16="http://schemas.microsoft.com/office/drawing/2014/main" id="{D7F8CC68-7E44-A669-E617-BF367CA8BA65}"/>
              </a:ext>
            </a:extLst>
          </p:cNvPr>
          <p:cNvSpPr txBox="1"/>
          <p:nvPr/>
        </p:nvSpPr>
        <p:spPr>
          <a:xfrm>
            <a:off x="5751540" y="3022487"/>
            <a:ext cx="989373" cy="369332"/>
          </a:xfrm>
          <a:prstGeom prst="rect">
            <a:avLst/>
          </a:prstGeom>
          <a:noFill/>
        </p:spPr>
        <p:txBody>
          <a:bodyPr wrap="none" rtlCol="0">
            <a:spAutoFit/>
          </a:bodyPr>
          <a:lstStyle/>
          <a:p>
            <a:r>
              <a:rPr lang="en-US"/>
              <a:t>Disease</a:t>
            </a:r>
            <a:endParaRPr lang="en-CA"/>
          </a:p>
        </p:txBody>
      </p:sp>
      <p:sp>
        <p:nvSpPr>
          <p:cNvPr id="59" name="Rectangle 58">
            <a:extLst>
              <a:ext uri="{FF2B5EF4-FFF2-40B4-BE49-F238E27FC236}">
                <a16:creationId xmlns:a16="http://schemas.microsoft.com/office/drawing/2014/main" id="{5EAB019E-8AED-D7FD-94C7-62E4233CA13C}"/>
              </a:ext>
            </a:extLst>
          </p:cNvPr>
          <p:cNvSpPr/>
          <p:nvPr/>
        </p:nvSpPr>
        <p:spPr>
          <a:xfrm>
            <a:off x="6750954" y="3059477"/>
            <a:ext cx="1977788"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CA">
                <a:solidFill>
                  <a:schemeClr val="tx1"/>
                </a:solidFill>
                <a:latin typeface="Arial" panose="020B0604020202020204" pitchFamily="34" charset="0"/>
                <a:cs typeface="Arial" panose="020B0604020202020204" pitchFamily="34" charset="0"/>
              </a:rPr>
              <a:t>▼</a:t>
            </a:r>
            <a:endParaRPr lang="en-CA">
              <a:solidFill>
                <a:schemeClr val="tx1"/>
              </a:solidFill>
            </a:endParaRPr>
          </a:p>
        </p:txBody>
      </p:sp>
      <p:sp>
        <p:nvSpPr>
          <p:cNvPr id="60" name="TextBox 59">
            <a:extLst>
              <a:ext uri="{FF2B5EF4-FFF2-40B4-BE49-F238E27FC236}">
                <a16:creationId xmlns:a16="http://schemas.microsoft.com/office/drawing/2014/main" id="{4951FFC0-175C-2546-1712-D7A56678BE9A}"/>
              </a:ext>
            </a:extLst>
          </p:cNvPr>
          <p:cNvSpPr txBox="1"/>
          <p:nvPr/>
        </p:nvSpPr>
        <p:spPr>
          <a:xfrm>
            <a:off x="8715816" y="3275435"/>
            <a:ext cx="157160" cy="369332"/>
          </a:xfrm>
          <a:prstGeom prst="rect">
            <a:avLst/>
          </a:prstGeom>
          <a:noFill/>
        </p:spPr>
        <p:txBody>
          <a:bodyPr wrap="square" rtlCol="0">
            <a:spAutoFit/>
          </a:bodyPr>
          <a:lstStyle/>
          <a:p>
            <a:r>
              <a:rPr lang="en-US">
                <a:solidFill>
                  <a:schemeClr val="accent6"/>
                </a:solidFill>
              </a:rPr>
              <a:t>*</a:t>
            </a:r>
            <a:endParaRPr lang="en-CA">
              <a:solidFill>
                <a:schemeClr val="accent6"/>
              </a:solidFill>
            </a:endParaRPr>
          </a:p>
        </p:txBody>
      </p:sp>
      <p:sp>
        <p:nvSpPr>
          <p:cNvPr id="61" name="Rectangle: Rounded Corners 60">
            <a:extLst>
              <a:ext uri="{FF2B5EF4-FFF2-40B4-BE49-F238E27FC236}">
                <a16:creationId xmlns:a16="http://schemas.microsoft.com/office/drawing/2014/main" id="{4C79B518-781B-C491-C592-797A6B278371}"/>
              </a:ext>
            </a:extLst>
          </p:cNvPr>
          <p:cNvSpPr/>
          <p:nvPr/>
        </p:nvSpPr>
        <p:spPr>
          <a:xfrm>
            <a:off x="3082533" y="5127401"/>
            <a:ext cx="1699581" cy="562617"/>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hlinkClick r:id="rId6" action="ppaction://hlinksldjump">
                  <a:extLst>
                    <a:ext uri="{A12FA001-AC4F-418D-AE19-62706E023703}">
                      <ahyp:hlinkClr xmlns:ahyp="http://schemas.microsoft.com/office/drawing/2018/hyperlinkcolor" val="tx"/>
                    </a:ext>
                  </a:extLst>
                </a:hlinkClick>
              </a:rPr>
              <a:t>Edit Facility</a:t>
            </a:r>
            <a:endParaRPr lang="en-CA">
              <a:solidFill>
                <a:schemeClr val="bg1"/>
              </a:solidFill>
            </a:endParaRPr>
          </a:p>
        </p:txBody>
      </p:sp>
      <p:sp>
        <p:nvSpPr>
          <p:cNvPr id="62" name="Rectangle 61">
            <a:extLst>
              <a:ext uri="{FF2B5EF4-FFF2-40B4-BE49-F238E27FC236}">
                <a16:creationId xmlns:a16="http://schemas.microsoft.com/office/drawing/2014/main" id="{949692A9-A216-3639-6ED9-D6F4EB680D1F}"/>
              </a:ext>
            </a:extLst>
          </p:cNvPr>
          <p:cNvSpPr/>
          <p:nvPr/>
        </p:nvSpPr>
        <p:spPr>
          <a:xfrm>
            <a:off x="2272922" y="4312033"/>
            <a:ext cx="1881033"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CA">
                <a:solidFill>
                  <a:schemeClr val="tx1"/>
                </a:solidFill>
                <a:latin typeface="Arial" panose="020B0604020202020204" pitchFamily="34" charset="0"/>
                <a:cs typeface="Arial" panose="020B0604020202020204" pitchFamily="34" charset="0"/>
              </a:rPr>
              <a:t>▼</a:t>
            </a:r>
            <a:endParaRPr lang="en-CA"/>
          </a:p>
        </p:txBody>
      </p:sp>
      <p:sp>
        <p:nvSpPr>
          <p:cNvPr id="63" name="TextBox 62">
            <a:extLst>
              <a:ext uri="{FF2B5EF4-FFF2-40B4-BE49-F238E27FC236}">
                <a16:creationId xmlns:a16="http://schemas.microsoft.com/office/drawing/2014/main" id="{A06B07E5-00E9-29CB-474E-1C100B9B1BFE}"/>
              </a:ext>
            </a:extLst>
          </p:cNvPr>
          <p:cNvSpPr txBox="1"/>
          <p:nvPr/>
        </p:nvSpPr>
        <p:spPr>
          <a:xfrm>
            <a:off x="228594" y="4272476"/>
            <a:ext cx="2110911" cy="369332"/>
          </a:xfrm>
          <a:prstGeom prst="rect">
            <a:avLst/>
          </a:prstGeom>
          <a:noFill/>
        </p:spPr>
        <p:txBody>
          <a:bodyPr wrap="square" rtlCol="0">
            <a:spAutoFit/>
          </a:bodyPr>
          <a:lstStyle/>
          <a:p>
            <a:r>
              <a:rPr lang="en-US"/>
              <a:t>Location Contact</a:t>
            </a:r>
            <a:endParaRPr lang="en-CA"/>
          </a:p>
        </p:txBody>
      </p:sp>
      <p:sp>
        <p:nvSpPr>
          <p:cNvPr id="64" name="TextBox 63">
            <a:extLst>
              <a:ext uri="{FF2B5EF4-FFF2-40B4-BE49-F238E27FC236}">
                <a16:creationId xmlns:a16="http://schemas.microsoft.com/office/drawing/2014/main" id="{F10E2A75-DB38-57EF-F84C-75103CB30B29}"/>
              </a:ext>
            </a:extLst>
          </p:cNvPr>
          <p:cNvSpPr txBox="1"/>
          <p:nvPr/>
        </p:nvSpPr>
        <p:spPr>
          <a:xfrm>
            <a:off x="4098764" y="4053919"/>
            <a:ext cx="290464" cy="369332"/>
          </a:xfrm>
          <a:prstGeom prst="rect">
            <a:avLst/>
          </a:prstGeom>
          <a:noFill/>
        </p:spPr>
        <p:txBody>
          <a:bodyPr wrap="none" rtlCol="0">
            <a:spAutoFit/>
          </a:bodyPr>
          <a:lstStyle/>
          <a:p>
            <a:r>
              <a:rPr lang="en-US">
                <a:solidFill>
                  <a:schemeClr val="accent6"/>
                </a:solidFill>
              </a:rPr>
              <a:t>*</a:t>
            </a:r>
            <a:endParaRPr lang="en-CA">
              <a:solidFill>
                <a:schemeClr val="accent6"/>
              </a:solidFill>
            </a:endParaRPr>
          </a:p>
        </p:txBody>
      </p:sp>
      <p:sp>
        <p:nvSpPr>
          <p:cNvPr id="65" name="TextBox 64">
            <a:extLst>
              <a:ext uri="{FF2B5EF4-FFF2-40B4-BE49-F238E27FC236}">
                <a16:creationId xmlns:a16="http://schemas.microsoft.com/office/drawing/2014/main" id="{E3415B74-C2CA-6B72-065C-59949DE97830}"/>
              </a:ext>
            </a:extLst>
          </p:cNvPr>
          <p:cNvSpPr txBox="1"/>
          <p:nvPr/>
        </p:nvSpPr>
        <p:spPr>
          <a:xfrm>
            <a:off x="4089947" y="4271759"/>
            <a:ext cx="308098" cy="369332"/>
          </a:xfrm>
          <a:prstGeom prst="rect">
            <a:avLst/>
          </a:prstGeom>
          <a:noFill/>
        </p:spPr>
        <p:txBody>
          <a:bodyPr wrap="none" rtlCol="0">
            <a:spAutoFit/>
          </a:bodyPr>
          <a:lstStyle/>
          <a:p>
            <a:r>
              <a:rPr lang="en-US"/>
              <a:t>+</a:t>
            </a:r>
            <a:endParaRPr lang="en-CA"/>
          </a:p>
        </p:txBody>
      </p:sp>
      <p:sp>
        <p:nvSpPr>
          <p:cNvPr id="68" name="TextBox 67">
            <a:extLst>
              <a:ext uri="{FF2B5EF4-FFF2-40B4-BE49-F238E27FC236}">
                <a16:creationId xmlns:a16="http://schemas.microsoft.com/office/drawing/2014/main" id="{F8D6C1F0-0B85-3367-7C28-B3ECAB5F905B}"/>
              </a:ext>
            </a:extLst>
          </p:cNvPr>
          <p:cNvSpPr txBox="1"/>
          <p:nvPr/>
        </p:nvSpPr>
        <p:spPr>
          <a:xfrm>
            <a:off x="214634" y="1065166"/>
            <a:ext cx="402674" cy="369332"/>
          </a:xfrm>
          <a:prstGeom prst="rect">
            <a:avLst/>
          </a:prstGeom>
          <a:noFill/>
        </p:spPr>
        <p:txBody>
          <a:bodyPr wrap="none" rtlCol="0">
            <a:spAutoFit/>
          </a:bodyPr>
          <a:lstStyle/>
          <a:p>
            <a:r>
              <a:rPr lang="en-US"/>
              <a:t>ID</a:t>
            </a:r>
            <a:endParaRPr lang="en-CA"/>
          </a:p>
        </p:txBody>
      </p:sp>
      <p:sp>
        <p:nvSpPr>
          <p:cNvPr id="69" name="Rectangle 68">
            <a:extLst>
              <a:ext uri="{FF2B5EF4-FFF2-40B4-BE49-F238E27FC236}">
                <a16:creationId xmlns:a16="http://schemas.microsoft.com/office/drawing/2014/main" id="{EA4E7F06-5D94-32C9-37D0-A407C20D1660}"/>
              </a:ext>
            </a:extLst>
          </p:cNvPr>
          <p:cNvSpPr/>
          <p:nvPr/>
        </p:nvSpPr>
        <p:spPr>
          <a:xfrm>
            <a:off x="626433" y="1089031"/>
            <a:ext cx="802439"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0" name="TextBox 69">
            <a:extLst>
              <a:ext uri="{FF2B5EF4-FFF2-40B4-BE49-F238E27FC236}">
                <a16:creationId xmlns:a16="http://schemas.microsoft.com/office/drawing/2014/main" id="{0EF6F066-5F29-DA26-5F09-C64123786E79}"/>
              </a:ext>
            </a:extLst>
          </p:cNvPr>
          <p:cNvSpPr txBox="1"/>
          <p:nvPr/>
        </p:nvSpPr>
        <p:spPr>
          <a:xfrm>
            <a:off x="1481899" y="1065166"/>
            <a:ext cx="790601" cy="369332"/>
          </a:xfrm>
          <a:prstGeom prst="rect">
            <a:avLst/>
          </a:prstGeom>
          <a:noFill/>
        </p:spPr>
        <p:txBody>
          <a:bodyPr wrap="none" rtlCol="0">
            <a:spAutoFit/>
          </a:bodyPr>
          <a:lstStyle/>
          <a:p>
            <a:r>
              <a:rPr lang="en-US"/>
              <a:t>Name</a:t>
            </a:r>
            <a:endParaRPr lang="en-CA"/>
          </a:p>
        </p:txBody>
      </p:sp>
      <p:sp>
        <p:nvSpPr>
          <p:cNvPr id="71" name="Rectangle 70">
            <a:extLst>
              <a:ext uri="{FF2B5EF4-FFF2-40B4-BE49-F238E27FC236}">
                <a16:creationId xmlns:a16="http://schemas.microsoft.com/office/drawing/2014/main" id="{026EC89B-4D6C-6B5D-5D7A-B50142D838C7}"/>
              </a:ext>
            </a:extLst>
          </p:cNvPr>
          <p:cNvSpPr/>
          <p:nvPr/>
        </p:nvSpPr>
        <p:spPr>
          <a:xfrm>
            <a:off x="2272500" y="1084583"/>
            <a:ext cx="1213674"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CA"/>
          </a:p>
        </p:txBody>
      </p:sp>
      <p:pic>
        <p:nvPicPr>
          <p:cNvPr id="72" name="Graphic 71" descr="User with solid fill">
            <a:extLst>
              <a:ext uri="{FF2B5EF4-FFF2-40B4-BE49-F238E27FC236}">
                <a16:creationId xmlns:a16="http://schemas.microsoft.com/office/drawing/2014/main" id="{FBA73D80-7A85-1080-7EC1-08EE38B9956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491867" y="642351"/>
            <a:ext cx="517187" cy="517187"/>
          </a:xfrm>
          <a:prstGeom prst="rect">
            <a:avLst/>
          </a:prstGeom>
        </p:spPr>
      </p:pic>
      <p:sp>
        <p:nvSpPr>
          <p:cNvPr id="73" name="TextBox 72">
            <a:extLst>
              <a:ext uri="{FF2B5EF4-FFF2-40B4-BE49-F238E27FC236}">
                <a16:creationId xmlns:a16="http://schemas.microsoft.com/office/drawing/2014/main" id="{A032744D-CE2F-DBD4-FA6E-7D3F9FCCBED7}"/>
              </a:ext>
            </a:extLst>
          </p:cNvPr>
          <p:cNvSpPr txBox="1"/>
          <p:nvPr/>
        </p:nvSpPr>
        <p:spPr>
          <a:xfrm>
            <a:off x="3558572" y="1047073"/>
            <a:ext cx="1048172" cy="369332"/>
          </a:xfrm>
          <a:prstGeom prst="rect">
            <a:avLst/>
          </a:prstGeom>
          <a:noFill/>
        </p:spPr>
        <p:txBody>
          <a:bodyPr wrap="none" rtlCol="0">
            <a:spAutoFit/>
          </a:bodyPr>
          <a:lstStyle/>
          <a:p>
            <a:r>
              <a:rPr lang="en-US"/>
              <a:t>Progress</a:t>
            </a:r>
            <a:endParaRPr lang="en-CA"/>
          </a:p>
        </p:txBody>
      </p:sp>
      <p:sp>
        <p:nvSpPr>
          <p:cNvPr id="75" name="TextBox 74">
            <a:extLst>
              <a:ext uri="{FF2B5EF4-FFF2-40B4-BE49-F238E27FC236}">
                <a16:creationId xmlns:a16="http://schemas.microsoft.com/office/drawing/2014/main" id="{0F0E2401-E3AA-F4CB-CFC3-AAEC6986386B}"/>
              </a:ext>
            </a:extLst>
          </p:cNvPr>
          <p:cNvSpPr txBox="1"/>
          <p:nvPr/>
        </p:nvSpPr>
        <p:spPr>
          <a:xfrm>
            <a:off x="5853562" y="1056822"/>
            <a:ext cx="1255472" cy="369332"/>
          </a:xfrm>
          <a:prstGeom prst="rect">
            <a:avLst/>
          </a:prstGeom>
          <a:noFill/>
        </p:spPr>
        <p:txBody>
          <a:bodyPr wrap="none" rtlCol="0">
            <a:spAutoFit/>
          </a:bodyPr>
          <a:lstStyle/>
          <a:p>
            <a:r>
              <a:rPr lang="en-US"/>
              <a:t>Resolution</a:t>
            </a:r>
            <a:endParaRPr lang="en-CA"/>
          </a:p>
        </p:txBody>
      </p:sp>
      <p:sp>
        <p:nvSpPr>
          <p:cNvPr id="9" name="TextBox 8">
            <a:extLst>
              <a:ext uri="{FF2B5EF4-FFF2-40B4-BE49-F238E27FC236}">
                <a16:creationId xmlns:a16="http://schemas.microsoft.com/office/drawing/2014/main" id="{BEFC6A9F-B066-156F-E830-408390C18B57}"/>
              </a:ext>
            </a:extLst>
          </p:cNvPr>
          <p:cNvSpPr txBox="1"/>
          <p:nvPr/>
        </p:nvSpPr>
        <p:spPr>
          <a:xfrm>
            <a:off x="5468214" y="1903984"/>
            <a:ext cx="1548565" cy="369332"/>
          </a:xfrm>
          <a:prstGeom prst="rect">
            <a:avLst/>
          </a:prstGeom>
          <a:noFill/>
        </p:spPr>
        <p:txBody>
          <a:bodyPr wrap="none" lIns="91440" tIns="45720" rIns="91440" bIns="45720" rtlCol="0" anchor="t">
            <a:spAutoFit/>
          </a:bodyPr>
          <a:lstStyle/>
          <a:p>
            <a:r>
              <a:rPr lang="en-US"/>
              <a:t>Filing Cabinet</a:t>
            </a:r>
          </a:p>
        </p:txBody>
      </p:sp>
    </p:spTree>
    <p:extLst>
      <p:ext uri="{BB962C8B-B14F-4D97-AF65-F5344CB8AC3E}">
        <p14:creationId xmlns:p14="http://schemas.microsoft.com/office/powerpoint/2010/main" val="25704253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48393-4587-E254-B4C2-C9A483A049A2}"/>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AE6763CA-BD3B-52FC-4EBF-15EC9B7EAC28}"/>
              </a:ext>
            </a:extLst>
          </p:cNvPr>
          <p:cNvSpPr>
            <a:spLocks noGrp="1"/>
          </p:cNvSpPr>
          <p:nvPr>
            <p:ph type="body" sz="quarter" idx="13"/>
          </p:nvPr>
        </p:nvSpPr>
        <p:spPr>
          <a:xfrm>
            <a:off x="253092" y="138791"/>
            <a:ext cx="2758331" cy="383721"/>
          </a:xfrm>
        </p:spPr>
        <p:txBody>
          <a:bodyPr>
            <a:normAutofit fontScale="77500" lnSpcReduction="20000"/>
          </a:bodyPr>
          <a:lstStyle/>
          <a:p>
            <a:r>
              <a:rPr lang="en-US"/>
              <a:t>Outbreak Management Solution</a:t>
            </a:r>
          </a:p>
        </p:txBody>
      </p:sp>
      <p:sp>
        <p:nvSpPr>
          <p:cNvPr id="5" name="Slide Number Placeholder 4">
            <a:extLst>
              <a:ext uri="{FF2B5EF4-FFF2-40B4-BE49-F238E27FC236}">
                <a16:creationId xmlns:a16="http://schemas.microsoft.com/office/drawing/2014/main" id="{20B32298-1E48-8E54-F52B-DBE860755873}"/>
              </a:ext>
            </a:extLst>
          </p:cNvPr>
          <p:cNvSpPr>
            <a:spLocks noGrp="1"/>
          </p:cNvSpPr>
          <p:nvPr>
            <p:ph type="sldNum" sz="quarter" idx="4"/>
          </p:nvPr>
        </p:nvSpPr>
        <p:spPr/>
        <p:txBody>
          <a:bodyPr/>
          <a:lstStyle/>
          <a:p>
            <a:fld id="{2639BB91-5DDD-4FF0-AA8B-B54FEC5F3DC9}" type="slidenum">
              <a:rPr lang="en-US" smtClean="0"/>
              <a:t>13</a:t>
            </a:fld>
            <a:endParaRPr lang="en-US"/>
          </a:p>
        </p:txBody>
      </p:sp>
      <p:sp>
        <p:nvSpPr>
          <p:cNvPr id="2" name="Title 1">
            <a:extLst>
              <a:ext uri="{FF2B5EF4-FFF2-40B4-BE49-F238E27FC236}">
                <a16:creationId xmlns:a16="http://schemas.microsoft.com/office/drawing/2014/main" id="{BC89154E-65D9-93B6-1BCA-9C5373E2656D}"/>
              </a:ext>
            </a:extLst>
          </p:cNvPr>
          <p:cNvSpPr>
            <a:spLocks noGrp="1"/>
          </p:cNvSpPr>
          <p:nvPr>
            <p:ph type="title"/>
          </p:nvPr>
        </p:nvSpPr>
        <p:spPr>
          <a:xfrm>
            <a:off x="2576146" y="14531"/>
            <a:ext cx="6245020" cy="631646"/>
          </a:xfrm>
        </p:spPr>
        <p:txBody>
          <a:bodyPr>
            <a:noAutofit/>
          </a:bodyPr>
          <a:lstStyle/>
          <a:p>
            <a:pPr algn="r"/>
            <a:r>
              <a:rPr lang="en-US" sz="3600"/>
              <a:t>AOMS Investigator Case Load</a:t>
            </a:r>
          </a:p>
        </p:txBody>
      </p:sp>
      <p:sp>
        <p:nvSpPr>
          <p:cNvPr id="3" name="Rounded Rectangle 2">
            <a:extLst>
              <a:ext uri="{FF2B5EF4-FFF2-40B4-BE49-F238E27FC236}">
                <a16:creationId xmlns:a16="http://schemas.microsoft.com/office/drawing/2014/main" id="{13A9535D-8CD6-100D-1418-D7F6EF4CFC34}"/>
              </a:ext>
            </a:extLst>
          </p:cNvPr>
          <p:cNvSpPr/>
          <p:nvPr/>
        </p:nvSpPr>
        <p:spPr>
          <a:xfrm>
            <a:off x="172591" y="890016"/>
            <a:ext cx="8853496" cy="5120640"/>
          </a:xfrm>
          <a:prstGeom prst="roundRect">
            <a:avLst>
              <a:gd name="adj" fmla="val 2501"/>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ctr"/>
            <a:r>
              <a:rPr lang="en-US" b="1">
                <a:solidFill>
                  <a:schemeClr val="tx1"/>
                </a:solidFill>
              </a:rPr>
              <a:t>Alberta Outbreak Management Solution (AOMS)</a:t>
            </a:r>
          </a:p>
        </p:txBody>
      </p:sp>
      <p:sp>
        <p:nvSpPr>
          <p:cNvPr id="13" name="Rounded Rectangle 12">
            <a:extLst>
              <a:ext uri="{FF2B5EF4-FFF2-40B4-BE49-F238E27FC236}">
                <a16:creationId xmlns:a16="http://schemas.microsoft.com/office/drawing/2014/main" id="{2BD14E7C-BC8B-4834-28CE-DB1A5AD25FB8}"/>
              </a:ext>
            </a:extLst>
          </p:cNvPr>
          <p:cNvSpPr/>
          <p:nvPr/>
        </p:nvSpPr>
        <p:spPr>
          <a:xfrm>
            <a:off x="216948" y="1365347"/>
            <a:ext cx="8604217" cy="4279392"/>
          </a:xfrm>
          <a:prstGeom prst="roundRect">
            <a:avLst>
              <a:gd name="adj" fmla="val 2501"/>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a:solidFill>
                <a:schemeClr val="accent5"/>
              </a:solidFill>
            </a:endParaRPr>
          </a:p>
        </p:txBody>
      </p:sp>
      <p:graphicFrame>
        <p:nvGraphicFramePr>
          <p:cNvPr id="16" name="Table 15">
            <a:extLst>
              <a:ext uri="{FF2B5EF4-FFF2-40B4-BE49-F238E27FC236}">
                <a16:creationId xmlns:a16="http://schemas.microsoft.com/office/drawing/2014/main" id="{B86ED9A9-BA8C-2932-F612-832DE4A66F09}"/>
              </a:ext>
            </a:extLst>
          </p:cNvPr>
          <p:cNvGraphicFramePr>
            <a:graphicFrameLocks noGrp="1"/>
          </p:cNvGraphicFramePr>
          <p:nvPr>
            <p:extLst>
              <p:ext uri="{D42A27DB-BD31-4B8C-83A1-F6EECF244321}">
                <p14:modId xmlns:p14="http://schemas.microsoft.com/office/powerpoint/2010/main" val="3153331913"/>
              </p:ext>
            </p:extLst>
          </p:nvPr>
        </p:nvGraphicFramePr>
        <p:xfrm>
          <a:off x="434719" y="2198149"/>
          <a:ext cx="6232620" cy="1104009"/>
        </p:xfrm>
        <a:graphic>
          <a:graphicData uri="http://schemas.openxmlformats.org/drawingml/2006/table">
            <a:tbl>
              <a:tblPr firstRow="1" bandRow="1">
                <a:tableStyleId>{073A0DAA-6AF3-43AB-8588-CEC1D06C72B9}</a:tableStyleId>
              </a:tblPr>
              <a:tblGrid>
                <a:gridCol w="762298">
                  <a:extLst>
                    <a:ext uri="{9D8B030D-6E8A-4147-A177-3AD203B41FA5}">
                      <a16:colId xmlns:a16="http://schemas.microsoft.com/office/drawing/2014/main" val="1226098795"/>
                    </a:ext>
                  </a:extLst>
                </a:gridCol>
                <a:gridCol w="1202991">
                  <a:extLst>
                    <a:ext uri="{9D8B030D-6E8A-4147-A177-3AD203B41FA5}">
                      <a16:colId xmlns:a16="http://schemas.microsoft.com/office/drawing/2014/main" val="2327929776"/>
                    </a:ext>
                  </a:extLst>
                </a:gridCol>
                <a:gridCol w="774762">
                  <a:extLst>
                    <a:ext uri="{9D8B030D-6E8A-4147-A177-3AD203B41FA5}">
                      <a16:colId xmlns:a16="http://schemas.microsoft.com/office/drawing/2014/main" val="406044705"/>
                    </a:ext>
                  </a:extLst>
                </a:gridCol>
                <a:gridCol w="992234">
                  <a:extLst>
                    <a:ext uri="{9D8B030D-6E8A-4147-A177-3AD203B41FA5}">
                      <a16:colId xmlns:a16="http://schemas.microsoft.com/office/drawing/2014/main" val="1214218900"/>
                    </a:ext>
                  </a:extLst>
                </a:gridCol>
                <a:gridCol w="833445">
                  <a:extLst>
                    <a:ext uri="{9D8B030D-6E8A-4147-A177-3AD203B41FA5}">
                      <a16:colId xmlns:a16="http://schemas.microsoft.com/office/drawing/2014/main" val="3182481678"/>
                    </a:ext>
                  </a:extLst>
                </a:gridCol>
                <a:gridCol w="833445">
                  <a:extLst>
                    <a:ext uri="{9D8B030D-6E8A-4147-A177-3AD203B41FA5}">
                      <a16:colId xmlns:a16="http://schemas.microsoft.com/office/drawing/2014/main" val="3197957027"/>
                    </a:ext>
                  </a:extLst>
                </a:gridCol>
                <a:gridCol w="833445">
                  <a:extLst>
                    <a:ext uri="{9D8B030D-6E8A-4147-A177-3AD203B41FA5}">
                      <a16:colId xmlns:a16="http://schemas.microsoft.com/office/drawing/2014/main" val="1792354439"/>
                    </a:ext>
                  </a:extLst>
                </a:gridCol>
              </a:tblGrid>
              <a:tr h="442024">
                <a:tc>
                  <a:txBody>
                    <a:bodyPr/>
                    <a:lstStyle/>
                    <a:p>
                      <a:pPr algn="ctr"/>
                      <a:r>
                        <a:rPr lang="en-US" sz="900"/>
                        <a:t>Outbreak ID</a:t>
                      </a:r>
                    </a:p>
                  </a:txBody>
                  <a:tcPr/>
                </a:tc>
                <a:tc>
                  <a:txBody>
                    <a:bodyPr/>
                    <a:lstStyle/>
                    <a:p>
                      <a:pPr algn="ctr"/>
                      <a:r>
                        <a:rPr lang="en-US" sz="900"/>
                        <a:t>Outbreak Name</a:t>
                      </a:r>
                    </a:p>
                  </a:txBody>
                  <a:tcPr/>
                </a:tc>
                <a:tc>
                  <a:txBody>
                    <a:bodyPr/>
                    <a:lstStyle/>
                    <a:p>
                      <a:pPr algn="ctr"/>
                      <a:r>
                        <a:rPr lang="en-US" sz="900"/>
                        <a:t>Organism</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a:t>Facility Type</a:t>
                      </a:r>
                    </a:p>
                    <a:p>
                      <a:pPr algn="ctr"/>
                      <a:endParaRPr lang="en-US" sz="900"/>
                    </a:p>
                  </a:txBody>
                  <a:tcPr/>
                </a:tc>
                <a:tc>
                  <a:txBody>
                    <a:bodyPr/>
                    <a:lstStyle/>
                    <a:p>
                      <a:pPr algn="ctr"/>
                      <a:r>
                        <a:rPr lang="en-US" sz="900"/>
                        <a:t>Facility Name</a:t>
                      </a:r>
                    </a:p>
                  </a:txBody>
                  <a:tcPr/>
                </a:tc>
                <a:tc>
                  <a:txBody>
                    <a:bodyPr/>
                    <a:lstStyle/>
                    <a:p>
                      <a:pPr lvl="0" algn="ctr">
                        <a:buNone/>
                      </a:pPr>
                      <a:r>
                        <a:rPr lang="en-US" sz="900"/>
                        <a:t>Investigator</a:t>
                      </a:r>
                    </a:p>
                  </a:txBody>
                  <a:tcPr/>
                </a:tc>
                <a:tc>
                  <a:txBody>
                    <a:bodyPr/>
                    <a:lstStyle/>
                    <a:p>
                      <a:pPr lvl="0" algn="ctr">
                        <a:buNone/>
                      </a:pPr>
                      <a:r>
                        <a:rPr lang="en-US" sz="900"/>
                        <a:t>Region</a:t>
                      </a:r>
                    </a:p>
                  </a:txBody>
                  <a:tcPr/>
                </a:tc>
                <a:extLst>
                  <a:ext uri="{0D108BD9-81ED-4DB2-BD59-A6C34878D82A}">
                    <a16:rowId xmlns:a16="http://schemas.microsoft.com/office/drawing/2014/main" val="3664739466"/>
                  </a:ext>
                </a:extLst>
              </a:tr>
              <a:tr h="303455">
                <a:tc>
                  <a:txBody>
                    <a:bodyPr/>
                    <a:lstStyle/>
                    <a:p>
                      <a:r>
                        <a:rPr lang="en-US" sz="900" u="sng"/>
                        <a:t>00001</a:t>
                      </a:r>
                    </a:p>
                  </a:txBody>
                  <a:tcPr anchor="ctr"/>
                </a:tc>
                <a:tc>
                  <a:txBody>
                    <a:bodyPr/>
                    <a:lstStyle/>
                    <a:p>
                      <a:pPr algn="l" fontAlgn="b">
                        <a:buNone/>
                      </a:pPr>
                      <a:r>
                        <a:rPr lang="en-US" sz="900" u="none" kern="1200">
                          <a:solidFill>
                            <a:schemeClr val="dk1"/>
                          </a:solidFill>
                          <a:latin typeface="+mn-lt"/>
                          <a:ea typeface="+mn-ea"/>
                          <a:cs typeface="+mn-cs"/>
                        </a:rPr>
                        <a:t> </a:t>
                      </a:r>
                    </a:p>
                  </a:txBody>
                  <a:tcPr marL="6350" marR="6350" marT="6350" anchor="ctr"/>
                </a:tc>
                <a:tc>
                  <a:txBody>
                    <a:bodyPr/>
                    <a:lstStyle/>
                    <a:p>
                      <a:pPr algn="l"/>
                      <a:endParaRPr lang="en-US" sz="900"/>
                    </a:p>
                  </a:txBody>
                  <a:tcPr anchor="ctr"/>
                </a:tc>
                <a:tc>
                  <a:txBody>
                    <a:bodyPr/>
                    <a:lstStyle/>
                    <a:p>
                      <a:pPr marL="0" marR="0" lvl="0" indent="0" algn="l" defTabSz="914400">
                        <a:lnSpc>
                          <a:spcPct val="100000"/>
                        </a:lnSpc>
                        <a:spcBef>
                          <a:spcPts val="0"/>
                        </a:spcBef>
                        <a:spcAft>
                          <a:spcPts val="0"/>
                        </a:spcAft>
                        <a:buNone/>
                        <a:tabLst/>
                        <a:defRPr/>
                      </a:pPr>
                      <a:r>
                        <a:rPr lang="en-US" sz="900"/>
                        <a:t>Daycare</a:t>
                      </a:r>
                    </a:p>
                  </a:txBody>
                  <a:tcPr anchor="ctr"/>
                </a:tc>
                <a:tc>
                  <a:txBody>
                    <a:bodyPr/>
                    <a:lstStyle/>
                    <a:p>
                      <a:pPr algn="l"/>
                      <a:r>
                        <a:rPr lang="en-US" sz="900" u="none" kern="1200">
                          <a:solidFill>
                            <a:schemeClr val="dk1"/>
                          </a:solidFill>
                          <a:latin typeface="+mn-lt"/>
                          <a:ea typeface="+mn-ea"/>
                          <a:cs typeface="+mn-cs"/>
                        </a:rPr>
                        <a:t>Sunny Skies</a:t>
                      </a:r>
                      <a:endParaRPr lang="en-US" sz="900"/>
                    </a:p>
                  </a:txBody>
                  <a:tcPr anchor="ctr"/>
                </a:tc>
                <a:tc>
                  <a:txBody>
                    <a:bodyPr/>
                    <a:lstStyle/>
                    <a:p>
                      <a:pPr lvl="0" algn="l">
                        <a:buNone/>
                      </a:pPr>
                      <a:r>
                        <a:rPr lang="en-US" sz="900"/>
                        <a:t>Epi Demo</a:t>
                      </a:r>
                    </a:p>
                  </a:txBody>
                  <a:tcPr anchor="ctr"/>
                </a:tc>
                <a:tc>
                  <a:txBody>
                    <a:bodyPr/>
                    <a:lstStyle/>
                    <a:p>
                      <a:pPr lvl="0" algn="l">
                        <a:buNone/>
                      </a:pPr>
                      <a:r>
                        <a:rPr lang="en-US" sz="900"/>
                        <a:t>South</a:t>
                      </a:r>
                    </a:p>
                  </a:txBody>
                  <a:tcPr anchor="ctr"/>
                </a:tc>
                <a:extLst>
                  <a:ext uri="{0D108BD9-81ED-4DB2-BD59-A6C34878D82A}">
                    <a16:rowId xmlns:a16="http://schemas.microsoft.com/office/drawing/2014/main" val="132873861"/>
                  </a:ext>
                </a:extLst>
              </a:tr>
              <a:tr h="358530">
                <a:tc>
                  <a:txBody>
                    <a:bodyPr/>
                    <a:lstStyle/>
                    <a:p>
                      <a:endParaRPr lang="en-US" sz="900"/>
                    </a:p>
                  </a:txBody>
                  <a:tcPr anchor="ctr"/>
                </a:tc>
                <a:tc>
                  <a:txBody>
                    <a:bodyPr/>
                    <a:lstStyle/>
                    <a:p>
                      <a:endParaRPr lang="en-US" sz="900"/>
                    </a:p>
                  </a:txBody>
                  <a:tcPr anchor="ctr"/>
                </a:tc>
                <a:tc>
                  <a:txBody>
                    <a:bodyPr/>
                    <a:lstStyle/>
                    <a:p>
                      <a:endParaRPr lang="en-US" sz="900"/>
                    </a:p>
                  </a:txBody>
                  <a:tcPr anchor="ctr"/>
                </a:tc>
                <a:tc>
                  <a:txBody>
                    <a:bodyPr/>
                    <a:lstStyle/>
                    <a:p>
                      <a:endParaRPr lang="en-US" sz="900"/>
                    </a:p>
                  </a:txBody>
                  <a:tcPr anchor="ctr"/>
                </a:tc>
                <a:tc>
                  <a:txBody>
                    <a:bodyPr/>
                    <a:lstStyle/>
                    <a:p>
                      <a:endParaRPr lang="en-US" sz="900"/>
                    </a:p>
                  </a:txBody>
                  <a:tcPr anchor="ctr"/>
                </a:tc>
                <a:tc>
                  <a:txBody>
                    <a:bodyPr/>
                    <a:lstStyle/>
                    <a:p>
                      <a:pPr lvl="0">
                        <a:buNone/>
                      </a:pPr>
                      <a:endParaRPr lang="en-US" sz="900"/>
                    </a:p>
                  </a:txBody>
                  <a:tcPr anchor="ctr"/>
                </a:tc>
                <a:tc>
                  <a:txBody>
                    <a:bodyPr/>
                    <a:lstStyle/>
                    <a:p>
                      <a:pPr lvl="0">
                        <a:buNone/>
                      </a:pPr>
                      <a:endParaRPr lang="en-US" sz="900"/>
                    </a:p>
                  </a:txBody>
                  <a:tcPr anchor="ctr"/>
                </a:tc>
                <a:extLst>
                  <a:ext uri="{0D108BD9-81ED-4DB2-BD59-A6C34878D82A}">
                    <a16:rowId xmlns:a16="http://schemas.microsoft.com/office/drawing/2014/main" val="2918427994"/>
                  </a:ext>
                </a:extLst>
              </a:tr>
            </a:tbl>
          </a:graphicData>
        </a:graphic>
      </p:graphicFrame>
      <p:grpSp>
        <p:nvGrpSpPr>
          <p:cNvPr id="12" name="Group 11">
            <a:extLst>
              <a:ext uri="{FF2B5EF4-FFF2-40B4-BE49-F238E27FC236}">
                <a16:creationId xmlns:a16="http://schemas.microsoft.com/office/drawing/2014/main" id="{0E201E05-2D0B-66F7-40D8-38376CD6F8F1}"/>
              </a:ext>
            </a:extLst>
          </p:cNvPr>
          <p:cNvGrpSpPr/>
          <p:nvPr/>
        </p:nvGrpSpPr>
        <p:grpSpPr>
          <a:xfrm>
            <a:off x="222824" y="1372140"/>
            <a:ext cx="8598341" cy="378649"/>
            <a:chOff x="314012" y="1028086"/>
            <a:chExt cx="8687316" cy="378649"/>
          </a:xfrm>
        </p:grpSpPr>
        <p:sp>
          <p:nvSpPr>
            <p:cNvPr id="19" name="Rounded Rectangle 6">
              <a:extLst>
                <a:ext uri="{FF2B5EF4-FFF2-40B4-BE49-F238E27FC236}">
                  <a16:creationId xmlns:a16="http://schemas.microsoft.com/office/drawing/2014/main" id="{6973F238-89FB-6F18-C8DF-B5E44A989ECD}"/>
                </a:ext>
              </a:extLst>
            </p:cNvPr>
            <p:cNvSpPr/>
            <p:nvPr/>
          </p:nvSpPr>
          <p:spPr>
            <a:xfrm>
              <a:off x="314012" y="1028086"/>
              <a:ext cx="2173164" cy="371856"/>
            </a:xfrm>
            <a:prstGeom prst="roundRect">
              <a:avLst/>
            </a:prstGeom>
            <a:solidFill>
              <a:schemeClr val="bg1">
                <a:lumMod val="85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600">
                  <a:solidFill>
                    <a:schemeClr val="tx1"/>
                  </a:solidFill>
                </a:rPr>
                <a:t>Search</a:t>
              </a:r>
            </a:p>
          </p:txBody>
        </p:sp>
        <p:sp>
          <p:nvSpPr>
            <p:cNvPr id="20" name="Rounded Rectangle 7">
              <a:extLst>
                <a:ext uri="{FF2B5EF4-FFF2-40B4-BE49-F238E27FC236}">
                  <a16:creationId xmlns:a16="http://schemas.microsoft.com/office/drawing/2014/main" id="{A138E284-D8F5-2003-2706-76EE632E44B3}"/>
                </a:ext>
              </a:extLst>
            </p:cNvPr>
            <p:cNvSpPr/>
            <p:nvPr/>
          </p:nvSpPr>
          <p:spPr>
            <a:xfrm>
              <a:off x="2487176" y="1028086"/>
              <a:ext cx="2173164" cy="371856"/>
            </a:xfrm>
            <a:prstGeom prst="roundRect">
              <a:avLst/>
            </a:prstGeom>
            <a:solidFill>
              <a:schemeClr val="bg1">
                <a:lumMod val="75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600">
                  <a:solidFill>
                    <a:schemeClr val="tx1"/>
                  </a:solidFill>
                </a:rPr>
                <a:t>Investigation</a:t>
              </a:r>
            </a:p>
          </p:txBody>
        </p:sp>
        <p:sp>
          <p:nvSpPr>
            <p:cNvPr id="21" name="Rounded Rectangle 9">
              <a:extLst>
                <a:ext uri="{FF2B5EF4-FFF2-40B4-BE49-F238E27FC236}">
                  <a16:creationId xmlns:a16="http://schemas.microsoft.com/office/drawing/2014/main" id="{A1DBDC04-FA47-B536-B0C0-60C4BC7DD57F}"/>
                </a:ext>
              </a:extLst>
            </p:cNvPr>
            <p:cNvSpPr/>
            <p:nvPr/>
          </p:nvSpPr>
          <p:spPr>
            <a:xfrm>
              <a:off x="4655001" y="1034879"/>
              <a:ext cx="2173164" cy="371856"/>
            </a:xfrm>
            <a:prstGeom prst="roundRect">
              <a:avLst/>
            </a:prstGeom>
            <a:solidFill>
              <a:schemeClr val="bg1">
                <a:lumMod val="85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600">
                  <a:solidFill>
                    <a:schemeClr val="tx1"/>
                  </a:solidFill>
                </a:rPr>
                <a:t>Tasks</a:t>
              </a:r>
            </a:p>
          </p:txBody>
        </p:sp>
        <p:sp>
          <p:nvSpPr>
            <p:cNvPr id="22" name="Rounded Rectangle 10">
              <a:extLst>
                <a:ext uri="{FF2B5EF4-FFF2-40B4-BE49-F238E27FC236}">
                  <a16:creationId xmlns:a16="http://schemas.microsoft.com/office/drawing/2014/main" id="{16DA4A8B-57C0-9AFD-FC71-B4EA42B57C4F}"/>
                </a:ext>
              </a:extLst>
            </p:cNvPr>
            <p:cNvSpPr/>
            <p:nvPr/>
          </p:nvSpPr>
          <p:spPr>
            <a:xfrm>
              <a:off x="6828164" y="1034879"/>
              <a:ext cx="2173164" cy="371856"/>
            </a:xfrm>
            <a:prstGeom prst="roundRect">
              <a:avLst/>
            </a:prstGeom>
            <a:solidFill>
              <a:schemeClr val="bg1">
                <a:lumMod val="85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600">
                  <a:solidFill>
                    <a:schemeClr val="tx1"/>
                  </a:solidFill>
                </a:rPr>
                <a:t>Case Counts</a:t>
              </a:r>
            </a:p>
          </p:txBody>
        </p:sp>
      </p:grpSp>
      <p:pic>
        <p:nvPicPr>
          <p:cNvPr id="23" name="Graphic 22" descr="User with solid fill">
            <a:extLst>
              <a:ext uri="{FF2B5EF4-FFF2-40B4-BE49-F238E27FC236}">
                <a16:creationId xmlns:a16="http://schemas.microsoft.com/office/drawing/2014/main" id="{00B42089-DE69-075D-B25D-826D99A62ED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62572" y="869173"/>
            <a:ext cx="517187" cy="517187"/>
          </a:xfrm>
          <a:prstGeom prst="rect">
            <a:avLst/>
          </a:prstGeom>
        </p:spPr>
      </p:pic>
      <p:sp>
        <p:nvSpPr>
          <p:cNvPr id="6" name="TextBox 5">
            <a:extLst>
              <a:ext uri="{FF2B5EF4-FFF2-40B4-BE49-F238E27FC236}">
                <a16:creationId xmlns:a16="http://schemas.microsoft.com/office/drawing/2014/main" id="{394B610F-E3D0-C69B-BED7-35BF04B4B1C1}"/>
              </a:ext>
            </a:extLst>
          </p:cNvPr>
          <p:cNvSpPr txBox="1"/>
          <p:nvPr/>
        </p:nvSpPr>
        <p:spPr>
          <a:xfrm>
            <a:off x="434719" y="1828817"/>
            <a:ext cx="2660665" cy="369332"/>
          </a:xfrm>
          <a:prstGeom prst="rect">
            <a:avLst/>
          </a:prstGeom>
          <a:noFill/>
        </p:spPr>
        <p:txBody>
          <a:bodyPr wrap="none" rtlCol="0">
            <a:spAutoFit/>
          </a:bodyPr>
          <a:lstStyle/>
          <a:p>
            <a:r>
              <a:rPr lang="en-US" b="1"/>
              <a:t>Assigned Investigations</a:t>
            </a:r>
            <a:endParaRPr lang="en-CA" b="1"/>
          </a:p>
        </p:txBody>
      </p:sp>
      <p:sp>
        <p:nvSpPr>
          <p:cNvPr id="7" name="TextBox 6">
            <a:extLst>
              <a:ext uri="{FF2B5EF4-FFF2-40B4-BE49-F238E27FC236}">
                <a16:creationId xmlns:a16="http://schemas.microsoft.com/office/drawing/2014/main" id="{630EFA50-59BA-F78F-8441-0FADE1A89921}"/>
              </a:ext>
            </a:extLst>
          </p:cNvPr>
          <p:cNvSpPr txBox="1"/>
          <p:nvPr/>
        </p:nvSpPr>
        <p:spPr>
          <a:xfrm>
            <a:off x="434719" y="3545997"/>
            <a:ext cx="1775101" cy="369332"/>
          </a:xfrm>
          <a:prstGeom prst="rect">
            <a:avLst/>
          </a:prstGeom>
          <a:noFill/>
        </p:spPr>
        <p:txBody>
          <a:bodyPr wrap="none" rtlCol="0">
            <a:spAutoFit/>
          </a:bodyPr>
          <a:lstStyle/>
          <a:p>
            <a:r>
              <a:rPr lang="en-US" b="1"/>
              <a:t>Assigned Tasks</a:t>
            </a:r>
            <a:endParaRPr lang="en-CA" b="1"/>
          </a:p>
        </p:txBody>
      </p:sp>
      <p:graphicFrame>
        <p:nvGraphicFramePr>
          <p:cNvPr id="8" name="Table 7">
            <a:extLst>
              <a:ext uri="{FF2B5EF4-FFF2-40B4-BE49-F238E27FC236}">
                <a16:creationId xmlns:a16="http://schemas.microsoft.com/office/drawing/2014/main" id="{B0DA1BDE-CDC5-DEDB-D23C-C00BC2EBD7B0}"/>
              </a:ext>
            </a:extLst>
          </p:cNvPr>
          <p:cNvGraphicFramePr>
            <a:graphicFrameLocks noGrp="1"/>
          </p:cNvGraphicFramePr>
          <p:nvPr>
            <p:extLst>
              <p:ext uri="{D42A27DB-BD31-4B8C-83A1-F6EECF244321}">
                <p14:modId xmlns:p14="http://schemas.microsoft.com/office/powerpoint/2010/main" val="2103860573"/>
              </p:ext>
            </p:extLst>
          </p:nvPr>
        </p:nvGraphicFramePr>
        <p:xfrm>
          <a:off x="434719" y="4031136"/>
          <a:ext cx="6232620" cy="1104009"/>
        </p:xfrm>
        <a:graphic>
          <a:graphicData uri="http://schemas.openxmlformats.org/drawingml/2006/table">
            <a:tbl>
              <a:tblPr firstRow="1" bandRow="1">
                <a:tableStyleId>{073A0DAA-6AF3-43AB-8588-CEC1D06C72B9}</a:tableStyleId>
              </a:tblPr>
              <a:tblGrid>
                <a:gridCol w="762298">
                  <a:extLst>
                    <a:ext uri="{9D8B030D-6E8A-4147-A177-3AD203B41FA5}">
                      <a16:colId xmlns:a16="http://schemas.microsoft.com/office/drawing/2014/main" val="1226098795"/>
                    </a:ext>
                  </a:extLst>
                </a:gridCol>
                <a:gridCol w="1202991">
                  <a:extLst>
                    <a:ext uri="{9D8B030D-6E8A-4147-A177-3AD203B41FA5}">
                      <a16:colId xmlns:a16="http://schemas.microsoft.com/office/drawing/2014/main" val="2327929776"/>
                    </a:ext>
                  </a:extLst>
                </a:gridCol>
                <a:gridCol w="774762">
                  <a:extLst>
                    <a:ext uri="{9D8B030D-6E8A-4147-A177-3AD203B41FA5}">
                      <a16:colId xmlns:a16="http://schemas.microsoft.com/office/drawing/2014/main" val="406044705"/>
                    </a:ext>
                  </a:extLst>
                </a:gridCol>
                <a:gridCol w="992234">
                  <a:extLst>
                    <a:ext uri="{9D8B030D-6E8A-4147-A177-3AD203B41FA5}">
                      <a16:colId xmlns:a16="http://schemas.microsoft.com/office/drawing/2014/main" val="1214218900"/>
                    </a:ext>
                  </a:extLst>
                </a:gridCol>
                <a:gridCol w="833445">
                  <a:extLst>
                    <a:ext uri="{9D8B030D-6E8A-4147-A177-3AD203B41FA5}">
                      <a16:colId xmlns:a16="http://schemas.microsoft.com/office/drawing/2014/main" val="3182481678"/>
                    </a:ext>
                  </a:extLst>
                </a:gridCol>
                <a:gridCol w="833445">
                  <a:extLst>
                    <a:ext uri="{9D8B030D-6E8A-4147-A177-3AD203B41FA5}">
                      <a16:colId xmlns:a16="http://schemas.microsoft.com/office/drawing/2014/main" val="3197957027"/>
                    </a:ext>
                  </a:extLst>
                </a:gridCol>
                <a:gridCol w="833445">
                  <a:extLst>
                    <a:ext uri="{9D8B030D-6E8A-4147-A177-3AD203B41FA5}">
                      <a16:colId xmlns:a16="http://schemas.microsoft.com/office/drawing/2014/main" val="1792354439"/>
                    </a:ext>
                  </a:extLst>
                </a:gridCol>
              </a:tblGrid>
              <a:tr h="442024">
                <a:tc>
                  <a:txBody>
                    <a:bodyPr/>
                    <a:lstStyle/>
                    <a:p>
                      <a:pPr algn="ctr"/>
                      <a:r>
                        <a:rPr lang="en-US" sz="900"/>
                        <a:t>Outbreak ID</a:t>
                      </a:r>
                    </a:p>
                  </a:txBody>
                  <a:tcPr/>
                </a:tc>
                <a:tc>
                  <a:txBody>
                    <a:bodyPr/>
                    <a:lstStyle/>
                    <a:p>
                      <a:pPr algn="ctr"/>
                      <a:r>
                        <a:rPr lang="en-US" sz="900"/>
                        <a:t>Outbreak Name</a:t>
                      </a:r>
                    </a:p>
                  </a:txBody>
                  <a:tcPr/>
                </a:tc>
                <a:tc>
                  <a:txBody>
                    <a:bodyPr/>
                    <a:lstStyle/>
                    <a:p>
                      <a:pPr algn="ctr"/>
                      <a:r>
                        <a:rPr lang="en-US" sz="900"/>
                        <a:t>Task</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a:t>Description</a:t>
                      </a:r>
                    </a:p>
                    <a:p>
                      <a:pPr algn="ctr"/>
                      <a:endParaRPr lang="en-US" sz="900"/>
                    </a:p>
                  </a:txBody>
                  <a:tcPr/>
                </a:tc>
                <a:tc>
                  <a:txBody>
                    <a:bodyPr/>
                    <a:lstStyle/>
                    <a:p>
                      <a:pPr algn="ctr"/>
                      <a:r>
                        <a:rPr lang="en-US" sz="900"/>
                        <a:t>Due Date</a:t>
                      </a:r>
                    </a:p>
                  </a:txBody>
                  <a:tcPr/>
                </a:tc>
                <a:tc>
                  <a:txBody>
                    <a:bodyPr/>
                    <a:lstStyle/>
                    <a:p>
                      <a:pPr lvl="0" algn="ctr">
                        <a:buNone/>
                      </a:pPr>
                      <a:r>
                        <a:rPr lang="en-US" sz="900"/>
                        <a:t>History</a:t>
                      </a:r>
                    </a:p>
                  </a:txBody>
                  <a:tcPr/>
                </a:tc>
                <a:tc>
                  <a:txBody>
                    <a:bodyPr/>
                    <a:lstStyle/>
                    <a:p>
                      <a:pPr lvl="0" algn="ctr">
                        <a:buNone/>
                      </a:pPr>
                      <a:r>
                        <a:rPr lang="en-US" sz="900"/>
                        <a:t>Status</a:t>
                      </a:r>
                    </a:p>
                  </a:txBody>
                  <a:tcPr/>
                </a:tc>
                <a:extLst>
                  <a:ext uri="{0D108BD9-81ED-4DB2-BD59-A6C34878D82A}">
                    <a16:rowId xmlns:a16="http://schemas.microsoft.com/office/drawing/2014/main" val="3664739466"/>
                  </a:ext>
                </a:extLst>
              </a:tr>
              <a:tr h="303455">
                <a:tc>
                  <a:txBody>
                    <a:bodyPr/>
                    <a:lstStyle/>
                    <a:p>
                      <a:endParaRPr lang="en-US" sz="900" u="sng"/>
                    </a:p>
                  </a:txBody>
                  <a:tcPr anchor="ctr"/>
                </a:tc>
                <a:tc>
                  <a:txBody>
                    <a:bodyPr/>
                    <a:lstStyle/>
                    <a:p>
                      <a:pPr algn="l" fontAlgn="b">
                        <a:buNone/>
                      </a:pPr>
                      <a:r>
                        <a:rPr lang="en-US" sz="900" u="none" kern="1200">
                          <a:solidFill>
                            <a:schemeClr val="dk1"/>
                          </a:solidFill>
                          <a:latin typeface="+mn-lt"/>
                          <a:ea typeface="+mn-ea"/>
                          <a:cs typeface="+mn-cs"/>
                        </a:rPr>
                        <a:t> </a:t>
                      </a:r>
                    </a:p>
                  </a:txBody>
                  <a:tcPr marL="6350" marR="6350" marT="6350" anchor="ctr"/>
                </a:tc>
                <a:tc>
                  <a:txBody>
                    <a:bodyPr/>
                    <a:lstStyle/>
                    <a:p>
                      <a:pPr algn="l"/>
                      <a:endParaRPr lang="en-US" sz="900"/>
                    </a:p>
                  </a:txBody>
                  <a:tcPr anchor="ctr"/>
                </a:tc>
                <a:tc>
                  <a:txBody>
                    <a:bodyPr/>
                    <a:lstStyle/>
                    <a:p>
                      <a:pPr marL="0" marR="0" lvl="0" indent="0" algn="l" defTabSz="914400">
                        <a:lnSpc>
                          <a:spcPct val="100000"/>
                        </a:lnSpc>
                        <a:spcBef>
                          <a:spcPts val="0"/>
                        </a:spcBef>
                        <a:spcAft>
                          <a:spcPts val="0"/>
                        </a:spcAft>
                        <a:buNone/>
                        <a:tabLst/>
                        <a:defRPr/>
                      </a:pPr>
                      <a:endParaRPr lang="en-US" sz="900"/>
                    </a:p>
                  </a:txBody>
                  <a:tcPr anchor="ctr"/>
                </a:tc>
                <a:tc>
                  <a:txBody>
                    <a:bodyPr/>
                    <a:lstStyle/>
                    <a:p>
                      <a:pPr algn="l"/>
                      <a:endParaRPr lang="en-US" sz="900"/>
                    </a:p>
                  </a:txBody>
                  <a:tcPr anchor="ctr"/>
                </a:tc>
                <a:tc>
                  <a:txBody>
                    <a:bodyPr/>
                    <a:lstStyle/>
                    <a:p>
                      <a:pPr lvl="0" algn="l">
                        <a:buNone/>
                      </a:pPr>
                      <a:endParaRPr lang="en-US" sz="900"/>
                    </a:p>
                  </a:txBody>
                  <a:tcPr anchor="ctr"/>
                </a:tc>
                <a:tc>
                  <a:txBody>
                    <a:bodyPr/>
                    <a:lstStyle/>
                    <a:p>
                      <a:pPr lvl="0" algn="l">
                        <a:buNone/>
                      </a:pPr>
                      <a:endParaRPr lang="en-US" sz="900"/>
                    </a:p>
                  </a:txBody>
                  <a:tcPr anchor="ctr"/>
                </a:tc>
                <a:extLst>
                  <a:ext uri="{0D108BD9-81ED-4DB2-BD59-A6C34878D82A}">
                    <a16:rowId xmlns:a16="http://schemas.microsoft.com/office/drawing/2014/main" val="132873861"/>
                  </a:ext>
                </a:extLst>
              </a:tr>
              <a:tr h="358530">
                <a:tc>
                  <a:txBody>
                    <a:bodyPr/>
                    <a:lstStyle/>
                    <a:p>
                      <a:endParaRPr lang="en-US" sz="900"/>
                    </a:p>
                  </a:txBody>
                  <a:tcPr anchor="ctr"/>
                </a:tc>
                <a:tc>
                  <a:txBody>
                    <a:bodyPr/>
                    <a:lstStyle/>
                    <a:p>
                      <a:endParaRPr lang="en-US" sz="900"/>
                    </a:p>
                  </a:txBody>
                  <a:tcPr anchor="ctr"/>
                </a:tc>
                <a:tc>
                  <a:txBody>
                    <a:bodyPr/>
                    <a:lstStyle/>
                    <a:p>
                      <a:endParaRPr lang="en-US" sz="900"/>
                    </a:p>
                  </a:txBody>
                  <a:tcPr anchor="ctr"/>
                </a:tc>
                <a:tc>
                  <a:txBody>
                    <a:bodyPr/>
                    <a:lstStyle/>
                    <a:p>
                      <a:endParaRPr lang="en-US" sz="900"/>
                    </a:p>
                  </a:txBody>
                  <a:tcPr anchor="ctr"/>
                </a:tc>
                <a:tc>
                  <a:txBody>
                    <a:bodyPr/>
                    <a:lstStyle/>
                    <a:p>
                      <a:endParaRPr lang="en-US" sz="900"/>
                    </a:p>
                  </a:txBody>
                  <a:tcPr anchor="ctr"/>
                </a:tc>
                <a:tc>
                  <a:txBody>
                    <a:bodyPr/>
                    <a:lstStyle/>
                    <a:p>
                      <a:pPr lvl="0">
                        <a:buNone/>
                      </a:pPr>
                      <a:endParaRPr lang="en-US" sz="900"/>
                    </a:p>
                  </a:txBody>
                  <a:tcPr anchor="ctr"/>
                </a:tc>
                <a:tc>
                  <a:txBody>
                    <a:bodyPr/>
                    <a:lstStyle/>
                    <a:p>
                      <a:pPr lvl="0">
                        <a:buNone/>
                      </a:pPr>
                      <a:endParaRPr lang="en-US" sz="900"/>
                    </a:p>
                  </a:txBody>
                  <a:tcPr anchor="ctr"/>
                </a:tc>
                <a:extLst>
                  <a:ext uri="{0D108BD9-81ED-4DB2-BD59-A6C34878D82A}">
                    <a16:rowId xmlns:a16="http://schemas.microsoft.com/office/drawing/2014/main" val="2918427994"/>
                  </a:ext>
                </a:extLst>
              </a:tr>
            </a:tbl>
          </a:graphicData>
        </a:graphic>
      </p:graphicFrame>
    </p:spTree>
    <p:extLst>
      <p:ext uri="{BB962C8B-B14F-4D97-AF65-F5344CB8AC3E}">
        <p14:creationId xmlns:p14="http://schemas.microsoft.com/office/powerpoint/2010/main" val="18239472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88592-5CED-6E41-23A6-A2A8D44D1DEF}"/>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7CE8114A-55BF-A0A6-9060-4F0FC1E70E68}"/>
              </a:ext>
            </a:extLst>
          </p:cNvPr>
          <p:cNvSpPr>
            <a:spLocks noGrp="1"/>
          </p:cNvSpPr>
          <p:nvPr>
            <p:ph type="body" sz="quarter" idx="13"/>
          </p:nvPr>
        </p:nvSpPr>
        <p:spPr>
          <a:xfrm>
            <a:off x="253092" y="138791"/>
            <a:ext cx="2758331" cy="383721"/>
          </a:xfrm>
        </p:spPr>
        <p:txBody>
          <a:bodyPr>
            <a:normAutofit fontScale="77500" lnSpcReduction="20000"/>
          </a:bodyPr>
          <a:lstStyle/>
          <a:p>
            <a:r>
              <a:rPr lang="en-US"/>
              <a:t>Outbreak Management Solution</a:t>
            </a:r>
          </a:p>
        </p:txBody>
      </p:sp>
      <p:sp>
        <p:nvSpPr>
          <p:cNvPr id="5" name="Slide Number Placeholder 4">
            <a:extLst>
              <a:ext uri="{FF2B5EF4-FFF2-40B4-BE49-F238E27FC236}">
                <a16:creationId xmlns:a16="http://schemas.microsoft.com/office/drawing/2014/main" id="{EA158CB4-43DE-AADD-086A-04FDB9F78606}"/>
              </a:ext>
            </a:extLst>
          </p:cNvPr>
          <p:cNvSpPr>
            <a:spLocks noGrp="1"/>
          </p:cNvSpPr>
          <p:nvPr>
            <p:ph type="sldNum" sz="quarter" idx="4"/>
          </p:nvPr>
        </p:nvSpPr>
        <p:spPr/>
        <p:txBody>
          <a:bodyPr/>
          <a:lstStyle/>
          <a:p>
            <a:fld id="{2639BB91-5DDD-4FF0-AA8B-B54FEC5F3DC9}" type="slidenum">
              <a:rPr lang="en-US" smtClean="0"/>
              <a:t>14</a:t>
            </a:fld>
            <a:endParaRPr lang="en-US"/>
          </a:p>
        </p:txBody>
      </p:sp>
      <p:sp>
        <p:nvSpPr>
          <p:cNvPr id="2" name="Title 1">
            <a:extLst>
              <a:ext uri="{FF2B5EF4-FFF2-40B4-BE49-F238E27FC236}">
                <a16:creationId xmlns:a16="http://schemas.microsoft.com/office/drawing/2014/main" id="{B794BAC8-A7F1-A186-666F-7231282F4AC3}"/>
              </a:ext>
            </a:extLst>
          </p:cNvPr>
          <p:cNvSpPr>
            <a:spLocks noGrp="1"/>
          </p:cNvSpPr>
          <p:nvPr>
            <p:ph type="title"/>
          </p:nvPr>
        </p:nvSpPr>
        <p:spPr>
          <a:xfrm>
            <a:off x="3267456" y="14531"/>
            <a:ext cx="5553710" cy="631646"/>
          </a:xfrm>
        </p:spPr>
        <p:txBody>
          <a:bodyPr>
            <a:normAutofit fontScale="90000"/>
          </a:bodyPr>
          <a:lstStyle/>
          <a:p>
            <a:r>
              <a:rPr lang="en-US"/>
              <a:t>AOMS Tasks or Activities</a:t>
            </a:r>
          </a:p>
        </p:txBody>
      </p:sp>
      <p:sp>
        <p:nvSpPr>
          <p:cNvPr id="3" name="Rounded Rectangle 2">
            <a:extLst>
              <a:ext uri="{FF2B5EF4-FFF2-40B4-BE49-F238E27FC236}">
                <a16:creationId xmlns:a16="http://schemas.microsoft.com/office/drawing/2014/main" id="{4AC2FD08-D311-B1C6-9B66-584739D66D4D}"/>
              </a:ext>
            </a:extLst>
          </p:cNvPr>
          <p:cNvSpPr/>
          <p:nvPr/>
        </p:nvSpPr>
        <p:spPr>
          <a:xfrm>
            <a:off x="161365" y="890016"/>
            <a:ext cx="8788997" cy="5466334"/>
          </a:xfrm>
          <a:prstGeom prst="roundRect">
            <a:avLst>
              <a:gd name="adj" fmla="val 2501"/>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b="1">
                <a:solidFill>
                  <a:schemeClr val="tx1"/>
                </a:solidFill>
              </a:rPr>
              <a:t>Alberta Outbreak Management System (AOMS)</a:t>
            </a:r>
          </a:p>
        </p:txBody>
      </p:sp>
      <p:sp>
        <p:nvSpPr>
          <p:cNvPr id="13" name="Rounded Rectangle 12">
            <a:extLst>
              <a:ext uri="{FF2B5EF4-FFF2-40B4-BE49-F238E27FC236}">
                <a16:creationId xmlns:a16="http://schemas.microsoft.com/office/drawing/2014/main" id="{893C8B59-D2CB-A68B-0985-074B33DFC63B}"/>
              </a:ext>
            </a:extLst>
          </p:cNvPr>
          <p:cNvSpPr/>
          <p:nvPr/>
        </p:nvSpPr>
        <p:spPr>
          <a:xfrm>
            <a:off x="190540" y="1852008"/>
            <a:ext cx="8568074" cy="4413504"/>
          </a:xfrm>
          <a:prstGeom prst="roundRect">
            <a:avLst>
              <a:gd name="adj" fmla="val 2501"/>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a:solidFill>
                <a:schemeClr val="accent5"/>
              </a:solidFill>
            </a:endParaRPr>
          </a:p>
        </p:txBody>
      </p:sp>
      <p:sp>
        <p:nvSpPr>
          <p:cNvPr id="6" name="TextBox 5">
            <a:extLst>
              <a:ext uri="{FF2B5EF4-FFF2-40B4-BE49-F238E27FC236}">
                <a16:creationId xmlns:a16="http://schemas.microsoft.com/office/drawing/2014/main" id="{B4EFB494-9D62-8EF5-D77A-DE8EC4774252}"/>
              </a:ext>
            </a:extLst>
          </p:cNvPr>
          <p:cNvSpPr txBox="1"/>
          <p:nvPr/>
        </p:nvSpPr>
        <p:spPr>
          <a:xfrm>
            <a:off x="195006" y="1272997"/>
            <a:ext cx="402674" cy="369332"/>
          </a:xfrm>
          <a:prstGeom prst="rect">
            <a:avLst/>
          </a:prstGeom>
          <a:noFill/>
        </p:spPr>
        <p:txBody>
          <a:bodyPr wrap="none" rtlCol="0">
            <a:spAutoFit/>
          </a:bodyPr>
          <a:lstStyle/>
          <a:p>
            <a:r>
              <a:rPr lang="en-US"/>
              <a:t>ID</a:t>
            </a:r>
            <a:endParaRPr lang="en-CA"/>
          </a:p>
        </p:txBody>
      </p:sp>
      <p:sp>
        <p:nvSpPr>
          <p:cNvPr id="12" name="Rectangle 11">
            <a:extLst>
              <a:ext uri="{FF2B5EF4-FFF2-40B4-BE49-F238E27FC236}">
                <a16:creationId xmlns:a16="http://schemas.microsoft.com/office/drawing/2014/main" id="{7FCB2A68-07FF-654A-5807-7196E39DD79D}"/>
              </a:ext>
            </a:extLst>
          </p:cNvPr>
          <p:cNvSpPr/>
          <p:nvPr/>
        </p:nvSpPr>
        <p:spPr>
          <a:xfrm>
            <a:off x="606805" y="1296862"/>
            <a:ext cx="802439"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TextBox 13">
            <a:extLst>
              <a:ext uri="{FF2B5EF4-FFF2-40B4-BE49-F238E27FC236}">
                <a16:creationId xmlns:a16="http://schemas.microsoft.com/office/drawing/2014/main" id="{8A03A26D-1676-42BE-AD08-C50FBBAEB72E}"/>
              </a:ext>
            </a:extLst>
          </p:cNvPr>
          <p:cNvSpPr txBox="1"/>
          <p:nvPr/>
        </p:nvSpPr>
        <p:spPr>
          <a:xfrm>
            <a:off x="1462271" y="1272997"/>
            <a:ext cx="790601" cy="369332"/>
          </a:xfrm>
          <a:prstGeom prst="rect">
            <a:avLst/>
          </a:prstGeom>
          <a:noFill/>
        </p:spPr>
        <p:txBody>
          <a:bodyPr wrap="none" rtlCol="0">
            <a:spAutoFit/>
          </a:bodyPr>
          <a:lstStyle/>
          <a:p>
            <a:r>
              <a:rPr lang="en-US"/>
              <a:t>Name</a:t>
            </a:r>
            <a:endParaRPr lang="en-CA"/>
          </a:p>
        </p:txBody>
      </p:sp>
      <p:sp>
        <p:nvSpPr>
          <p:cNvPr id="15" name="Rectangle 14">
            <a:extLst>
              <a:ext uri="{FF2B5EF4-FFF2-40B4-BE49-F238E27FC236}">
                <a16:creationId xmlns:a16="http://schemas.microsoft.com/office/drawing/2014/main" id="{29C34AC2-A5BC-6691-0CC1-DFDC8DBE6975}"/>
              </a:ext>
            </a:extLst>
          </p:cNvPr>
          <p:cNvSpPr/>
          <p:nvPr/>
        </p:nvSpPr>
        <p:spPr>
          <a:xfrm>
            <a:off x="2252872" y="1292414"/>
            <a:ext cx="1213674"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CA"/>
          </a:p>
        </p:txBody>
      </p:sp>
      <p:pic>
        <p:nvPicPr>
          <p:cNvPr id="17" name="Graphic 16" descr="User with solid fill">
            <a:extLst>
              <a:ext uri="{FF2B5EF4-FFF2-40B4-BE49-F238E27FC236}">
                <a16:creationId xmlns:a16="http://schemas.microsoft.com/office/drawing/2014/main" id="{328D5562-05AB-F1F2-1EA7-5D64612B559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433175" y="865331"/>
            <a:ext cx="517187" cy="517187"/>
          </a:xfrm>
          <a:prstGeom prst="rect">
            <a:avLst/>
          </a:prstGeom>
        </p:spPr>
      </p:pic>
      <p:sp>
        <p:nvSpPr>
          <p:cNvPr id="18" name="Rectangle: Rounded Corners 17">
            <a:extLst>
              <a:ext uri="{FF2B5EF4-FFF2-40B4-BE49-F238E27FC236}">
                <a16:creationId xmlns:a16="http://schemas.microsoft.com/office/drawing/2014/main" id="{AEEE0E71-0F7C-29AF-035B-CDC181F24756}"/>
              </a:ext>
            </a:extLst>
          </p:cNvPr>
          <p:cNvSpPr/>
          <p:nvPr/>
        </p:nvSpPr>
        <p:spPr>
          <a:xfrm>
            <a:off x="681418" y="2385610"/>
            <a:ext cx="1422400" cy="452582"/>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Add Task</a:t>
            </a:r>
            <a:endParaRPr lang="en-CA"/>
          </a:p>
        </p:txBody>
      </p:sp>
      <p:graphicFrame>
        <p:nvGraphicFramePr>
          <p:cNvPr id="19" name="Table 18">
            <a:extLst>
              <a:ext uri="{FF2B5EF4-FFF2-40B4-BE49-F238E27FC236}">
                <a16:creationId xmlns:a16="http://schemas.microsoft.com/office/drawing/2014/main" id="{E49CCC2D-0164-8E0B-C182-FA1D9C7ACF27}"/>
              </a:ext>
            </a:extLst>
          </p:cNvPr>
          <p:cNvGraphicFramePr>
            <a:graphicFrameLocks noGrp="1"/>
          </p:cNvGraphicFramePr>
          <p:nvPr>
            <p:extLst>
              <p:ext uri="{D42A27DB-BD31-4B8C-83A1-F6EECF244321}">
                <p14:modId xmlns:p14="http://schemas.microsoft.com/office/powerpoint/2010/main" val="2760510164"/>
              </p:ext>
            </p:extLst>
          </p:nvPr>
        </p:nvGraphicFramePr>
        <p:xfrm>
          <a:off x="681418" y="3020328"/>
          <a:ext cx="7532203" cy="2966709"/>
        </p:xfrm>
        <a:graphic>
          <a:graphicData uri="http://schemas.openxmlformats.org/drawingml/2006/table">
            <a:tbl>
              <a:tblPr firstRow="1" bandRow="1">
                <a:tableStyleId>{073A0DAA-6AF3-43AB-8588-CEC1D06C72B9}</a:tableStyleId>
              </a:tblPr>
              <a:tblGrid>
                <a:gridCol w="1184875">
                  <a:extLst>
                    <a:ext uri="{9D8B030D-6E8A-4147-A177-3AD203B41FA5}">
                      <a16:colId xmlns:a16="http://schemas.microsoft.com/office/drawing/2014/main" val="3127478391"/>
                    </a:ext>
                  </a:extLst>
                </a:gridCol>
                <a:gridCol w="2012085">
                  <a:extLst>
                    <a:ext uri="{9D8B030D-6E8A-4147-A177-3AD203B41FA5}">
                      <a16:colId xmlns:a16="http://schemas.microsoft.com/office/drawing/2014/main" val="293151989"/>
                    </a:ext>
                  </a:extLst>
                </a:gridCol>
                <a:gridCol w="1491310">
                  <a:extLst>
                    <a:ext uri="{9D8B030D-6E8A-4147-A177-3AD203B41FA5}">
                      <a16:colId xmlns:a16="http://schemas.microsoft.com/office/drawing/2014/main" val="2169573274"/>
                    </a:ext>
                  </a:extLst>
                </a:gridCol>
                <a:gridCol w="1230923">
                  <a:extLst>
                    <a:ext uri="{9D8B030D-6E8A-4147-A177-3AD203B41FA5}">
                      <a16:colId xmlns:a16="http://schemas.microsoft.com/office/drawing/2014/main" val="2156908364"/>
                    </a:ext>
                  </a:extLst>
                </a:gridCol>
                <a:gridCol w="1340319">
                  <a:extLst>
                    <a:ext uri="{9D8B030D-6E8A-4147-A177-3AD203B41FA5}">
                      <a16:colId xmlns:a16="http://schemas.microsoft.com/office/drawing/2014/main" val="4291299298"/>
                    </a:ext>
                  </a:extLst>
                </a:gridCol>
                <a:gridCol w="272691">
                  <a:extLst>
                    <a:ext uri="{9D8B030D-6E8A-4147-A177-3AD203B41FA5}">
                      <a16:colId xmlns:a16="http://schemas.microsoft.com/office/drawing/2014/main" val="1161702369"/>
                    </a:ext>
                  </a:extLst>
                </a:gridCol>
              </a:tblGrid>
              <a:tr h="370840">
                <a:tc>
                  <a:txBody>
                    <a:bodyPr/>
                    <a:lstStyle/>
                    <a:p>
                      <a:r>
                        <a:rPr lang="en-US"/>
                        <a:t>Due Date</a:t>
                      </a:r>
                      <a:endParaRPr lang="en-CA"/>
                    </a:p>
                  </a:txBody>
                  <a:tcPr/>
                </a:tc>
                <a:tc>
                  <a:txBody>
                    <a:bodyPr/>
                    <a:lstStyle/>
                    <a:p>
                      <a:r>
                        <a:rPr lang="en-US"/>
                        <a:t>Task</a:t>
                      </a:r>
                      <a:endParaRPr lang="en-CA"/>
                    </a:p>
                  </a:txBody>
                  <a:tcPr/>
                </a:tc>
                <a:tc>
                  <a:txBody>
                    <a:bodyPr/>
                    <a:lstStyle/>
                    <a:p>
                      <a:r>
                        <a:rPr lang="en-US"/>
                        <a:t>Description</a:t>
                      </a:r>
                      <a:endParaRPr lang="en-CA"/>
                    </a:p>
                  </a:txBody>
                  <a:tcPr/>
                </a:tc>
                <a:tc>
                  <a:txBody>
                    <a:bodyPr/>
                    <a:lstStyle/>
                    <a:p>
                      <a:r>
                        <a:rPr lang="en-US"/>
                        <a:t>Assigned</a:t>
                      </a:r>
                      <a:endParaRPr lang="en-CA"/>
                    </a:p>
                  </a:txBody>
                  <a:tcPr/>
                </a:tc>
                <a:tc>
                  <a:txBody>
                    <a:bodyPr/>
                    <a:lstStyle/>
                    <a:p>
                      <a:r>
                        <a:rPr lang="en-US"/>
                        <a:t>Contact</a:t>
                      </a:r>
                      <a:endParaRPr lang="en-CA"/>
                    </a:p>
                  </a:txBody>
                  <a:tcPr/>
                </a:tc>
                <a:tc>
                  <a:txBody>
                    <a:bodyPr/>
                    <a:lstStyle/>
                    <a:p>
                      <a:endParaRPr lang="en-CA"/>
                    </a:p>
                  </a:txBody>
                  <a:tcPr/>
                </a:tc>
                <a:extLst>
                  <a:ext uri="{0D108BD9-81ED-4DB2-BD59-A6C34878D82A}">
                    <a16:rowId xmlns:a16="http://schemas.microsoft.com/office/drawing/2014/main" val="843559430"/>
                  </a:ext>
                </a:extLst>
              </a:tr>
              <a:tr h="370840">
                <a:tc>
                  <a:txBody>
                    <a:bodyPr/>
                    <a:lstStyle/>
                    <a:p>
                      <a:endParaRPr lang="en-CA"/>
                    </a:p>
                  </a:txBody>
                  <a:tcPr/>
                </a:tc>
                <a:tc>
                  <a:txBody>
                    <a:bodyPr/>
                    <a:lstStyle/>
                    <a:p>
                      <a:r>
                        <a:rPr lang="en-CA"/>
                        <a:t>Phone Call</a:t>
                      </a:r>
                    </a:p>
                  </a:txBody>
                  <a:tcPr/>
                </a:tc>
                <a:tc>
                  <a:txBody>
                    <a:bodyPr/>
                    <a:lstStyle/>
                    <a:p>
                      <a:endParaRPr lang="en-CA"/>
                    </a:p>
                  </a:txBody>
                  <a:tcPr/>
                </a:tc>
                <a:tc>
                  <a:txBody>
                    <a:bodyPr/>
                    <a:lstStyle/>
                    <a:p>
                      <a:endParaRPr lang="en-CA"/>
                    </a:p>
                  </a:txBody>
                  <a:tcPr/>
                </a:tc>
                <a:tc>
                  <a:txBody>
                    <a:bodyPr/>
                    <a:lstStyle/>
                    <a:p>
                      <a:endParaRPr lang="en-CA"/>
                    </a:p>
                  </a:txBody>
                  <a:tcPr/>
                </a:tc>
                <a:tc>
                  <a:txBody>
                    <a:bodyPr/>
                    <a:lstStyle/>
                    <a:p>
                      <a:endParaRPr lang="en-CA"/>
                    </a:p>
                  </a:txBody>
                  <a:tcPr/>
                </a:tc>
                <a:extLst>
                  <a:ext uri="{0D108BD9-81ED-4DB2-BD59-A6C34878D82A}">
                    <a16:rowId xmlns:a16="http://schemas.microsoft.com/office/drawing/2014/main" val="2490266639"/>
                  </a:ext>
                </a:extLst>
              </a:tr>
              <a:tr h="370839">
                <a:tc>
                  <a:txBody>
                    <a:bodyPr/>
                    <a:lstStyle/>
                    <a:p>
                      <a:pPr lvl="0">
                        <a:buNone/>
                      </a:pPr>
                      <a:endParaRPr lang="en-CA"/>
                    </a:p>
                  </a:txBody>
                  <a:tcPr/>
                </a:tc>
                <a:tc>
                  <a:txBody>
                    <a:bodyPr/>
                    <a:lstStyle/>
                    <a:p>
                      <a:pPr lvl="0">
                        <a:buNone/>
                      </a:pPr>
                      <a:r>
                        <a:rPr lang="en-CA"/>
                        <a:t>Initial AORF</a:t>
                      </a:r>
                    </a:p>
                  </a:txBody>
                  <a:tcPr/>
                </a:tc>
                <a:tc>
                  <a:txBody>
                    <a:bodyPr/>
                    <a:lstStyle/>
                    <a:p>
                      <a:pPr lvl="0">
                        <a:buNone/>
                      </a:pPr>
                      <a:endParaRPr lang="en-CA"/>
                    </a:p>
                  </a:txBody>
                  <a:tcPr/>
                </a:tc>
                <a:tc>
                  <a:txBody>
                    <a:bodyPr/>
                    <a:lstStyle/>
                    <a:p>
                      <a:pPr lvl="0">
                        <a:buNone/>
                      </a:pPr>
                      <a:endParaRPr lang="en-CA"/>
                    </a:p>
                  </a:txBody>
                  <a:tcPr/>
                </a:tc>
                <a:tc>
                  <a:txBody>
                    <a:bodyPr/>
                    <a:lstStyle/>
                    <a:p>
                      <a:pPr lvl="0">
                        <a:buNone/>
                      </a:pPr>
                      <a:endParaRPr lang="en-CA"/>
                    </a:p>
                  </a:txBody>
                  <a:tcPr/>
                </a:tc>
                <a:tc>
                  <a:txBody>
                    <a:bodyPr/>
                    <a:lstStyle/>
                    <a:p>
                      <a:pPr lvl="0">
                        <a:buNone/>
                      </a:pPr>
                      <a:endParaRPr lang="en-CA"/>
                    </a:p>
                  </a:txBody>
                  <a:tcPr/>
                </a:tc>
                <a:extLst>
                  <a:ext uri="{0D108BD9-81ED-4DB2-BD59-A6C34878D82A}">
                    <a16:rowId xmlns:a16="http://schemas.microsoft.com/office/drawing/2014/main" val="2997409672"/>
                  </a:ext>
                </a:extLst>
              </a:tr>
              <a:tr h="370838">
                <a:tc>
                  <a:txBody>
                    <a:bodyPr/>
                    <a:lstStyle/>
                    <a:p>
                      <a:pPr lvl="0">
                        <a:buNone/>
                      </a:pPr>
                      <a:endParaRPr lang="en-CA"/>
                    </a:p>
                  </a:txBody>
                  <a:tcPr/>
                </a:tc>
                <a:tc>
                  <a:txBody>
                    <a:bodyPr/>
                    <a:lstStyle/>
                    <a:p>
                      <a:pPr lvl="0">
                        <a:buNone/>
                      </a:pPr>
                      <a:r>
                        <a:rPr lang="en-CA"/>
                        <a:t>Correspondence</a:t>
                      </a:r>
                    </a:p>
                  </a:txBody>
                  <a:tcPr/>
                </a:tc>
                <a:tc>
                  <a:txBody>
                    <a:bodyPr/>
                    <a:lstStyle/>
                    <a:p>
                      <a:pPr lvl="0">
                        <a:buNone/>
                      </a:pPr>
                      <a:endParaRPr lang="en-CA"/>
                    </a:p>
                  </a:txBody>
                  <a:tcPr/>
                </a:tc>
                <a:tc>
                  <a:txBody>
                    <a:bodyPr/>
                    <a:lstStyle/>
                    <a:p>
                      <a:pPr lvl="0">
                        <a:buNone/>
                      </a:pPr>
                      <a:endParaRPr lang="en-CA"/>
                    </a:p>
                  </a:txBody>
                  <a:tcPr/>
                </a:tc>
                <a:tc>
                  <a:txBody>
                    <a:bodyPr/>
                    <a:lstStyle/>
                    <a:p>
                      <a:pPr lvl="0">
                        <a:buNone/>
                      </a:pPr>
                      <a:endParaRPr lang="en-CA"/>
                    </a:p>
                  </a:txBody>
                  <a:tcPr/>
                </a:tc>
                <a:tc>
                  <a:txBody>
                    <a:bodyPr/>
                    <a:lstStyle/>
                    <a:p>
                      <a:pPr lvl="0">
                        <a:buNone/>
                      </a:pPr>
                      <a:endParaRPr lang="en-CA"/>
                    </a:p>
                  </a:txBody>
                  <a:tcPr/>
                </a:tc>
                <a:extLst>
                  <a:ext uri="{0D108BD9-81ED-4DB2-BD59-A6C34878D82A}">
                    <a16:rowId xmlns:a16="http://schemas.microsoft.com/office/drawing/2014/main" val="3423885681"/>
                  </a:ext>
                </a:extLst>
              </a:tr>
              <a:tr h="370838">
                <a:tc>
                  <a:txBody>
                    <a:bodyPr/>
                    <a:lstStyle/>
                    <a:p>
                      <a:pPr lvl="0">
                        <a:buNone/>
                      </a:pPr>
                      <a:endParaRPr lang="en-CA"/>
                    </a:p>
                  </a:txBody>
                  <a:tcPr/>
                </a:tc>
                <a:tc>
                  <a:txBody>
                    <a:bodyPr/>
                    <a:lstStyle/>
                    <a:p>
                      <a:pPr lvl="0">
                        <a:buNone/>
                      </a:pPr>
                      <a:r>
                        <a:rPr lang="en-CA"/>
                        <a:t>Facility Order</a:t>
                      </a:r>
                    </a:p>
                  </a:txBody>
                  <a:tcPr/>
                </a:tc>
                <a:tc>
                  <a:txBody>
                    <a:bodyPr/>
                    <a:lstStyle/>
                    <a:p>
                      <a:pPr lvl="0">
                        <a:buNone/>
                      </a:pPr>
                      <a:endParaRPr lang="en-CA"/>
                    </a:p>
                  </a:txBody>
                  <a:tcPr/>
                </a:tc>
                <a:tc>
                  <a:txBody>
                    <a:bodyPr/>
                    <a:lstStyle/>
                    <a:p>
                      <a:pPr lvl="0">
                        <a:buNone/>
                      </a:pPr>
                      <a:endParaRPr lang="en-CA"/>
                    </a:p>
                  </a:txBody>
                  <a:tcPr/>
                </a:tc>
                <a:tc>
                  <a:txBody>
                    <a:bodyPr/>
                    <a:lstStyle/>
                    <a:p>
                      <a:pPr lvl="0">
                        <a:buNone/>
                      </a:pPr>
                      <a:endParaRPr lang="en-CA"/>
                    </a:p>
                  </a:txBody>
                  <a:tcPr/>
                </a:tc>
                <a:tc>
                  <a:txBody>
                    <a:bodyPr/>
                    <a:lstStyle/>
                    <a:p>
                      <a:pPr lvl="0">
                        <a:buNone/>
                      </a:pPr>
                      <a:endParaRPr lang="en-CA"/>
                    </a:p>
                  </a:txBody>
                  <a:tcPr/>
                </a:tc>
                <a:extLst>
                  <a:ext uri="{0D108BD9-81ED-4DB2-BD59-A6C34878D82A}">
                    <a16:rowId xmlns:a16="http://schemas.microsoft.com/office/drawing/2014/main" val="4003373208"/>
                  </a:ext>
                </a:extLst>
              </a:tr>
              <a:tr h="370838">
                <a:tc>
                  <a:txBody>
                    <a:bodyPr/>
                    <a:lstStyle/>
                    <a:p>
                      <a:pPr lvl="0">
                        <a:buNone/>
                      </a:pPr>
                      <a:endParaRPr lang="en-CA"/>
                    </a:p>
                  </a:txBody>
                  <a:tcPr/>
                </a:tc>
                <a:tc>
                  <a:txBody>
                    <a:bodyPr/>
                    <a:lstStyle/>
                    <a:p>
                      <a:pPr lvl="0">
                        <a:buNone/>
                      </a:pPr>
                      <a:r>
                        <a:rPr lang="en-CA"/>
                        <a:t>Lab AORF</a:t>
                      </a:r>
                    </a:p>
                  </a:txBody>
                  <a:tcPr/>
                </a:tc>
                <a:tc>
                  <a:txBody>
                    <a:bodyPr/>
                    <a:lstStyle/>
                    <a:p>
                      <a:pPr lvl="0">
                        <a:buNone/>
                      </a:pPr>
                      <a:endParaRPr lang="en-CA"/>
                    </a:p>
                  </a:txBody>
                  <a:tcPr/>
                </a:tc>
                <a:tc>
                  <a:txBody>
                    <a:bodyPr/>
                    <a:lstStyle/>
                    <a:p>
                      <a:pPr lvl="0">
                        <a:buNone/>
                      </a:pPr>
                      <a:endParaRPr lang="en-CA"/>
                    </a:p>
                  </a:txBody>
                  <a:tcPr/>
                </a:tc>
                <a:tc>
                  <a:txBody>
                    <a:bodyPr/>
                    <a:lstStyle/>
                    <a:p>
                      <a:pPr lvl="0">
                        <a:buNone/>
                      </a:pPr>
                      <a:endParaRPr lang="en-CA"/>
                    </a:p>
                  </a:txBody>
                  <a:tcPr/>
                </a:tc>
                <a:tc>
                  <a:txBody>
                    <a:bodyPr/>
                    <a:lstStyle/>
                    <a:p>
                      <a:pPr lvl="0">
                        <a:buNone/>
                      </a:pPr>
                      <a:endParaRPr lang="en-CA"/>
                    </a:p>
                  </a:txBody>
                  <a:tcPr/>
                </a:tc>
                <a:extLst>
                  <a:ext uri="{0D108BD9-81ED-4DB2-BD59-A6C34878D82A}">
                    <a16:rowId xmlns:a16="http://schemas.microsoft.com/office/drawing/2014/main" val="2765161706"/>
                  </a:ext>
                </a:extLst>
              </a:tr>
              <a:tr h="370838">
                <a:tc>
                  <a:txBody>
                    <a:bodyPr/>
                    <a:lstStyle/>
                    <a:p>
                      <a:pPr lvl="0">
                        <a:buNone/>
                      </a:pPr>
                      <a:endParaRPr lang="en-CA"/>
                    </a:p>
                  </a:txBody>
                  <a:tcPr/>
                </a:tc>
                <a:tc>
                  <a:txBody>
                    <a:bodyPr/>
                    <a:lstStyle/>
                    <a:p>
                      <a:pPr lvl="0">
                        <a:buNone/>
                      </a:pPr>
                      <a:r>
                        <a:rPr lang="en-CA"/>
                        <a:t>Final AORF</a:t>
                      </a:r>
                    </a:p>
                  </a:txBody>
                  <a:tcPr/>
                </a:tc>
                <a:tc>
                  <a:txBody>
                    <a:bodyPr/>
                    <a:lstStyle/>
                    <a:p>
                      <a:pPr lvl="0">
                        <a:buNone/>
                      </a:pPr>
                      <a:endParaRPr lang="en-CA"/>
                    </a:p>
                  </a:txBody>
                  <a:tcPr/>
                </a:tc>
                <a:tc>
                  <a:txBody>
                    <a:bodyPr/>
                    <a:lstStyle/>
                    <a:p>
                      <a:pPr lvl="0">
                        <a:buNone/>
                      </a:pPr>
                      <a:endParaRPr lang="en-CA"/>
                    </a:p>
                  </a:txBody>
                  <a:tcPr/>
                </a:tc>
                <a:tc>
                  <a:txBody>
                    <a:bodyPr/>
                    <a:lstStyle/>
                    <a:p>
                      <a:pPr lvl="0">
                        <a:buNone/>
                      </a:pPr>
                      <a:endParaRPr lang="en-CA"/>
                    </a:p>
                  </a:txBody>
                  <a:tcPr/>
                </a:tc>
                <a:tc>
                  <a:txBody>
                    <a:bodyPr/>
                    <a:lstStyle/>
                    <a:p>
                      <a:pPr lvl="0">
                        <a:buNone/>
                      </a:pPr>
                      <a:endParaRPr lang="en-CA"/>
                    </a:p>
                  </a:txBody>
                  <a:tcPr/>
                </a:tc>
                <a:extLst>
                  <a:ext uri="{0D108BD9-81ED-4DB2-BD59-A6C34878D82A}">
                    <a16:rowId xmlns:a16="http://schemas.microsoft.com/office/drawing/2014/main" val="2518732153"/>
                  </a:ext>
                </a:extLst>
              </a:tr>
              <a:tr h="370838">
                <a:tc>
                  <a:txBody>
                    <a:bodyPr/>
                    <a:lstStyle/>
                    <a:p>
                      <a:pPr lvl="0">
                        <a:buNone/>
                      </a:pPr>
                      <a:endParaRPr lang="en-CA"/>
                    </a:p>
                  </a:txBody>
                  <a:tcPr/>
                </a:tc>
                <a:tc>
                  <a:txBody>
                    <a:bodyPr/>
                    <a:lstStyle/>
                    <a:p>
                      <a:pPr lvl="0">
                        <a:buNone/>
                      </a:pPr>
                      <a:r>
                        <a:rPr lang="en-CA"/>
                        <a:t>MoH Consult</a:t>
                      </a:r>
                    </a:p>
                  </a:txBody>
                  <a:tcPr/>
                </a:tc>
                <a:tc>
                  <a:txBody>
                    <a:bodyPr/>
                    <a:lstStyle/>
                    <a:p>
                      <a:pPr lvl="0">
                        <a:buNone/>
                      </a:pPr>
                      <a:endParaRPr lang="en-CA"/>
                    </a:p>
                  </a:txBody>
                  <a:tcPr/>
                </a:tc>
                <a:tc>
                  <a:txBody>
                    <a:bodyPr/>
                    <a:lstStyle/>
                    <a:p>
                      <a:pPr lvl="0">
                        <a:buNone/>
                      </a:pPr>
                      <a:endParaRPr lang="en-CA"/>
                    </a:p>
                  </a:txBody>
                  <a:tcPr/>
                </a:tc>
                <a:tc>
                  <a:txBody>
                    <a:bodyPr/>
                    <a:lstStyle/>
                    <a:p>
                      <a:pPr lvl="0">
                        <a:buNone/>
                      </a:pPr>
                      <a:endParaRPr lang="en-CA"/>
                    </a:p>
                  </a:txBody>
                  <a:tcPr/>
                </a:tc>
                <a:tc>
                  <a:txBody>
                    <a:bodyPr/>
                    <a:lstStyle/>
                    <a:p>
                      <a:pPr lvl="0">
                        <a:buNone/>
                      </a:pPr>
                      <a:endParaRPr lang="en-CA"/>
                    </a:p>
                  </a:txBody>
                  <a:tcPr/>
                </a:tc>
                <a:extLst>
                  <a:ext uri="{0D108BD9-81ED-4DB2-BD59-A6C34878D82A}">
                    <a16:rowId xmlns:a16="http://schemas.microsoft.com/office/drawing/2014/main" val="2122965153"/>
                  </a:ext>
                </a:extLst>
              </a:tr>
            </a:tbl>
          </a:graphicData>
        </a:graphic>
      </p:graphicFrame>
      <p:pic>
        <p:nvPicPr>
          <p:cNvPr id="21" name="Graphic 20" descr="Paperclip with solid fill">
            <a:extLst>
              <a:ext uri="{FF2B5EF4-FFF2-40B4-BE49-F238E27FC236}">
                <a16:creationId xmlns:a16="http://schemas.microsoft.com/office/drawing/2014/main" id="{02CB1CA6-7D26-96D3-ECC9-A1AC003CED3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971893" y="3088596"/>
            <a:ext cx="282962" cy="282962"/>
          </a:xfrm>
          <a:prstGeom prst="rect">
            <a:avLst/>
          </a:prstGeom>
        </p:spPr>
      </p:pic>
      <p:sp>
        <p:nvSpPr>
          <p:cNvPr id="24" name="TextBox 23">
            <a:extLst>
              <a:ext uri="{FF2B5EF4-FFF2-40B4-BE49-F238E27FC236}">
                <a16:creationId xmlns:a16="http://schemas.microsoft.com/office/drawing/2014/main" id="{A25810C4-7A8D-C4B3-7124-82C8AE80BA0B}"/>
              </a:ext>
            </a:extLst>
          </p:cNvPr>
          <p:cNvSpPr txBox="1"/>
          <p:nvPr/>
        </p:nvSpPr>
        <p:spPr>
          <a:xfrm>
            <a:off x="3538944" y="1254904"/>
            <a:ext cx="1048172" cy="369332"/>
          </a:xfrm>
          <a:prstGeom prst="rect">
            <a:avLst/>
          </a:prstGeom>
          <a:noFill/>
        </p:spPr>
        <p:txBody>
          <a:bodyPr wrap="none" rtlCol="0">
            <a:spAutoFit/>
          </a:bodyPr>
          <a:lstStyle/>
          <a:p>
            <a:r>
              <a:rPr lang="en-US"/>
              <a:t>Progress</a:t>
            </a:r>
            <a:endParaRPr lang="en-CA"/>
          </a:p>
        </p:txBody>
      </p:sp>
      <p:sp>
        <p:nvSpPr>
          <p:cNvPr id="25" name="Rectangle 24">
            <a:extLst>
              <a:ext uri="{FF2B5EF4-FFF2-40B4-BE49-F238E27FC236}">
                <a16:creationId xmlns:a16="http://schemas.microsoft.com/office/drawing/2014/main" id="{8450E699-193C-5C2F-D2E6-24F5E6863FA0}"/>
              </a:ext>
            </a:extLst>
          </p:cNvPr>
          <p:cNvSpPr/>
          <p:nvPr/>
        </p:nvSpPr>
        <p:spPr>
          <a:xfrm>
            <a:off x="4578174" y="1308646"/>
            <a:ext cx="1213674"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CA"/>
          </a:p>
        </p:txBody>
      </p:sp>
      <p:sp>
        <p:nvSpPr>
          <p:cNvPr id="26" name="TextBox 25">
            <a:extLst>
              <a:ext uri="{FF2B5EF4-FFF2-40B4-BE49-F238E27FC236}">
                <a16:creationId xmlns:a16="http://schemas.microsoft.com/office/drawing/2014/main" id="{25C8F850-A239-10FB-EADE-812D29814152}"/>
              </a:ext>
            </a:extLst>
          </p:cNvPr>
          <p:cNvSpPr txBox="1"/>
          <p:nvPr/>
        </p:nvSpPr>
        <p:spPr>
          <a:xfrm>
            <a:off x="5833934" y="1264653"/>
            <a:ext cx="1255472" cy="369332"/>
          </a:xfrm>
          <a:prstGeom prst="rect">
            <a:avLst/>
          </a:prstGeom>
          <a:noFill/>
        </p:spPr>
        <p:txBody>
          <a:bodyPr wrap="none" rtlCol="0">
            <a:spAutoFit/>
          </a:bodyPr>
          <a:lstStyle/>
          <a:p>
            <a:r>
              <a:rPr lang="en-US"/>
              <a:t>Resolution</a:t>
            </a:r>
            <a:endParaRPr lang="en-CA"/>
          </a:p>
        </p:txBody>
      </p:sp>
      <p:sp>
        <p:nvSpPr>
          <p:cNvPr id="27" name="Rectangle 26">
            <a:extLst>
              <a:ext uri="{FF2B5EF4-FFF2-40B4-BE49-F238E27FC236}">
                <a16:creationId xmlns:a16="http://schemas.microsoft.com/office/drawing/2014/main" id="{46093F6B-D2F6-4DA7-AF7A-8B880E811098}"/>
              </a:ext>
            </a:extLst>
          </p:cNvPr>
          <p:cNvSpPr/>
          <p:nvPr/>
        </p:nvSpPr>
        <p:spPr>
          <a:xfrm>
            <a:off x="7089406" y="1287231"/>
            <a:ext cx="1213674"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CA"/>
          </a:p>
        </p:txBody>
      </p:sp>
      <p:grpSp>
        <p:nvGrpSpPr>
          <p:cNvPr id="16" name="Group 15">
            <a:extLst>
              <a:ext uri="{FF2B5EF4-FFF2-40B4-BE49-F238E27FC236}">
                <a16:creationId xmlns:a16="http://schemas.microsoft.com/office/drawing/2014/main" id="{74A9EF5A-62E8-0B62-F148-D4B20ABF0F9E}"/>
              </a:ext>
            </a:extLst>
          </p:cNvPr>
          <p:cNvGrpSpPr/>
          <p:nvPr/>
        </p:nvGrpSpPr>
        <p:grpSpPr>
          <a:xfrm>
            <a:off x="190540" y="1836937"/>
            <a:ext cx="8568074" cy="378649"/>
            <a:chOff x="314012" y="1028086"/>
            <a:chExt cx="8687316" cy="378649"/>
          </a:xfrm>
        </p:grpSpPr>
        <p:sp>
          <p:nvSpPr>
            <p:cNvPr id="20" name="Rounded Rectangle 6">
              <a:extLst>
                <a:ext uri="{FF2B5EF4-FFF2-40B4-BE49-F238E27FC236}">
                  <a16:creationId xmlns:a16="http://schemas.microsoft.com/office/drawing/2014/main" id="{9344190F-729D-D71B-63C2-CC4AC7C5EBF6}"/>
                </a:ext>
              </a:extLst>
            </p:cNvPr>
            <p:cNvSpPr/>
            <p:nvPr/>
          </p:nvSpPr>
          <p:spPr>
            <a:xfrm>
              <a:off x="314012" y="1028086"/>
              <a:ext cx="2173164" cy="371856"/>
            </a:xfrm>
            <a:prstGeom prst="roundRect">
              <a:avLst/>
            </a:prstGeom>
            <a:solidFill>
              <a:schemeClr val="bg1">
                <a:lumMod val="85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600">
                  <a:solidFill>
                    <a:schemeClr val="tx1"/>
                  </a:solidFill>
                </a:rPr>
                <a:t>Search</a:t>
              </a:r>
            </a:p>
          </p:txBody>
        </p:sp>
        <p:sp>
          <p:nvSpPr>
            <p:cNvPr id="22" name="Rounded Rectangle 7">
              <a:extLst>
                <a:ext uri="{FF2B5EF4-FFF2-40B4-BE49-F238E27FC236}">
                  <a16:creationId xmlns:a16="http://schemas.microsoft.com/office/drawing/2014/main" id="{B6C3BC24-BDED-F276-617F-DCFD79FA5D89}"/>
                </a:ext>
              </a:extLst>
            </p:cNvPr>
            <p:cNvSpPr/>
            <p:nvPr/>
          </p:nvSpPr>
          <p:spPr>
            <a:xfrm>
              <a:off x="2487176" y="1028086"/>
              <a:ext cx="2173164" cy="371856"/>
            </a:xfrm>
            <a:prstGeom prst="roundRect">
              <a:avLst/>
            </a:prstGeom>
            <a:solidFill>
              <a:schemeClr val="bg1">
                <a:lumMod val="75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600">
                  <a:solidFill>
                    <a:schemeClr val="tx1"/>
                  </a:solidFill>
                </a:rPr>
                <a:t>Investigation</a:t>
              </a:r>
            </a:p>
          </p:txBody>
        </p:sp>
        <p:sp>
          <p:nvSpPr>
            <p:cNvPr id="23" name="Rounded Rectangle 9">
              <a:extLst>
                <a:ext uri="{FF2B5EF4-FFF2-40B4-BE49-F238E27FC236}">
                  <a16:creationId xmlns:a16="http://schemas.microsoft.com/office/drawing/2014/main" id="{133A4488-ECBC-61A6-70F7-B7D76B32119C}"/>
                </a:ext>
              </a:extLst>
            </p:cNvPr>
            <p:cNvSpPr/>
            <p:nvPr/>
          </p:nvSpPr>
          <p:spPr>
            <a:xfrm>
              <a:off x="4655001" y="1034879"/>
              <a:ext cx="2173164" cy="371856"/>
            </a:xfrm>
            <a:prstGeom prst="roundRect">
              <a:avLst/>
            </a:prstGeom>
            <a:solidFill>
              <a:schemeClr val="bg1">
                <a:lumMod val="85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600">
                  <a:solidFill>
                    <a:schemeClr val="tx1"/>
                  </a:solidFill>
                </a:rPr>
                <a:t>Tasks</a:t>
              </a:r>
            </a:p>
          </p:txBody>
        </p:sp>
        <p:sp>
          <p:nvSpPr>
            <p:cNvPr id="29" name="Rounded Rectangle 10">
              <a:extLst>
                <a:ext uri="{FF2B5EF4-FFF2-40B4-BE49-F238E27FC236}">
                  <a16:creationId xmlns:a16="http://schemas.microsoft.com/office/drawing/2014/main" id="{F96B1363-0D81-052A-F8A2-39EC29433FE8}"/>
                </a:ext>
              </a:extLst>
            </p:cNvPr>
            <p:cNvSpPr/>
            <p:nvPr/>
          </p:nvSpPr>
          <p:spPr>
            <a:xfrm>
              <a:off x="6828164" y="1034879"/>
              <a:ext cx="2173164" cy="371856"/>
            </a:xfrm>
            <a:prstGeom prst="roundRect">
              <a:avLst/>
            </a:prstGeom>
            <a:solidFill>
              <a:schemeClr val="bg1">
                <a:lumMod val="85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600">
                  <a:solidFill>
                    <a:schemeClr val="tx1"/>
                  </a:solidFill>
                </a:rPr>
                <a:t>Case Counts</a:t>
              </a:r>
            </a:p>
          </p:txBody>
        </p:sp>
      </p:grpSp>
    </p:spTree>
    <p:extLst>
      <p:ext uri="{BB962C8B-B14F-4D97-AF65-F5344CB8AC3E}">
        <p14:creationId xmlns:p14="http://schemas.microsoft.com/office/powerpoint/2010/main" val="22969148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53D1D-A83D-CCA2-5416-825C76BE6222}"/>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DC287CC3-CF62-8C5E-EFC9-FE2673481CDB}"/>
              </a:ext>
            </a:extLst>
          </p:cNvPr>
          <p:cNvSpPr>
            <a:spLocks noGrp="1"/>
          </p:cNvSpPr>
          <p:nvPr>
            <p:ph type="body" sz="quarter" idx="13"/>
          </p:nvPr>
        </p:nvSpPr>
        <p:spPr>
          <a:xfrm>
            <a:off x="253092" y="138791"/>
            <a:ext cx="2758331" cy="383721"/>
          </a:xfrm>
        </p:spPr>
        <p:txBody>
          <a:bodyPr>
            <a:normAutofit fontScale="77500" lnSpcReduction="20000"/>
          </a:bodyPr>
          <a:lstStyle/>
          <a:p>
            <a:r>
              <a:rPr lang="en-US"/>
              <a:t>Outbreak Management Solution</a:t>
            </a:r>
          </a:p>
        </p:txBody>
      </p:sp>
      <p:sp>
        <p:nvSpPr>
          <p:cNvPr id="5" name="Slide Number Placeholder 4">
            <a:extLst>
              <a:ext uri="{FF2B5EF4-FFF2-40B4-BE49-F238E27FC236}">
                <a16:creationId xmlns:a16="http://schemas.microsoft.com/office/drawing/2014/main" id="{C21C8C18-E035-6753-D94F-C9AFF2D733DD}"/>
              </a:ext>
            </a:extLst>
          </p:cNvPr>
          <p:cNvSpPr>
            <a:spLocks noGrp="1"/>
          </p:cNvSpPr>
          <p:nvPr>
            <p:ph type="sldNum" sz="quarter" idx="4"/>
          </p:nvPr>
        </p:nvSpPr>
        <p:spPr/>
        <p:txBody>
          <a:bodyPr/>
          <a:lstStyle/>
          <a:p>
            <a:fld id="{2639BB91-5DDD-4FF0-AA8B-B54FEC5F3DC9}" type="slidenum">
              <a:rPr lang="en-US" smtClean="0"/>
              <a:t>15</a:t>
            </a:fld>
            <a:endParaRPr lang="en-US"/>
          </a:p>
        </p:txBody>
      </p:sp>
      <p:sp>
        <p:nvSpPr>
          <p:cNvPr id="2" name="Title 1">
            <a:extLst>
              <a:ext uri="{FF2B5EF4-FFF2-40B4-BE49-F238E27FC236}">
                <a16:creationId xmlns:a16="http://schemas.microsoft.com/office/drawing/2014/main" id="{6854A615-D08C-92A5-1C12-C73C6245B980}"/>
              </a:ext>
            </a:extLst>
          </p:cNvPr>
          <p:cNvSpPr>
            <a:spLocks noGrp="1"/>
          </p:cNvSpPr>
          <p:nvPr>
            <p:ph type="title"/>
          </p:nvPr>
        </p:nvSpPr>
        <p:spPr>
          <a:xfrm>
            <a:off x="2919470" y="14531"/>
            <a:ext cx="6125378" cy="631646"/>
          </a:xfrm>
        </p:spPr>
        <p:txBody>
          <a:bodyPr>
            <a:normAutofit fontScale="90000"/>
          </a:bodyPr>
          <a:lstStyle/>
          <a:p>
            <a:r>
              <a:rPr lang="en-US"/>
              <a:t>AOMS Create Questionnaire</a:t>
            </a:r>
          </a:p>
        </p:txBody>
      </p:sp>
      <p:sp>
        <p:nvSpPr>
          <p:cNvPr id="3" name="Rounded Rectangle 2">
            <a:extLst>
              <a:ext uri="{FF2B5EF4-FFF2-40B4-BE49-F238E27FC236}">
                <a16:creationId xmlns:a16="http://schemas.microsoft.com/office/drawing/2014/main" id="{76751190-8FDE-C204-B502-61FD1D1E57F9}"/>
              </a:ext>
            </a:extLst>
          </p:cNvPr>
          <p:cNvSpPr/>
          <p:nvPr/>
        </p:nvSpPr>
        <p:spPr>
          <a:xfrm>
            <a:off x="253092" y="868680"/>
            <a:ext cx="8594956" cy="5850529"/>
          </a:xfrm>
          <a:prstGeom prst="roundRect">
            <a:avLst>
              <a:gd name="adj" fmla="val 2501"/>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algn="ctr"/>
            <a:r>
              <a:rPr lang="en-US">
                <a:solidFill>
                  <a:schemeClr val="tx1"/>
                </a:solidFill>
              </a:rPr>
              <a:t>Create Facility Investigation (Line List or Aggregate) Questionnaire</a:t>
            </a:r>
          </a:p>
        </p:txBody>
      </p:sp>
      <p:sp>
        <p:nvSpPr>
          <p:cNvPr id="6" name="TextBox 5">
            <a:extLst>
              <a:ext uri="{FF2B5EF4-FFF2-40B4-BE49-F238E27FC236}">
                <a16:creationId xmlns:a16="http://schemas.microsoft.com/office/drawing/2014/main" id="{2755B2B4-224F-847F-C9ED-78C23A846BD9}"/>
              </a:ext>
            </a:extLst>
          </p:cNvPr>
          <p:cNvSpPr txBox="1"/>
          <p:nvPr/>
        </p:nvSpPr>
        <p:spPr>
          <a:xfrm>
            <a:off x="382607" y="1380333"/>
            <a:ext cx="987835" cy="369332"/>
          </a:xfrm>
          <a:prstGeom prst="rect">
            <a:avLst/>
          </a:prstGeom>
          <a:noFill/>
        </p:spPr>
        <p:txBody>
          <a:bodyPr wrap="none" rtlCol="0">
            <a:spAutoFit/>
          </a:bodyPr>
          <a:lstStyle/>
          <a:p>
            <a:r>
              <a:rPr lang="en-US"/>
              <a:t>Created</a:t>
            </a:r>
            <a:endParaRPr lang="en-CA"/>
          </a:p>
        </p:txBody>
      </p:sp>
      <p:sp>
        <p:nvSpPr>
          <p:cNvPr id="12" name="Rectangle 11">
            <a:extLst>
              <a:ext uri="{FF2B5EF4-FFF2-40B4-BE49-F238E27FC236}">
                <a16:creationId xmlns:a16="http://schemas.microsoft.com/office/drawing/2014/main" id="{A8347645-55F7-418E-5287-544BE15AC53C}"/>
              </a:ext>
            </a:extLst>
          </p:cNvPr>
          <p:cNvSpPr/>
          <p:nvPr/>
        </p:nvSpPr>
        <p:spPr>
          <a:xfrm>
            <a:off x="1440532" y="1411460"/>
            <a:ext cx="1108364"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14" name="Graphic 13" descr="Daily calendar outline">
            <a:extLst>
              <a:ext uri="{FF2B5EF4-FFF2-40B4-BE49-F238E27FC236}">
                <a16:creationId xmlns:a16="http://schemas.microsoft.com/office/drawing/2014/main" id="{0FDDCDAD-6577-F1F9-EB55-755B8BD8F96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80461" y="1381880"/>
            <a:ext cx="338586" cy="338586"/>
          </a:xfrm>
          <a:prstGeom prst="rect">
            <a:avLst/>
          </a:prstGeom>
        </p:spPr>
      </p:pic>
      <p:sp>
        <p:nvSpPr>
          <p:cNvPr id="15" name="TextBox 14">
            <a:extLst>
              <a:ext uri="{FF2B5EF4-FFF2-40B4-BE49-F238E27FC236}">
                <a16:creationId xmlns:a16="http://schemas.microsoft.com/office/drawing/2014/main" id="{D31EF8FC-642B-02EE-AB85-5AD8CC09DBF6}"/>
              </a:ext>
            </a:extLst>
          </p:cNvPr>
          <p:cNvSpPr txBox="1"/>
          <p:nvPr/>
        </p:nvSpPr>
        <p:spPr>
          <a:xfrm>
            <a:off x="2634871" y="1380333"/>
            <a:ext cx="1770100" cy="369332"/>
          </a:xfrm>
          <a:prstGeom prst="rect">
            <a:avLst/>
          </a:prstGeom>
          <a:noFill/>
        </p:spPr>
        <p:txBody>
          <a:bodyPr wrap="none" rtlCol="0">
            <a:spAutoFit/>
          </a:bodyPr>
          <a:lstStyle/>
          <a:p>
            <a:r>
              <a:rPr lang="en-US"/>
              <a:t>Outbreak Name</a:t>
            </a:r>
            <a:endParaRPr lang="en-CA"/>
          </a:p>
        </p:txBody>
      </p:sp>
      <p:sp>
        <p:nvSpPr>
          <p:cNvPr id="16" name="Rectangle 15">
            <a:extLst>
              <a:ext uri="{FF2B5EF4-FFF2-40B4-BE49-F238E27FC236}">
                <a16:creationId xmlns:a16="http://schemas.microsoft.com/office/drawing/2014/main" id="{5A976E67-AAC5-0E4E-8EAC-D43815486A1A}"/>
              </a:ext>
            </a:extLst>
          </p:cNvPr>
          <p:cNvSpPr/>
          <p:nvPr/>
        </p:nvSpPr>
        <p:spPr>
          <a:xfrm>
            <a:off x="4425070" y="1398164"/>
            <a:ext cx="1213674"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CA"/>
          </a:p>
        </p:txBody>
      </p:sp>
      <p:sp>
        <p:nvSpPr>
          <p:cNvPr id="17" name="TextBox 16">
            <a:extLst>
              <a:ext uri="{FF2B5EF4-FFF2-40B4-BE49-F238E27FC236}">
                <a16:creationId xmlns:a16="http://schemas.microsoft.com/office/drawing/2014/main" id="{E3ACCCCC-960E-D759-EB35-5B1729A4A779}"/>
              </a:ext>
            </a:extLst>
          </p:cNvPr>
          <p:cNvSpPr txBox="1"/>
          <p:nvPr/>
        </p:nvSpPr>
        <p:spPr>
          <a:xfrm>
            <a:off x="379477" y="2184468"/>
            <a:ext cx="1052276" cy="369332"/>
          </a:xfrm>
          <a:prstGeom prst="rect">
            <a:avLst/>
          </a:prstGeom>
          <a:noFill/>
        </p:spPr>
        <p:txBody>
          <a:bodyPr wrap="none" rtlCol="0">
            <a:spAutoFit/>
          </a:bodyPr>
          <a:lstStyle/>
          <a:p>
            <a:r>
              <a:rPr lang="en-US"/>
              <a:t>Location</a:t>
            </a:r>
            <a:endParaRPr lang="en-CA"/>
          </a:p>
        </p:txBody>
      </p:sp>
      <p:sp>
        <p:nvSpPr>
          <p:cNvPr id="18" name="Rectangle 17">
            <a:extLst>
              <a:ext uri="{FF2B5EF4-FFF2-40B4-BE49-F238E27FC236}">
                <a16:creationId xmlns:a16="http://schemas.microsoft.com/office/drawing/2014/main" id="{99B518E4-E656-9CCE-A6B9-7E7198CD0F94}"/>
              </a:ext>
            </a:extLst>
          </p:cNvPr>
          <p:cNvSpPr/>
          <p:nvPr/>
        </p:nvSpPr>
        <p:spPr>
          <a:xfrm>
            <a:off x="1532124" y="2252977"/>
            <a:ext cx="2216196"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CA"/>
          </a:p>
        </p:txBody>
      </p:sp>
      <p:sp>
        <p:nvSpPr>
          <p:cNvPr id="19" name="TextBox 18">
            <a:extLst>
              <a:ext uri="{FF2B5EF4-FFF2-40B4-BE49-F238E27FC236}">
                <a16:creationId xmlns:a16="http://schemas.microsoft.com/office/drawing/2014/main" id="{D254962C-F30A-7204-09B9-EAC9DA0C7947}"/>
              </a:ext>
            </a:extLst>
          </p:cNvPr>
          <p:cNvSpPr txBox="1"/>
          <p:nvPr/>
        </p:nvSpPr>
        <p:spPr>
          <a:xfrm>
            <a:off x="367095" y="1801649"/>
            <a:ext cx="1859868" cy="369332"/>
          </a:xfrm>
          <a:prstGeom prst="rect">
            <a:avLst/>
          </a:prstGeom>
          <a:noFill/>
        </p:spPr>
        <p:txBody>
          <a:bodyPr wrap="none" rtlCol="0">
            <a:spAutoFit/>
          </a:bodyPr>
          <a:lstStyle/>
          <a:p>
            <a:r>
              <a:rPr lang="en-US"/>
              <a:t>Outbreak Setting</a:t>
            </a:r>
            <a:endParaRPr lang="en-CA"/>
          </a:p>
        </p:txBody>
      </p:sp>
      <p:sp>
        <p:nvSpPr>
          <p:cNvPr id="20" name="Rectangle 19">
            <a:extLst>
              <a:ext uri="{FF2B5EF4-FFF2-40B4-BE49-F238E27FC236}">
                <a16:creationId xmlns:a16="http://schemas.microsoft.com/office/drawing/2014/main" id="{609FFBA9-5E0C-C57D-2BE6-F5181FB8A708}"/>
              </a:ext>
            </a:extLst>
          </p:cNvPr>
          <p:cNvSpPr/>
          <p:nvPr/>
        </p:nvSpPr>
        <p:spPr>
          <a:xfrm>
            <a:off x="2358031" y="1859340"/>
            <a:ext cx="2216196"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CA"/>
          </a:p>
        </p:txBody>
      </p:sp>
      <p:sp>
        <p:nvSpPr>
          <p:cNvPr id="21" name="TextBox 20">
            <a:extLst>
              <a:ext uri="{FF2B5EF4-FFF2-40B4-BE49-F238E27FC236}">
                <a16:creationId xmlns:a16="http://schemas.microsoft.com/office/drawing/2014/main" id="{B45CEA70-ABD9-C248-99D1-68AAF9B43DD5}"/>
              </a:ext>
            </a:extLst>
          </p:cNvPr>
          <p:cNvSpPr txBox="1"/>
          <p:nvPr/>
        </p:nvSpPr>
        <p:spPr>
          <a:xfrm>
            <a:off x="5709515" y="1332235"/>
            <a:ext cx="1382173" cy="369332"/>
          </a:xfrm>
          <a:prstGeom prst="rect">
            <a:avLst/>
          </a:prstGeom>
          <a:noFill/>
        </p:spPr>
        <p:txBody>
          <a:bodyPr wrap="none" rtlCol="0">
            <a:spAutoFit/>
          </a:bodyPr>
          <a:lstStyle/>
          <a:p>
            <a:r>
              <a:rPr lang="en-US"/>
              <a:t>Outbreak ID</a:t>
            </a:r>
            <a:endParaRPr lang="en-CA"/>
          </a:p>
        </p:txBody>
      </p:sp>
      <p:sp>
        <p:nvSpPr>
          <p:cNvPr id="22" name="Rectangle 21">
            <a:extLst>
              <a:ext uri="{FF2B5EF4-FFF2-40B4-BE49-F238E27FC236}">
                <a16:creationId xmlns:a16="http://schemas.microsoft.com/office/drawing/2014/main" id="{413DD382-635E-0BF4-49FC-1224CAEC2180}"/>
              </a:ext>
            </a:extLst>
          </p:cNvPr>
          <p:cNvSpPr/>
          <p:nvPr/>
        </p:nvSpPr>
        <p:spPr>
          <a:xfrm>
            <a:off x="7499714" y="1350066"/>
            <a:ext cx="1213674"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CA"/>
          </a:p>
        </p:txBody>
      </p:sp>
      <p:sp>
        <p:nvSpPr>
          <p:cNvPr id="7" name="Rectangle: Rounded Corners 6">
            <a:extLst>
              <a:ext uri="{FF2B5EF4-FFF2-40B4-BE49-F238E27FC236}">
                <a16:creationId xmlns:a16="http://schemas.microsoft.com/office/drawing/2014/main" id="{98DC3C50-AA76-4B13-BDFB-EE9E5AB31CB4}"/>
              </a:ext>
            </a:extLst>
          </p:cNvPr>
          <p:cNvSpPr/>
          <p:nvPr/>
        </p:nvSpPr>
        <p:spPr>
          <a:xfrm>
            <a:off x="6790003" y="6068684"/>
            <a:ext cx="1725347" cy="575332"/>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Build Questionnaire</a:t>
            </a:r>
            <a:endParaRPr lang="en-CA"/>
          </a:p>
        </p:txBody>
      </p:sp>
      <p:sp>
        <p:nvSpPr>
          <p:cNvPr id="13" name="TextBox 12">
            <a:extLst>
              <a:ext uri="{FF2B5EF4-FFF2-40B4-BE49-F238E27FC236}">
                <a16:creationId xmlns:a16="http://schemas.microsoft.com/office/drawing/2014/main" id="{BE767A77-128C-5723-139B-9EB0215D3C43}"/>
              </a:ext>
            </a:extLst>
          </p:cNvPr>
          <p:cNvSpPr txBox="1"/>
          <p:nvPr/>
        </p:nvSpPr>
        <p:spPr>
          <a:xfrm>
            <a:off x="4572000" y="2235418"/>
            <a:ext cx="989373" cy="369332"/>
          </a:xfrm>
          <a:prstGeom prst="rect">
            <a:avLst/>
          </a:prstGeom>
          <a:noFill/>
        </p:spPr>
        <p:txBody>
          <a:bodyPr wrap="none" rtlCol="0">
            <a:spAutoFit/>
          </a:bodyPr>
          <a:lstStyle/>
          <a:p>
            <a:r>
              <a:rPr lang="en-US"/>
              <a:t>Disease</a:t>
            </a:r>
            <a:endParaRPr lang="en-CA"/>
          </a:p>
        </p:txBody>
      </p:sp>
      <p:sp>
        <p:nvSpPr>
          <p:cNvPr id="23" name="Rectangle 22">
            <a:extLst>
              <a:ext uri="{FF2B5EF4-FFF2-40B4-BE49-F238E27FC236}">
                <a16:creationId xmlns:a16="http://schemas.microsoft.com/office/drawing/2014/main" id="{4CFDC0D9-BBA3-ABA2-0256-D2FA7E048300}"/>
              </a:ext>
            </a:extLst>
          </p:cNvPr>
          <p:cNvSpPr/>
          <p:nvPr/>
        </p:nvSpPr>
        <p:spPr>
          <a:xfrm>
            <a:off x="5839627" y="2284214"/>
            <a:ext cx="2216196"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CA"/>
          </a:p>
        </p:txBody>
      </p:sp>
      <p:graphicFrame>
        <p:nvGraphicFramePr>
          <p:cNvPr id="24" name="Table 23">
            <a:extLst>
              <a:ext uri="{FF2B5EF4-FFF2-40B4-BE49-F238E27FC236}">
                <a16:creationId xmlns:a16="http://schemas.microsoft.com/office/drawing/2014/main" id="{0DCEED4E-71CC-EF8E-A298-E4DA6CEE7BC3}"/>
              </a:ext>
            </a:extLst>
          </p:cNvPr>
          <p:cNvGraphicFramePr>
            <a:graphicFrameLocks noGrp="1"/>
          </p:cNvGraphicFramePr>
          <p:nvPr>
            <p:extLst>
              <p:ext uri="{D42A27DB-BD31-4B8C-83A1-F6EECF244321}">
                <p14:modId xmlns:p14="http://schemas.microsoft.com/office/powerpoint/2010/main" val="834263251"/>
              </p:ext>
            </p:extLst>
          </p:nvPr>
        </p:nvGraphicFramePr>
        <p:xfrm>
          <a:off x="379477" y="2944419"/>
          <a:ext cx="8135873" cy="1010920"/>
        </p:xfrm>
        <a:graphic>
          <a:graphicData uri="http://schemas.openxmlformats.org/drawingml/2006/table">
            <a:tbl>
              <a:tblPr firstRow="1" bandRow="1">
                <a:tableStyleId>{073A0DAA-6AF3-43AB-8588-CEC1D06C72B9}</a:tableStyleId>
              </a:tblPr>
              <a:tblGrid>
                <a:gridCol w="1871354">
                  <a:extLst>
                    <a:ext uri="{9D8B030D-6E8A-4147-A177-3AD203B41FA5}">
                      <a16:colId xmlns:a16="http://schemas.microsoft.com/office/drawing/2014/main" val="4155091487"/>
                    </a:ext>
                  </a:extLst>
                </a:gridCol>
                <a:gridCol w="1430215">
                  <a:extLst>
                    <a:ext uri="{9D8B030D-6E8A-4147-A177-3AD203B41FA5}">
                      <a16:colId xmlns:a16="http://schemas.microsoft.com/office/drawing/2014/main" val="66470700"/>
                    </a:ext>
                  </a:extLst>
                </a:gridCol>
                <a:gridCol w="738554">
                  <a:extLst>
                    <a:ext uri="{9D8B030D-6E8A-4147-A177-3AD203B41FA5}">
                      <a16:colId xmlns:a16="http://schemas.microsoft.com/office/drawing/2014/main" val="2406965593"/>
                    </a:ext>
                  </a:extLst>
                </a:gridCol>
                <a:gridCol w="979800">
                  <a:extLst>
                    <a:ext uri="{9D8B030D-6E8A-4147-A177-3AD203B41FA5}">
                      <a16:colId xmlns:a16="http://schemas.microsoft.com/office/drawing/2014/main" val="785012644"/>
                    </a:ext>
                  </a:extLst>
                </a:gridCol>
                <a:gridCol w="1557975">
                  <a:extLst>
                    <a:ext uri="{9D8B030D-6E8A-4147-A177-3AD203B41FA5}">
                      <a16:colId xmlns:a16="http://schemas.microsoft.com/office/drawing/2014/main" val="878601234"/>
                    </a:ext>
                  </a:extLst>
                </a:gridCol>
                <a:gridCol w="1557975">
                  <a:extLst>
                    <a:ext uri="{9D8B030D-6E8A-4147-A177-3AD203B41FA5}">
                      <a16:colId xmlns:a16="http://schemas.microsoft.com/office/drawing/2014/main" val="3052762634"/>
                    </a:ext>
                  </a:extLst>
                </a:gridCol>
              </a:tblGrid>
              <a:tr h="370840">
                <a:tc>
                  <a:txBody>
                    <a:bodyPr/>
                    <a:lstStyle/>
                    <a:p>
                      <a:r>
                        <a:rPr lang="en-US"/>
                        <a:t>Demographics /Role</a:t>
                      </a:r>
                      <a:endParaRPr lang="en-CA"/>
                    </a:p>
                  </a:txBody>
                  <a:tcPr/>
                </a:tc>
                <a:tc>
                  <a:txBody>
                    <a:bodyPr/>
                    <a:lstStyle/>
                    <a:p>
                      <a:r>
                        <a:rPr lang="en-US"/>
                        <a:t>Signs /Symptoms</a:t>
                      </a:r>
                      <a:endParaRPr lang="en-CA"/>
                    </a:p>
                  </a:txBody>
                  <a:tcPr/>
                </a:tc>
                <a:tc>
                  <a:txBody>
                    <a:bodyPr/>
                    <a:lstStyle/>
                    <a:p>
                      <a:r>
                        <a:rPr lang="en-US"/>
                        <a:t>Lab</a:t>
                      </a:r>
                      <a:endParaRPr lang="en-CA"/>
                    </a:p>
                  </a:txBody>
                  <a:tcPr/>
                </a:tc>
                <a:tc>
                  <a:txBody>
                    <a:bodyPr/>
                    <a:lstStyle/>
                    <a:p>
                      <a:r>
                        <a:rPr lang="en-US"/>
                        <a:t>Result</a:t>
                      </a:r>
                      <a:endParaRPr lang="en-CA"/>
                    </a:p>
                  </a:txBody>
                  <a:tcPr/>
                </a:tc>
                <a:tc>
                  <a:txBody>
                    <a:bodyPr/>
                    <a:lstStyle/>
                    <a:p>
                      <a:r>
                        <a:rPr lang="en-US"/>
                        <a:t>Prophylaxis</a:t>
                      </a:r>
                      <a:endParaRPr lang="en-CA"/>
                    </a:p>
                  </a:txBody>
                  <a:tcPr/>
                </a:tc>
                <a:tc>
                  <a:txBody>
                    <a:bodyPr/>
                    <a:lstStyle/>
                    <a:p>
                      <a:r>
                        <a:rPr lang="en-US"/>
                        <a:t>Vaccinated</a:t>
                      </a:r>
                      <a:endParaRPr lang="en-CA"/>
                    </a:p>
                  </a:txBody>
                  <a:tcPr/>
                </a:tc>
                <a:extLst>
                  <a:ext uri="{0D108BD9-81ED-4DB2-BD59-A6C34878D82A}">
                    <a16:rowId xmlns:a16="http://schemas.microsoft.com/office/drawing/2014/main" val="283425474"/>
                  </a:ext>
                </a:extLst>
              </a:tr>
              <a:tr h="370840">
                <a:tc>
                  <a:txBody>
                    <a:bodyPr/>
                    <a:lstStyle/>
                    <a:p>
                      <a:endParaRPr lang="en-CA"/>
                    </a:p>
                  </a:txBody>
                  <a:tcPr/>
                </a:tc>
                <a:tc>
                  <a:txBody>
                    <a:bodyPr/>
                    <a:lstStyle/>
                    <a:p>
                      <a:endParaRPr lang="en-CA"/>
                    </a:p>
                  </a:txBody>
                  <a:tcPr/>
                </a:tc>
                <a:tc>
                  <a:txBody>
                    <a:bodyPr/>
                    <a:lstStyle/>
                    <a:p>
                      <a:r>
                        <a:rPr lang="en-US"/>
                        <a:t>Y/N</a:t>
                      </a:r>
                      <a:endParaRPr lang="en-CA"/>
                    </a:p>
                  </a:txBody>
                  <a:tcPr/>
                </a:tc>
                <a:tc>
                  <a:txBody>
                    <a:bodyPr/>
                    <a:lstStyle/>
                    <a:p>
                      <a:r>
                        <a:rPr lang="en-US"/>
                        <a:t>+/-</a:t>
                      </a:r>
                      <a:endParaRPr lang="en-CA"/>
                    </a:p>
                  </a:txBody>
                  <a:tcPr/>
                </a:tc>
                <a:tc>
                  <a:txBody>
                    <a:bodyPr/>
                    <a:lstStyle/>
                    <a:p>
                      <a:r>
                        <a:rPr lang="en-US"/>
                        <a:t>Y/N</a:t>
                      </a:r>
                      <a:endParaRPr lang="en-CA"/>
                    </a:p>
                  </a:txBody>
                  <a:tcPr/>
                </a:tc>
                <a:tc>
                  <a:txBody>
                    <a:bodyPr/>
                    <a:lstStyle/>
                    <a:p>
                      <a:endParaRPr lang="en-CA"/>
                    </a:p>
                  </a:txBody>
                  <a:tcPr/>
                </a:tc>
                <a:extLst>
                  <a:ext uri="{0D108BD9-81ED-4DB2-BD59-A6C34878D82A}">
                    <a16:rowId xmlns:a16="http://schemas.microsoft.com/office/drawing/2014/main" val="1797110984"/>
                  </a:ext>
                </a:extLst>
              </a:tr>
            </a:tbl>
          </a:graphicData>
        </a:graphic>
      </p:graphicFrame>
      <p:graphicFrame>
        <p:nvGraphicFramePr>
          <p:cNvPr id="25" name="Table 24">
            <a:extLst>
              <a:ext uri="{FF2B5EF4-FFF2-40B4-BE49-F238E27FC236}">
                <a16:creationId xmlns:a16="http://schemas.microsoft.com/office/drawing/2014/main" id="{CC5F261A-50E1-B802-274E-25C6E7BB549A}"/>
              </a:ext>
            </a:extLst>
          </p:cNvPr>
          <p:cNvGraphicFramePr>
            <a:graphicFrameLocks noGrp="1"/>
          </p:cNvGraphicFramePr>
          <p:nvPr>
            <p:extLst>
              <p:ext uri="{D42A27DB-BD31-4B8C-83A1-F6EECF244321}">
                <p14:modId xmlns:p14="http://schemas.microsoft.com/office/powerpoint/2010/main" val="894175658"/>
              </p:ext>
            </p:extLst>
          </p:nvPr>
        </p:nvGraphicFramePr>
        <p:xfrm>
          <a:off x="367094" y="4177842"/>
          <a:ext cx="8148256" cy="1010920"/>
        </p:xfrm>
        <a:graphic>
          <a:graphicData uri="http://schemas.openxmlformats.org/drawingml/2006/table">
            <a:tbl>
              <a:tblPr firstRow="1" bandRow="1">
                <a:tableStyleId>{073A0DAA-6AF3-43AB-8588-CEC1D06C72B9}</a:tableStyleId>
              </a:tblPr>
              <a:tblGrid>
                <a:gridCol w="2246797">
                  <a:extLst>
                    <a:ext uri="{9D8B030D-6E8A-4147-A177-3AD203B41FA5}">
                      <a16:colId xmlns:a16="http://schemas.microsoft.com/office/drawing/2014/main" val="4155091487"/>
                    </a:ext>
                  </a:extLst>
                </a:gridCol>
                <a:gridCol w="1524000">
                  <a:extLst>
                    <a:ext uri="{9D8B030D-6E8A-4147-A177-3AD203B41FA5}">
                      <a16:colId xmlns:a16="http://schemas.microsoft.com/office/drawing/2014/main" val="66470700"/>
                    </a:ext>
                  </a:extLst>
                </a:gridCol>
                <a:gridCol w="1681018">
                  <a:extLst>
                    <a:ext uri="{9D8B030D-6E8A-4147-A177-3AD203B41FA5}">
                      <a16:colId xmlns:a16="http://schemas.microsoft.com/office/drawing/2014/main" val="2406965593"/>
                    </a:ext>
                  </a:extLst>
                </a:gridCol>
                <a:gridCol w="1330036">
                  <a:extLst>
                    <a:ext uri="{9D8B030D-6E8A-4147-A177-3AD203B41FA5}">
                      <a16:colId xmlns:a16="http://schemas.microsoft.com/office/drawing/2014/main" val="785012644"/>
                    </a:ext>
                  </a:extLst>
                </a:gridCol>
                <a:gridCol w="1366405">
                  <a:extLst>
                    <a:ext uri="{9D8B030D-6E8A-4147-A177-3AD203B41FA5}">
                      <a16:colId xmlns:a16="http://schemas.microsoft.com/office/drawing/2014/main" val="3052762634"/>
                    </a:ext>
                  </a:extLst>
                </a:gridCol>
              </a:tblGrid>
              <a:tr h="370840">
                <a:tc>
                  <a:txBody>
                    <a:bodyPr/>
                    <a:lstStyle/>
                    <a:p>
                      <a:r>
                        <a:rPr lang="en-US"/>
                        <a:t>Demographics /Role</a:t>
                      </a:r>
                      <a:endParaRPr lang="en-CA"/>
                    </a:p>
                  </a:txBody>
                  <a:tcPr/>
                </a:tc>
                <a:tc>
                  <a:txBody>
                    <a:bodyPr/>
                    <a:lstStyle/>
                    <a:p>
                      <a:r>
                        <a:rPr lang="en-US"/>
                        <a:t>Hospital</a:t>
                      </a:r>
                      <a:endParaRPr lang="en-CA"/>
                    </a:p>
                  </a:txBody>
                  <a:tcPr/>
                </a:tc>
                <a:tc>
                  <a:txBody>
                    <a:bodyPr/>
                    <a:lstStyle/>
                    <a:p>
                      <a:r>
                        <a:rPr lang="en-US"/>
                        <a:t>Admitted</a:t>
                      </a:r>
                      <a:endParaRPr lang="en-CA"/>
                    </a:p>
                  </a:txBody>
                  <a:tcPr/>
                </a:tc>
                <a:tc>
                  <a:txBody>
                    <a:bodyPr/>
                    <a:lstStyle/>
                    <a:p>
                      <a:r>
                        <a:rPr lang="en-US"/>
                        <a:t>Cause of Death</a:t>
                      </a:r>
                      <a:endParaRPr lang="en-CA"/>
                    </a:p>
                  </a:txBody>
                  <a:tcPr/>
                </a:tc>
                <a:tc>
                  <a:txBody>
                    <a:bodyPr/>
                    <a:lstStyle/>
                    <a:p>
                      <a:r>
                        <a:rPr lang="en-US"/>
                        <a:t>Date</a:t>
                      </a:r>
                      <a:endParaRPr lang="en-CA"/>
                    </a:p>
                  </a:txBody>
                  <a:tcPr/>
                </a:tc>
                <a:extLst>
                  <a:ext uri="{0D108BD9-81ED-4DB2-BD59-A6C34878D82A}">
                    <a16:rowId xmlns:a16="http://schemas.microsoft.com/office/drawing/2014/main" val="283425474"/>
                  </a:ext>
                </a:extLst>
              </a:tr>
              <a:tr h="370840">
                <a:tc>
                  <a:txBody>
                    <a:bodyPr/>
                    <a:lstStyle/>
                    <a:p>
                      <a:endParaRPr lang="en-CA"/>
                    </a:p>
                  </a:txBody>
                  <a:tcPr/>
                </a:tc>
                <a:tc>
                  <a:txBody>
                    <a:bodyPr/>
                    <a:lstStyle/>
                    <a:p>
                      <a:endParaRPr lang="en-CA"/>
                    </a:p>
                  </a:txBody>
                  <a:tcPr/>
                </a:tc>
                <a:tc>
                  <a:txBody>
                    <a:bodyPr/>
                    <a:lstStyle/>
                    <a:p>
                      <a:endParaRPr lang="en-CA"/>
                    </a:p>
                  </a:txBody>
                  <a:tcPr/>
                </a:tc>
                <a:tc>
                  <a:txBody>
                    <a:bodyPr/>
                    <a:lstStyle/>
                    <a:p>
                      <a:endParaRPr lang="en-CA"/>
                    </a:p>
                  </a:txBody>
                  <a:tcPr/>
                </a:tc>
                <a:tc>
                  <a:txBody>
                    <a:bodyPr/>
                    <a:lstStyle/>
                    <a:p>
                      <a:endParaRPr lang="en-CA"/>
                    </a:p>
                  </a:txBody>
                  <a:tcPr/>
                </a:tc>
                <a:extLst>
                  <a:ext uri="{0D108BD9-81ED-4DB2-BD59-A6C34878D82A}">
                    <a16:rowId xmlns:a16="http://schemas.microsoft.com/office/drawing/2014/main" val="1797110984"/>
                  </a:ext>
                </a:extLst>
              </a:tr>
            </a:tbl>
          </a:graphicData>
        </a:graphic>
      </p:graphicFrame>
      <p:sp>
        <p:nvSpPr>
          <p:cNvPr id="26" name="Rectangle: Rounded Corners 25">
            <a:extLst>
              <a:ext uri="{FF2B5EF4-FFF2-40B4-BE49-F238E27FC236}">
                <a16:creationId xmlns:a16="http://schemas.microsoft.com/office/drawing/2014/main" id="{77CB5CB4-6CC5-96F2-5D14-A5E883BB6B71}"/>
              </a:ext>
            </a:extLst>
          </p:cNvPr>
          <p:cNvSpPr/>
          <p:nvPr/>
        </p:nvSpPr>
        <p:spPr>
          <a:xfrm>
            <a:off x="379477" y="5386868"/>
            <a:ext cx="1725347" cy="575332"/>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Additional Questions</a:t>
            </a:r>
            <a:endParaRPr lang="en-CA"/>
          </a:p>
        </p:txBody>
      </p:sp>
      <p:pic>
        <p:nvPicPr>
          <p:cNvPr id="27" name="Graphic 26" descr="Daily calendar outline">
            <a:extLst>
              <a:ext uri="{FF2B5EF4-FFF2-40B4-BE49-F238E27FC236}">
                <a16:creationId xmlns:a16="http://schemas.microsoft.com/office/drawing/2014/main" id="{43572F26-72DE-DB35-C049-E708A4C68F6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06551" y="3616753"/>
            <a:ext cx="338586" cy="338586"/>
          </a:xfrm>
          <a:prstGeom prst="rect">
            <a:avLst/>
          </a:prstGeom>
        </p:spPr>
      </p:pic>
      <p:pic>
        <p:nvPicPr>
          <p:cNvPr id="28" name="Graphic 27" descr="Daily calendar outline">
            <a:extLst>
              <a:ext uri="{FF2B5EF4-FFF2-40B4-BE49-F238E27FC236}">
                <a16:creationId xmlns:a16="http://schemas.microsoft.com/office/drawing/2014/main" id="{85892163-BFD6-CC0B-580F-D523F5A6FC8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70929" y="4841436"/>
            <a:ext cx="338586" cy="338586"/>
          </a:xfrm>
          <a:prstGeom prst="rect">
            <a:avLst/>
          </a:prstGeom>
        </p:spPr>
      </p:pic>
      <p:pic>
        <p:nvPicPr>
          <p:cNvPr id="29" name="Graphic 28" descr="Daily calendar outline">
            <a:extLst>
              <a:ext uri="{FF2B5EF4-FFF2-40B4-BE49-F238E27FC236}">
                <a16:creationId xmlns:a16="http://schemas.microsoft.com/office/drawing/2014/main" id="{EA9784A9-881E-2598-9F63-1FFA38F9D51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06551" y="4794612"/>
            <a:ext cx="338586" cy="338586"/>
          </a:xfrm>
          <a:prstGeom prst="rect">
            <a:avLst/>
          </a:prstGeom>
        </p:spPr>
      </p:pic>
      <p:pic>
        <p:nvPicPr>
          <p:cNvPr id="8" name="Graphic 7" descr="User with solid fill">
            <a:extLst>
              <a:ext uri="{FF2B5EF4-FFF2-40B4-BE49-F238E27FC236}">
                <a16:creationId xmlns:a16="http://schemas.microsoft.com/office/drawing/2014/main" id="{44A1007B-A0D3-6E4C-0331-E56A93EDA5B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87051" y="830613"/>
            <a:ext cx="517187" cy="517187"/>
          </a:xfrm>
          <a:prstGeom prst="rect">
            <a:avLst/>
          </a:prstGeom>
        </p:spPr>
      </p:pic>
    </p:spTree>
    <p:extLst>
      <p:ext uri="{BB962C8B-B14F-4D97-AF65-F5344CB8AC3E}">
        <p14:creationId xmlns:p14="http://schemas.microsoft.com/office/powerpoint/2010/main" val="15860787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1E6C1-8D38-4DF7-423F-624F99F22037}"/>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E5267415-EF1E-A653-34E5-7C4391C6552F}"/>
              </a:ext>
            </a:extLst>
          </p:cNvPr>
          <p:cNvSpPr>
            <a:spLocks noGrp="1"/>
          </p:cNvSpPr>
          <p:nvPr>
            <p:ph type="body" sz="quarter" idx="13"/>
          </p:nvPr>
        </p:nvSpPr>
        <p:spPr>
          <a:xfrm>
            <a:off x="253092" y="138791"/>
            <a:ext cx="2758331" cy="383721"/>
          </a:xfrm>
        </p:spPr>
        <p:txBody>
          <a:bodyPr>
            <a:normAutofit fontScale="77500" lnSpcReduction="20000"/>
          </a:bodyPr>
          <a:lstStyle/>
          <a:p>
            <a:r>
              <a:rPr lang="en-US"/>
              <a:t>Outbreak Management Solution</a:t>
            </a:r>
          </a:p>
        </p:txBody>
      </p:sp>
      <p:sp>
        <p:nvSpPr>
          <p:cNvPr id="5" name="Slide Number Placeholder 4">
            <a:extLst>
              <a:ext uri="{FF2B5EF4-FFF2-40B4-BE49-F238E27FC236}">
                <a16:creationId xmlns:a16="http://schemas.microsoft.com/office/drawing/2014/main" id="{3BD38C9E-201A-1368-D71D-7483C332A27B}"/>
              </a:ext>
            </a:extLst>
          </p:cNvPr>
          <p:cNvSpPr>
            <a:spLocks noGrp="1"/>
          </p:cNvSpPr>
          <p:nvPr>
            <p:ph type="sldNum" sz="quarter" idx="4"/>
          </p:nvPr>
        </p:nvSpPr>
        <p:spPr/>
        <p:txBody>
          <a:bodyPr/>
          <a:lstStyle/>
          <a:p>
            <a:fld id="{2639BB91-5DDD-4FF0-AA8B-B54FEC5F3DC9}" type="slidenum">
              <a:rPr lang="en-US" smtClean="0"/>
              <a:t>16</a:t>
            </a:fld>
            <a:endParaRPr lang="en-US"/>
          </a:p>
        </p:txBody>
      </p:sp>
      <p:sp>
        <p:nvSpPr>
          <p:cNvPr id="2" name="Title 1">
            <a:extLst>
              <a:ext uri="{FF2B5EF4-FFF2-40B4-BE49-F238E27FC236}">
                <a16:creationId xmlns:a16="http://schemas.microsoft.com/office/drawing/2014/main" id="{CEAFC7D2-D873-3A33-3DC8-1B652672F5B2}"/>
              </a:ext>
            </a:extLst>
          </p:cNvPr>
          <p:cNvSpPr>
            <a:spLocks noGrp="1"/>
          </p:cNvSpPr>
          <p:nvPr>
            <p:ph type="title"/>
          </p:nvPr>
        </p:nvSpPr>
        <p:spPr>
          <a:xfrm>
            <a:off x="2919470" y="14531"/>
            <a:ext cx="6125378" cy="631646"/>
          </a:xfrm>
        </p:spPr>
        <p:txBody>
          <a:bodyPr>
            <a:normAutofit fontScale="90000"/>
          </a:bodyPr>
          <a:lstStyle/>
          <a:p>
            <a:r>
              <a:rPr lang="en-US"/>
              <a:t>AOMS Submit Questionnaire</a:t>
            </a:r>
          </a:p>
        </p:txBody>
      </p:sp>
      <p:sp>
        <p:nvSpPr>
          <p:cNvPr id="3" name="Rounded Rectangle 2">
            <a:extLst>
              <a:ext uri="{FF2B5EF4-FFF2-40B4-BE49-F238E27FC236}">
                <a16:creationId xmlns:a16="http://schemas.microsoft.com/office/drawing/2014/main" id="{F1824268-2B5C-71F0-8F51-A324840F1623}"/>
              </a:ext>
            </a:extLst>
          </p:cNvPr>
          <p:cNvSpPr/>
          <p:nvPr/>
        </p:nvSpPr>
        <p:spPr>
          <a:xfrm>
            <a:off x="253092" y="866137"/>
            <a:ext cx="8594956" cy="5850529"/>
          </a:xfrm>
          <a:prstGeom prst="roundRect">
            <a:avLst>
              <a:gd name="adj" fmla="val 2501"/>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a:solidFill>
                  <a:schemeClr val="tx1"/>
                </a:solidFill>
              </a:rPr>
              <a:t>Create Facility Investigation (Line List or Aggregate) Questionnaire</a:t>
            </a:r>
          </a:p>
        </p:txBody>
      </p:sp>
      <p:sp>
        <p:nvSpPr>
          <p:cNvPr id="6" name="TextBox 5">
            <a:extLst>
              <a:ext uri="{FF2B5EF4-FFF2-40B4-BE49-F238E27FC236}">
                <a16:creationId xmlns:a16="http://schemas.microsoft.com/office/drawing/2014/main" id="{39073431-B92A-BEF8-E17C-53598D0BC051}"/>
              </a:ext>
            </a:extLst>
          </p:cNvPr>
          <p:cNvSpPr txBox="1"/>
          <p:nvPr/>
        </p:nvSpPr>
        <p:spPr>
          <a:xfrm>
            <a:off x="382607" y="1380333"/>
            <a:ext cx="987835" cy="369332"/>
          </a:xfrm>
          <a:prstGeom prst="rect">
            <a:avLst/>
          </a:prstGeom>
          <a:noFill/>
        </p:spPr>
        <p:txBody>
          <a:bodyPr wrap="none" rtlCol="0">
            <a:spAutoFit/>
          </a:bodyPr>
          <a:lstStyle/>
          <a:p>
            <a:r>
              <a:rPr lang="en-US"/>
              <a:t>Created</a:t>
            </a:r>
            <a:endParaRPr lang="en-CA"/>
          </a:p>
        </p:txBody>
      </p:sp>
      <p:sp>
        <p:nvSpPr>
          <p:cNvPr id="12" name="Rectangle 11">
            <a:extLst>
              <a:ext uri="{FF2B5EF4-FFF2-40B4-BE49-F238E27FC236}">
                <a16:creationId xmlns:a16="http://schemas.microsoft.com/office/drawing/2014/main" id="{2F9465F5-4F90-B1A9-DFD0-7F616D8FBFFE}"/>
              </a:ext>
            </a:extLst>
          </p:cNvPr>
          <p:cNvSpPr/>
          <p:nvPr/>
        </p:nvSpPr>
        <p:spPr>
          <a:xfrm>
            <a:off x="1440532" y="1411460"/>
            <a:ext cx="1108364"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14" name="Graphic 13" descr="Daily calendar outline">
            <a:extLst>
              <a:ext uri="{FF2B5EF4-FFF2-40B4-BE49-F238E27FC236}">
                <a16:creationId xmlns:a16="http://schemas.microsoft.com/office/drawing/2014/main" id="{007DD328-163D-1EA5-86DF-164ED9CBF4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80461" y="1381880"/>
            <a:ext cx="338586" cy="338586"/>
          </a:xfrm>
          <a:prstGeom prst="rect">
            <a:avLst/>
          </a:prstGeom>
        </p:spPr>
      </p:pic>
      <p:sp>
        <p:nvSpPr>
          <p:cNvPr id="15" name="TextBox 14">
            <a:extLst>
              <a:ext uri="{FF2B5EF4-FFF2-40B4-BE49-F238E27FC236}">
                <a16:creationId xmlns:a16="http://schemas.microsoft.com/office/drawing/2014/main" id="{79522844-8DA9-7532-1BDD-843F36EBE526}"/>
              </a:ext>
            </a:extLst>
          </p:cNvPr>
          <p:cNvSpPr txBox="1"/>
          <p:nvPr/>
        </p:nvSpPr>
        <p:spPr>
          <a:xfrm>
            <a:off x="2634871" y="1380333"/>
            <a:ext cx="1770100" cy="369332"/>
          </a:xfrm>
          <a:prstGeom prst="rect">
            <a:avLst/>
          </a:prstGeom>
          <a:noFill/>
        </p:spPr>
        <p:txBody>
          <a:bodyPr wrap="none" rtlCol="0">
            <a:spAutoFit/>
          </a:bodyPr>
          <a:lstStyle/>
          <a:p>
            <a:r>
              <a:rPr lang="en-US"/>
              <a:t>Outbreak Name</a:t>
            </a:r>
            <a:endParaRPr lang="en-CA"/>
          </a:p>
        </p:txBody>
      </p:sp>
      <p:sp>
        <p:nvSpPr>
          <p:cNvPr id="16" name="Rectangle 15">
            <a:extLst>
              <a:ext uri="{FF2B5EF4-FFF2-40B4-BE49-F238E27FC236}">
                <a16:creationId xmlns:a16="http://schemas.microsoft.com/office/drawing/2014/main" id="{7F007AF0-8AAE-B35B-C1F2-49D2A94A3034}"/>
              </a:ext>
            </a:extLst>
          </p:cNvPr>
          <p:cNvSpPr/>
          <p:nvPr/>
        </p:nvSpPr>
        <p:spPr>
          <a:xfrm>
            <a:off x="4425070" y="1398164"/>
            <a:ext cx="1213674"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CA"/>
          </a:p>
        </p:txBody>
      </p:sp>
      <p:sp>
        <p:nvSpPr>
          <p:cNvPr id="17" name="TextBox 16">
            <a:extLst>
              <a:ext uri="{FF2B5EF4-FFF2-40B4-BE49-F238E27FC236}">
                <a16:creationId xmlns:a16="http://schemas.microsoft.com/office/drawing/2014/main" id="{4103C30C-157B-0832-B5C2-D5CDB912024B}"/>
              </a:ext>
            </a:extLst>
          </p:cNvPr>
          <p:cNvSpPr txBox="1"/>
          <p:nvPr/>
        </p:nvSpPr>
        <p:spPr>
          <a:xfrm>
            <a:off x="379477" y="2184468"/>
            <a:ext cx="1052276" cy="369332"/>
          </a:xfrm>
          <a:prstGeom prst="rect">
            <a:avLst/>
          </a:prstGeom>
          <a:noFill/>
        </p:spPr>
        <p:txBody>
          <a:bodyPr wrap="none" rtlCol="0">
            <a:spAutoFit/>
          </a:bodyPr>
          <a:lstStyle/>
          <a:p>
            <a:r>
              <a:rPr lang="en-US"/>
              <a:t>Location</a:t>
            </a:r>
            <a:endParaRPr lang="en-CA"/>
          </a:p>
        </p:txBody>
      </p:sp>
      <p:sp>
        <p:nvSpPr>
          <p:cNvPr id="18" name="Rectangle 17">
            <a:extLst>
              <a:ext uri="{FF2B5EF4-FFF2-40B4-BE49-F238E27FC236}">
                <a16:creationId xmlns:a16="http://schemas.microsoft.com/office/drawing/2014/main" id="{E6770F42-DDA9-8399-AB03-92D1D31FA0FF}"/>
              </a:ext>
            </a:extLst>
          </p:cNvPr>
          <p:cNvSpPr/>
          <p:nvPr/>
        </p:nvSpPr>
        <p:spPr>
          <a:xfrm>
            <a:off x="1532124" y="2252977"/>
            <a:ext cx="2216196"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CA"/>
          </a:p>
        </p:txBody>
      </p:sp>
      <p:sp>
        <p:nvSpPr>
          <p:cNvPr id="19" name="TextBox 18">
            <a:extLst>
              <a:ext uri="{FF2B5EF4-FFF2-40B4-BE49-F238E27FC236}">
                <a16:creationId xmlns:a16="http://schemas.microsoft.com/office/drawing/2014/main" id="{06CC6446-97E1-2EC2-CAC5-FDEA4D4B9780}"/>
              </a:ext>
            </a:extLst>
          </p:cNvPr>
          <p:cNvSpPr txBox="1"/>
          <p:nvPr/>
        </p:nvSpPr>
        <p:spPr>
          <a:xfrm>
            <a:off x="367095" y="1801649"/>
            <a:ext cx="1859868" cy="369332"/>
          </a:xfrm>
          <a:prstGeom prst="rect">
            <a:avLst/>
          </a:prstGeom>
          <a:noFill/>
        </p:spPr>
        <p:txBody>
          <a:bodyPr wrap="none" rtlCol="0">
            <a:spAutoFit/>
          </a:bodyPr>
          <a:lstStyle/>
          <a:p>
            <a:r>
              <a:rPr lang="en-US"/>
              <a:t>Outbreak Setting</a:t>
            </a:r>
            <a:endParaRPr lang="en-CA"/>
          </a:p>
        </p:txBody>
      </p:sp>
      <p:sp>
        <p:nvSpPr>
          <p:cNvPr id="20" name="Rectangle 19">
            <a:extLst>
              <a:ext uri="{FF2B5EF4-FFF2-40B4-BE49-F238E27FC236}">
                <a16:creationId xmlns:a16="http://schemas.microsoft.com/office/drawing/2014/main" id="{6D672604-E0D1-5522-0BCF-F1F218C7BCFD}"/>
              </a:ext>
            </a:extLst>
          </p:cNvPr>
          <p:cNvSpPr/>
          <p:nvPr/>
        </p:nvSpPr>
        <p:spPr>
          <a:xfrm>
            <a:off x="2358031" y="1859340"/>
            <a:ext cx="2216196"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CA"/>
          </a:p>
        </p:txBody>
      </p:sp>
      <p:sp>
        <p:nvSpPr>
          <p:cNvPr id="21" name="TextBox 20">
            <a:extLst>
              <a:ext uri="{FF2B5EF4-FFF2-40B4-BE49-F238E27FC236}">
                <a16:creationId xmlns:a16="http://schemas.microsoft.com/office/drawing/2014/main" id="{E8231644-DCDE-8405-4850-A60377084E85}"/>
              </a:ext>
            </a:extLst>
          </p:cNvPr>
          <p:cNvSpPr txBox="1"/>
          <p:nvPr/>
        </p:nvSpPr>
        <p:spPr>
          <a:xfrm>
            <a:off x="5709515" y="1332235"/>
            <a:ext cx="1382173" cy="369332"/>
          </a:xfrm>
          <a:prstGeom prst="rect">
            <a:avLst/>
          </a:prstGeom>
          <a:noFill/>
        </p:spPr>
        <p:txBody>
          <a:bodyPr wrap="none" rtlCol="0">
            <a:spAutoFit/>
          </a:bodyPr>
          <a:lstStyle/>
          <a:p>
            <a:r>
              <a:rPr lang="en-US"/>
              <a:t>Outbreak ID</a:t>
            </a:r>
            <a:endParaRPr lang="en-CA"/>
          </a:p>
        </p:txBody>
      </p:sp>
      <p:sp>
        <p:nvSpPr>
          <p:cNvPr id="22" name="Rectangle 21">
            <a:extLst>
              <a:ext uri="{FF2B5EF4-FFF2-40B4-BE49-F238E27FC236}">
                <a16:creationId xmlns:a16="http://schemas.microsoft.com/office/drawing/2014/main" id="{B09EA2ED-0B8E-ED56-FE34-0A82306A8046}"/>
              </a:ext>
            </a:extLst>
          </p:cNvPr>
          <p:cNvSpPr/>
          <p:nvPr/>
        </p:nvSpPr>
        <p:spPr>
          <a:xfrm>
            <a:off x="7133954" y="1386642"/>
            <a:ext cx="1213674"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CA"/>
          </a:p>
        </p:txBody>
      </p:sp>
      <p:sp>
        <p:nvSpPr>
          <p:cNvPr id="7" name="Rectangle: Rounded Corners 6">
            <a:extLst>
              <a:ext uri="{FF2B5EF4-FFF2-40B4-BE49-F238E27FC236}">
                <a16:creationId xmlns:a16="http://schemas.microsoft.com/office/drawing/2014/main" id="{9DF15F28-DA3D-B01C-66F9-409ADCA67248}"/>
              </a:ext>
            </a:extLst>
          </p:cNvPr>
          <p:cNvSpPr/>
          <p:nvPr/>
        </p:nvSpPr>
        <p:spPr>
          <a:xfrm>
            <a:off x="4900660" y="6037150"/>
            <a:ext cx="1725347" cy="575332"/>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Save</a:t>
            </a:r>
            <a:endParaRPr lang="en-CA"/>
          </a:p>
        </p:txBody>
      </p:sp>
      <p:sp>
        <p:nvSpPr>
          <p:cNvPr id="13" name="TextBox 12">
            <a:extLst>
              <a:ext uri="{FF2B5EF4-FFF2-40B4-BE49-F238E27FC236}">
                <a16:creationId xmlns:a16="http://schemas.microsoft.com/office/drawing/2014/main" id="{4AC76791-7836-8418-90C8-8D9BAFC355DD}"/>
              </a:ext>
            </a:extLst>
          </p:cNvPr>
          <p:cNvSpPr txBox="1"/>
          <p:nvPr/>
        </p:nvSpPr>
        <p:spPr>
          <a:xfrm>
            <a:off x="4572000" y="2235418"/>
            <a:ext cx="989373" cy="369332"/>
          </a:xfrm>
          <a:prstGeom prst="rect">
            <a:avLst/>
          </a:prstGeom>
          <a:noFill/>
        </p:spPr>
        <p:txBody>
          <a:bodyPr wrap="none" rtlCol="0">
            <a:spAutoFit/>
          </a:bodyPr>
          <a:lstStyle/>
          <a:p>
            <a:r>
              <a:rPr lang="en-US"/>
              <a:t>Disease</a:t>
            </a:r>
            <a:endParaRPr lang="en-CA"/>
          </a:p>
        </p:txBody>
      </p:sp>
      <p:sp>
        <p:nvSpPr>
          <p:cNvPr id="23" name="Rectangle 22">
            <a:extLst>
              <a:ext uri="{FF2B5EF4-FFF2-40B4-BE49-F238E27FC236}">
                <a16:creationId xmlns:a16="http://schemas.microsoft.com/office/drawing/2014/main" id="{B05679B6-0568-5EA9-6935-94D0B793B9AE}"/>
              </a:ext>
            </a:extLst>
          </p:cNvPr>
          <p:cNvSpPr/>
          <p:nvPr/>
        </p:nvSpPr>
        <p:spPr>
          <a:xfrm>
            <a:off x="5839627" y="2284214"/>
            <a:ext cx="2216196"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CA"/>
          </a:p>
        </p:txBody>
      </p:sp>
      <p:graphicFrame>
        <p:nvGraphicFramePr>
          <p:cNvPr id="24" name="Table 23">
            <a:extLst>
              <a:ext uri="{FF2B5EF4-FFF2-40B4-BE49-F238E27FC236}">
                <a16:creationId xmlns:a16="http://schemas.microsoft.com/office/drawing/2014/main" id="{4DF588D1-3558-7132-33F9-58B18E4787D5}"/>
              </a:ext>
            </a:extLst>
          </p:cNvPr>
          <p:cNvGraphicFramePr>
            <a:graphicFrameLocks noGrp="1"/>
          </p:cNvGraphicFramePr>
          <p:nvPr>
            <p:extLst>
              <p:ext uri="{D42A27DB-BD31-4B8C-83A1-F6EECF244321}">
                <p14:modId xmlns:p14="http://schemas.microsoft.com/office/powerpoint/2010/main" val="3152269170"/>
              </p:ext>
            </p:extLst>
          </p:nvPr>
        </p:nvGraphicFramePr>
        <p:xfrm>
          <a:off x="379477" y="3664851"/>
          <a:ext cx="8135874" cy="1010920"/>
        </p:xfrm>
        <a:graphic>
          <a:graphicData uri="http://schemas.openxmlformats.org/drawingml/2006/table">
            <a:tbl>
              <a:tblPr firstRow="1" bandRow="1">
                <a:tableStyleId>{073A0DAA-6AF3-43AB-8588-CEC1D06C72B9}</a:tableStyleId>
              </a:tblPr>
              <a:tblGrid>
                <a:gridCol w="2674044">
                  <a:extLst>
                    <a:ext uri="{9D8B030D-6E8A-4147-A177-3AD203B41FA5}">
                      <a16:colId xmlns:a16="http://schemas.microsoft.com/office/drawing/2014/main" val="4155091487"/>
                    </a:ext>
                  </a:extLst>
                </a:gridCol>
                <a:gridCol w="1790151">
                  <a:extLst>
                    <a:ext uri="{9D8B030D-6E8A-4147-A177-3AD203B41FA5}">
                      <a16:colId xmlns:a16="http://schemas.microsoft.com/office/drawing/2014/main" val="66470700"/>
                    </a:ext>
                  </a:extLst>
                </a:gridCol>
                <a:gridCol w="843923">
                  <a:extLst>
                    <a:ext uri="{9D8B030D-6E8A-4147-A177-3AD203B41FA5}">
                      <a16:colId xmlns:a16="http://schemas.microsoft.com/office/drawing/2014/main" val="2406965593"/>
                    </a:ext>
                  </a:extLst>
                </a:gridCol>
                <a:gridCol w="1200581">
                  <a:extLst>
                    <a:ext uri="{9D8B030D-6E8A-4147-A177-3AD203B41FA5}">
                      <a16:colId xmlns:a16="http://schemas.microsoft.com/office/drawing/2014/main" val="785012644"/>
                    </a:ext>
                  </a:extLst>
                </a:gridCol>
                <a:gridCol w="1627175">
                  <a:extLst>
                    <a:ext uri="{9D8B030D-6E8A-4147-A177-3AD203B41FA5}">
                      <a16:colId xmlns:a16="http://schemas.microsoft.com/office/drawing/2014/main" val="3052762634"/>
                    </a:ext>
                  </a:extLst>
                </a:gridCol>
              </a:tblGrid>
              <a:tr h="370840">
                <a:tc>
                  <a:txBody>
                    <a:bodyPr/>
                    <a:lstStyle/>
                    <a:p>
                      <a:r>
                        <a:rPr lang="en-US"/>
                        <a:t>Demographics /Role</a:t>
                      </a:r>
                      <a:endParaRPr lang="en-CA"/>
                    </a:p>
                  </a:txBody>
                  <a:tcPr/>
                </a:tc>
                <a:tc>
                  <a:txBody>
                    <a:bodyPr/>
                    <a:lstStyle/>
                    <a:p>
                      <a:r>
                        <a:rPr lang="en-US"/>
                        <a:t>Signs /Symptoms</a:t>
                      </a:r>
                      <a:endParaRPr lang="en-CA"/>
                    </a:p>
                  </a:txBody>
                  <a:tcPr/>
                </a:tc>
                <a:tc>
                  <a:txBody>
                    <a:bodyPr/>
                    <a:lstStyle/>
                    <a:p>
                      <a:r>
                        <a:rPr lang="en-US"/>
                        <a:t>Lab</a:t>
                      </a:r>
                      <a:endParaRPr lang="en-CA"/>
                    </a:p>
                  </a:txBody>
                  <a:tcPr/>
                </a:tc>
                <a:tc>
                  <a:txBody>
                    <a:bodyPr/>
                    <a:lstStyle/>
                    <a:p>
                      <a:r>
                        <a:rPr lang="en-US"/>
                        <a:t>Result</a:t>
                      </a:r>
                      <a:endParaRPr lang="en-CA"/>
                    </a:p>
                  </a:txBody>
                  <a:tcPr/>
                </a:tc>
                <a:tc>
                  <a:txBody>
                    <a:bodyPr/>
                    <a:lstStyle/>
                    <a:p>
                      <a:r>
                        <a:rPr lang="en-US"/>
                        <a:t>Vaccinated</a:t>
                      </a:r>
                      <a:endParaRPr lang="en-CA"/>
                    </a:p>
                  </a:txBody>
                  <a:tcPr/>
                </a:tc>
                <a:extLst>
                  <a:ext uri="{0D108BD9-81ED-4DB2-BD59-A6C34878D82A}">
                    <a16:rowId xmlns:a16="http://schemas.microsoft.com/office/drawing/2014/main" val="283425474"/>
                  </a:ext>
                </a:extLst>
              </a:tr>
              <a:tr h="370840">
                <a:tc>
                  <a:txBody>
                    <a:bodyPr/>
                    <a:lstStyle/>
                    <a:p>
                      <a:endParaRPr lang="en-CA"/>
                    </a:p>
                  </a:txBody>
                  <a:tcPr/>
                </a:tc>
                <a:tc>
                  <a:txBody>
                    <a:bodyPr/>
                    <a:lstStyle/>
                    <a:p>
                      <a:endParaRPr lang="en-CA"/>
                    </a:p>
                  </a:txBody>
                  <a:tcPr/>
                </a:tc>
                <a:tc>
                  <a:txBody>
                    <a:bodyPr/>
                    <a:lstStyle/>
                    <a:p>
                      <a:endParaRPr lang="en-CA"/>
                    </a:p>
                  </a:txBody>
                  <a:tcPr/>
                </a:tc>
                <a:tc>
                  <a:txBody>
                    <a:bodyPr/>
                    <a:lstStyle/>
                    <a:p>
                      <a:endParaRPr lang="en-CA"/>
                    </a:p>
                  </a:txBody>
                  <a:tcPr/>
                </a:tc>
                <a:tc>
                  <a:txBody>
                    <a:bodyPr/>
                    <a:lstStyle/>
                    <a:p>
                      <a:endParaRPr lang="en-CA"/>
                    </a:p>
                  </a:txBody>
                  <a:tcPr/>
                </a:tc>
                <a:extLst>
                  <a:ext uri="{0D108BD9-81ED-4DB2-BD59-A6C34878D82A}">
                    <a16:rowId xmlns:a16="http://schemas.microsoft.com/office/drawing/2014/main" val="1797110984"/>
                  </a:ext>
                </a:extLst>
              </a:tr>
            </a:tbl>
          </a:graphicData>
        </a:graphic>
      </p:graphicFrame>
      <p:graphicFrame>
        <p:nvGraphicFramePr>
          <p:cNvPr id="25" name="Table 24">
            <a:extLst>
              <a:ext uri="{FF2B5EF4-FFF2-40B4-BE49-F238E27FC236}">
                <a16:creationId xmlns:a16="http://schemas.microsoft.com/office/drawing/2014/main" id="{C08E0E66-A984-5DA3-F182-133233E184BB}"/>
              </a:ext>
            </a:extLst>
          </p:cNvPr>
          <p:cNvGraphicFramePr>
            <a:graphicFrameLocks noGrp="1"/>
          </p:cNvGraphicFramePr>
          <p:nvPr>
            <p:extLst>
              <p:ext uri="{D42A27DB-BD31-4B8C-83A1-F6EECF244321}">
                <p14:modId xmlns:p14="http://schemas.microsoft.com/office/powerpoint/2010/main" val="114250188"/>
              </p:ext>
            </p:extLst>
          </p:nvPr>
        </p:nvGraphicFramePr>
        <p:xfrm>
          <a:off x="367094" y="4898274"/>
          <a:ext cx="8148256" cy="1010920"/>
        </p:xfrm>
        <a:graphic>
          <a:graphicData uri="http://schemas.openxmlformats.org/drawingml/2006/table">
            <a:tbl>
              <a:tblPr firstRow="1" bandRow="1">
                <a:tableStyleId>{073A0DAA-6AF3-43AB-8588-CEC1D06C72B9}</a:tableStyleId>
              </a:tblPr>
              <a:tblGrid>
                <a:gridCol w="2246797">
                  <a:extLst>
                    <a:ext uri="{9D8B030D-6E8A-4147-A177-3AD203B41FA5}">
                      <a16:colId xmlns:a16="http://schemas.microsoft.com/office/drawing/2014/main" val="4155091487"/>
                    </a:ext>
                  </a:extLst>
                </a:gridCol>
                <a:gridCol w="1524000">
                  <a:extLst>
                    <a:ext uri="{9D8B030D-6E8A-4147-A177-3AD203B41FA5}">
                      <a16:colId xmlns:a16="http://schemas.microsoft.com/office/drawing/2014/main" val="66470700"/>
                    </a:ext>
                  </a:extLst>
                </a:gridCol>
                <a:gridCol w="1681018">
                  <a:extLst>
                    <a:ext uri="{9D8B030D-6E8A-4147-A177-3AD203B41FA5}">
                      <a16:colId xmlns:a16="http://schemas.microsoft.com/office/drawing/2014/main" val="2406965593"/>
                    </a:ext>
                  </a:extLst>
                </a:gridCol>
                <a:gridCol w="1330036">
                  <a:extLst>
                    <a:ext uri="{9D8B030D-6E8A-4147-A177-3AD203B41FA5}">
                      <a16:colId xmlns:a16="http://schemas.microsoft.com/office/drawing/2014/main" val="785012644"/>
                    </a:ext>
                  </a:extLst>
                </a:gridCol>
                <a:gridCol w="1366405">
                  <a:extLst>
                    <a:ext uri="{9D8B030D-6E8A-4147-A177-3AD203B41FA5}">
                      <a16:colId xmlns:a16="http://schemas.microsoft.com/office/drawing/2014/main" val="3052762634"/>
                    </a:ext>
                  </a:extLst>
                </a:gridCol>
              </a:tblGrid>
              <a:tr h="370840">
                <a:tc>
                  <a:txBody>
                    <a:bodyPr/>
                    <a:lstStyle/>
                    <a:p>
                      <a:r>
                        <a:rPr lang="en-US"/>
                        <a:t>Demographics /Role</a:t>
                      </a:r>
                      <a:endParaRPr lang="en-CA"/>
                    </a:p>
                  </a:txBody>
                  <a:tcPr/>
                </a:tc>
                <a:tc>
                  <a:txBody>
                    <a:bodyPr/>
                    <a:lstStyle/>
                    <a:p>
                      <a:r>
                        <a:rPr lang="en-US"/>
                        <a:t>Hospital</a:t>
                      </a:r>
                      <a:endParaRPr lang="en-CA"/>
                    </a:p>
                  </a:txBody>
                  <a:tcPr/>
                </a:tc>
                <a:tc>
                  <a:txBody>
                    <a:bodyPr/>
                    <a:lstStyle/>
                    <a:p>
                      <a:r>
                        <a:rPr lang="en-US"/>
                        <a:t>Admitted</a:t>
                      </a:r>
                      <a:endParaRPr lang="en-CA"/>
                    </a:p>
                  </a:txBody>
                  <a:tcPr/>
                </a:tc>
                <a:tc>
                  <a:txBody>
                    <a:bodyPr/>
                    <a:lstStyle/>
                    <a:p>
                      <a:r>
                        <a:rPr lang="en-US"/>
                        <a:t>Cause of Death</a:t>
                      </a:r>
                      <a:endParaRPr lang="en-CA"/>
                    </a:p>
                  </a:txBody>
                  <a:tcPr/>
                </a:tc>
                <a:tc>
                  <a:txBody>
                    <a:bodyPr/>
                    <a:lstStyle/>
                    <a:p>
                      <a:r>
                        <a:rPr lang="en-US"/>
                        <a:t>Date</a:t>
                      </a:r>
                      <a:endParaRPr lang="en-CA"/>
                    </a:p>
                  </a:txBody>
                  <a:tcPr/>
                </a:tc>
                <a:extLst>
                  <a:ext uri="{0D108BD9-81ED-4DB2-BD59-A6C34878D82A}">
                    <a16:rowId xmlns:a16="http://schemas.microsoft.com/office/drawing/2014/main" val="283425474"/>
                  </a:ext>
                </a:extLst>
              </a:tr>
              <a:tr h="370840">
                <a:tc>
                  <a:txBody>
                    <a:bodyPr/>
                    <a:lstStyle/>
                    <a:p>
                      <a:endParaRPr lang="en-CA"/>
                    </a:p>
                  </a:txBody>
                  <a:tcPr/>
                </a:tc>
                <a:tc>
                  <a:txBody>
                    <a:bodyPr/>
                    <a:lstStyle/>
                    <a:p>
                      <a:endParaRPr lang="en-CA"/>
                    </a:p>
                  </a:txBody>
                  <a:tcPr/>
                </a:tc>
                <a:tc>
                  <a:txBody>
                    <a:bodyPr/>
                    <a:lstStyle/>
                    <a:p>
                      <a:endParaRPr lang="en-CA"/>
                    </a:p>
                  </a:txBody>
                  <a:tcPr/>
                </a:tc>
                <a:tc>
                  <a:txBody>
                    <a:bodyPr/>
                    <a:lstStyle/>
                    <a:p>
                      <a:endParaRPr lang="en-CA"/>
                    </a:p>
                  </a:txBody>
                  <a:tcPr/>
                </a:tc>
                <a:tc>
                  <a:txBody>
                    <a:bodyPr/>
                    <a:lstStyle/>
                    <a:p>
                      <a:endParaRPr lang="en-CA"/>
                    </a:p>
                  </a:txBody>
                  <a:tcPr/>
                </a:tc>
                <a:extLst>
                  <a:ext uri="{0D108BD9-81ED-4DB2-BD59-A6C34878D82A}">
                    <a16:rowId xmlns:a16="http://schemas.microsoft.com/office/drawing/2014/main" val="1797110984"/>
                  </a:ext>
                </a:extLst>
              </a:tr>
            </a:tbl>
          </a:graphicData>
        </a:graphic>
      </p:graphicFrame>
      <p:sp>
        <p:nvSpPr>
          <p:cNvPr id="8" name="Rectangle: Rounded Corners 7">
            <a:extLst>
              <a:ext uri="{FF2B5EF4-FFF2-40B4-BE49-F238E27FC236}">
                <a16:creationId xmlns:a16="http://schemas.microsoft.com/office/drawing/2014/main" id="{3BECE8A4-180C-FBD9-809C-CAB3BAC1B4AA}"/>
              </a:ext>
            </a:extLst>
          </p:cNvPr>
          <p:cNvSpPr/>
          <p:nvPr/>
        </p:nvSpPr>
        <p:spPr>
          <a:xfrm>
            <a:off x="379477" y="2785379"/>
            <a:ext cx="1725347" cy="575332"/>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Download Excel</a:t>
            </a:r>
            <a:endParaRPr lang="en-CA"/>
          </a:p>
        </p:txBody>
      </p:sp>
      <p:sp>
        <p:nvSpPr>
          <p:cNvPr id="9" name="Rectangle: Rounded Corners 8">
            <a:extLst>
              <a:ext uri="{FF2B5EF4-FFF2-40B4-BE49-F238E27FC236}">
                <a16:creationId xmlns:a16="http://schemas.microsoft.com/office/drawing/2014/main" id="{783E1478-C379-E632-5CDB-DCB199621E31}"/>
              </a:ext>
            </a:extLst>
          </p:cNvPr>
          <p:cNvSpPr/>
          <p:nvPr/>
        </p:nvSpPr>
        <p:spPr>
          <a:xfrm>
            <a:off x="2320745" y="2792097"/>
            <a:ext cx="1725347" cy="575332"/>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Download .pdf</a:t>
            </a:r>
            <a:endParaRPr lang="en-CA"/>
          </a:p>
        </p:txBody>
      </p:sp>
      <p:sp>
        <p:nvSpPr>
          <p:cNvPr id="10" name="TextBox 9">
            <a:extLst>
              <a:ext uri="{FF2B5EF4-FFF2-40B4-BE49-F238E27FC236}">
                <a16:creationId xmlns:a16="http://schemas.microsoft.com/office/drawing/2014/main" id="{5D643F32-36C5-1581-18BD-8835A542550D}"/>
              </a:ext>
            </a:extLst>
          </p:cNvPr>
          <p:cNvSpPr txBox="1"/>
          <p:nvPr/>
        </p:nvSpPr>
        <p:spPr>
          <a:xfrm>
            <a:off x="367801" y="5965463"/>
            <a:ext cx="2363042" cy="369332"/>
          </a:xfrm>
          <a:prstGeom prst="rect">
            <a:avLst/>
          </a:prstGeom>
          <a:noFill/>
        </p:spPr>
        <p:txBody>
          <a:bodyPr wrap="square" rtlCol="0">
            <a:spAutoFit/>
          </a:bodyPr>
          <a:lstStyle/>
          <a:p>
            <a:r>
              <a:rPr lang="en-US"/>
              <a:t>Submission Date</a:t>
            </a:r>
            <a:endParaRPr lang="en-CA"/>
          </a:p>
        </p:txBody>
      </p:sp>
      <p:sp>
        <p:nvSpPr>
          <p:cNvPr id="11" name="Rectangle 10">
            <a:extLst>
              <a:ext uri="{FF2B5EF4-FFF2-40B4-BE49-F238E27FC236}">
                <a16:creationId xmlns:a16="http://schemas.microsoft.com/office/drawing/2014/main" id="{6825CAE9-39B4-3673-2860-0BF79C04C8BB}"/>
              </a:ext>
            </a:extLst>
          </p:cNvPr>
          <p:cNvSpPr/>
          <p:nvPr/>
        </p:nvSpPr>
        <p:spPr>
          <a:xfrm>
            <a:off x="1016828" y="6316160"/>
            <a:ext cx="1108364"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27" name="Graphic 26" descr="Daily calendar outline">
            <a:extLst>
              <a:ext uri="{FF2B5EF4-FFF2-40B4-BE49-F238E27FC236}">
                <a16:creationId xmlns:a16="http://schemas.microsoft.com/office/drawing/2014/main" id="{3ED6487E-1E46-3C01-F70B-34E352EDCEF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69259" y="6296549"/>
            <a:ext cx="338586" cy="338586"/>
          </a:xfrm>
          <a:prstGeom prst="rect">
            <a:avLst/>
          </a:prstGeom>
        </p:spPr>
      </p:pic>
      <p:sp>
        <p:nvSpPr>
          <p:cNvPr id="28" name="Rectangle: Rounded Corners 27">
            <a:extLst>
              <a:ext uri="{FF2B5EF4-FFF2-40B4-BE49-F238E27FC236}">
                <a16:creationId xmlns:a16="http://schemas.microsoft.com/office/drawing/2014/main" id="{192D8CE5-E2E8-6387-0038-BEF2E6B95C2B}"/>
              </a:ext>
            </a:extLst>
          </p:cNvPr>
          <p:cNvSpPr/>
          <p:nvPr/>
        </p:nvSpPr>
        <p:spPr>
          <a:xfrm>
            <a:off x="3071467" y="6036973"/>
            <a:ext cx="1725347" cy="575332"/>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Upload File</a:t>
            </a:r>
            <a:endParaRPr lang="en-CA"/>
          </a:p>
        </p:txBody>
      </p:sp>
      <p:sp>
        <p:nvSpPr>
          <p:cNvPr id="29" name="TextBox 28">
            <a:extLst>
              <a:ext uri="{FF2B5EF4-FFF2-40B4-BE49-F238E27FC236}">
                <a16:creationId xmlns:a16="http://schemas.microsoft.com/office/drawing/2014/main" id="{B849051E-65D1-6F2B-16E5-96EF35F6B33B}"/>
              </a:ext>
            </a:extLst>
          </p:cNvPr>
          <p:cNvSpPr txBox="1"/>
          <p:nvPr/>
        </p:nvSpPr>
        <p:spPr>
          <a:xfrm>
            <a:off x="4262013" y="2897032"/>
            <a:ext cx="2363042" cy="369332"/>
          </a:xfrm>
          <a:prstGeom prst="rect">
            <a:avLst/>
          </a:prstGeom>
          <a:noFill/>
        </p:spPr>
        <p:txBody>
          <a:bodyPr wrap="square" rtlCol="0">
            <a:spAutoFit/>
          </a:bodyPr>
          <a:lstStyle/>
          <a:p>
            <a:r>
              <a:rPr lang="en-US"/>
              <a:t>Submission History</a:t>
            </a:r>
            <a:endParaRPr lang="en-CA"/>
          </a:p>
        </p:txBody>
      </p:sp>
      <p:sp>
        <p:nvSpPr>
          <p:cNvPr id="31" name="Rectangle 30">
            <a:extLst>
              <a:ext uri="{FF2B5EF4-FFF2-40B4-BE49-F238E27FC236}">
                <a16:creationId xmlns:a16="http://schemas.microsoft.com/office/drawing/2014/main" id="{4347F865-9E4C-18C0-2CB9-3B373046EEBF}"/>
              </a:ext>
            </a:extLst>
          </p:cNvPr>
          <p:cNvSpPr/>
          <p:nvPr/>
        </p:nvSpPr>
        <p:spPr>
          <a:xfrm>
            <a:off x="6389525" y="2935059"/>
            <a:ext cx="1977788" cy="3046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CA">
                <a:solidFill>
                  <a:schemeClr val="tx1"/>
                </a:solidFill>
                <a:latin typeface="Arial" panose="020B0604020202020204" pitchFamily="34" charset="0"/>
                <a:cs typeface="Arial" panose="020B0604020202020204" pitchFamily="34" charset="0"/>
              </a:rPr>
              <a:t>▼</a:t>
            </a:r>
            <a:endParaRPr lang="en-CA">
              <a:solidFill>
                <a:schemeClr val="tx1"/>
              </a:solidFill>
            </a:endParaRPr>
          </a:p>
        </p:txBody>
      </p:sp>
      <p:pic>
        <p:nvPicPr>
          <p:cNvPr id="32" name="Graphic 31" descr="Daily calendar outline">
            <a:extLst>
              <a:ext uri="{FF2B5EF4-FFF2-40B4-BE49-F238E27FC236}">
                <a16:creationId xmlns:a16="http://schemas.microsoft.com/office/drawing/2014/main" id="{50E9380A-7A8E-546B-B08D-6BC33BBB735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17237" y="2901150"/>
            <a:ext cx="338586" cy="338586"/>
          </a:xfrm>
          <a:prstGeom prst="rect">
            <a:avLst/>
          </a:prstGeom>
        </p:spPr>
      </p:pic>
      <p:pic>
        <p:nvPicPr>
          <p:cNvPr id="26" name="Graphic 25" descr="User with solid fill">
            <a:extLst>
              <a:ext uri="{FF2B5EF4-FFF2-40B4-BE49-F238E27FC236}">
                <a16:creationId xmlns:a16="http://schemas.microsoft.com/office/drawing/2014/main" id="{D4877587-7119-25DE-77FC-353A58F0828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73721" y="834739"/>
            <a:ext cx="517187" cy="517187"/>
          </a:xfrm>
          <a:prstGeom prst="rect">
            <a:avLst/>
          </a:prstGeom>
        </p:spPr>
      </p:pic>
      <p:sp>
        <p:nvSpPr>
          <p:cNvPr id="30" name="Rectangle: Rounded Corners 29">
            <a:extLst>
              <a:ext uri="{FF2B5EF4-FFF2-40B4-BE49-F238E27FC236}">
                <a16:creationId xmlns:a16="http://schemas.microsoft.com/office/drawing/2014/main" id="{CB53A284-FC07-2D37-4451-270023789330}"/>
              </a:ext>
            </a:extLst>
          </p:cNvPr>
          <p:cNvSpPr/>
          <p:nvPr/>
        </p:nvSpPr>
        <p:spPr>
          <a:xfrm>
            <a:off x="6783141" y="6022767"/>
            <a:ext cx="1725347" cy="575332"/>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t>Validate</a:t>
            </a:r>
          </a:p>
        </p:txBody>
      </p:sp>
    </p:spTree>
    <p:extLst>
      <p:ext uri="{BB962C8B-B14F-4D97-AF65-F5344CB8AC3E}">
        <p14:creationId xmlns:p14="http://schemas.microsoft.com/office/powerpoint/2010/main" val="34827243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B46DE-FAA5-68FC-B992-95CB9348901A}"/>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50BE1A1C-C555-D94A-4762-E9C05971F2B3}"/>
              </a:ext>
            </a:extLst>
          </p:cNvPr>
          <p:cNvSpPr>
            <a:spLocks noGrp="1"/>
          </p:cNvSpPr>
          <p:nvPr>
            <p:ph type="body" sz="quarter" idx="13"/>
          </p:nvPr>
        </p:nvSpPr>
        <p:spPr>
          <a:xfrm>
            <a:off x="253092" y="138791"/>
            <a:ext cx="2758331" cy="383721"/>
          </a:xfrm>
        </p:spPr>
        <p:txBody>
          <a:bodyPr>
            <a:normAutofit fontScale="77500" lnSpcReduction="20000"/>
          </a:bodyPr>
          <a:lstStyle/>
          <a:p>
            <a:r>
              <a:rPr lang="en-US"/>
              <a:t>Outbreak Management Solution</a:t>
            </a:r>
          </a:p>
        </p:txBody>
      </p:sp>
      <p:sp>
        <p:nvSpPr>
          <p:cNvPr id="5" name="Slide Number Placeholder 4">
            <a:extLst>
              <a:ext uri="{FF2B5EF4-FFF2-40B4-BE49-F238E27FC236}">
                <a16:creationId xmlns:a16="http://schemas.microsoft.com/office/drawing/2014/main" id="{9763E620-EC2F-9098-4C95-4B70A4378244}"/>
              </a:ext>
            </a:extLst>
          </p:cNvPr>
          <p:cNvSpPr>
            <a:spLocks noGrp="1"/>
          </p:cNvSpPr>
          <p:nvPr>
            <p:ph type="sldNum" sz="quarter" idx="4"/>
          </p:nvPr>
        </p:nvSpPr>
        <p:spPr/>
        <p:txBody>
          <a:bodyPr/>
          <a:lstStyle/>
          <a:p>
            <a:fld id="{2639BB91-5DDD-4FF0-AA8B-B54FEC5F3DC9}" type="slidenum">
              <a:rPr lang="en-US" smtClean="0"/>
              <a:t>17</a:t>
            </a:fld>
            <a:endParaRPr lang="en-US"/>
          </a:p>
        </p:txBody>
      </p:sp>
      <p:sp>
        <p:nvSpPr>
          <p:cNvPr id="2" name="Title 1">
            <a:extLst>
              <a:ext uri="{FF2B5EF4-FFF2-40B4-BE49-F238E27FC236}">
                <a16:creationId xmlns:a16="http://schemas.microsoft.com/office/drawing/2014/main" id="{B37F0894-D5A2-160A-4899-95DBB6A38869}"/>
              </a:ext>
            </a:extLst>
          </p:cNvPr>
          <p:cNvSpPr>
            <a:spLocks noGrp="1"/>
          </p:cNvSpPr>
          <p:nvPr>
            <p:ph type="title"/>
          </p:nvPr>
        </p:nvSpPr>
        <p:spPr>
          <a:xfrm>
            <a:off x="3267456" y="14531"/>
            <a:ext cx="5553710" cy="631646"/>
          </a:xfrm>
        </p:spPr>
        <p:txBody>
          <a:bodyPr>
            <a:normAutofit fontScale="90000"/>
          </a:bodyPr>
          <a:lstStyle/>
          <a:p>
            <a:pPr algn="r"/>
            <a:r>
              <a:rPr lang="en-US"/>
              <a:t>AOMS Case Counts</a:t>
            </a:r>
          </a:p>
        </p:txBody>
      </p:sp>
      <p:sp>
        <p:nvSpPr>
          <p:cNvPr id="3" name="Rounded Rectangle 2">
            <a:extLst>
              <a:ext uri="{FF2B5EF4-FFF2-40B4-BE49-F238E27FC236}">
                <a16:creationId xmlns:a16="http://schemas.microsoft.com/office/drawing/2014/main" id="{0C0DD403-B1F4-912A-448F-7DB190FB8BCE}"/>
              </a:ext>
            </a:extLst>
          </p:cNvPr>
          <p:cNvSpPr/>
          <p:nvPr/>
        </p:nvSpPr>
        <p:spPr>
          <a:xfrm>
            <a:off x="195138" y="660063"/>
            <a:ext cx="8916042" cy="6211751"/>
          </a:xfrm>
          <a:prstGeom prst="roundRect">
            <a:avLst>
              <a:gd name="adj" fmla="val 2501"/>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a:solidFill>
                  <a:schemeClr val="tx1"/>
                </a:solidFill>
              </a:rPr>
              <a:t>Alberta Outbreak Management System (AOMS)</a:t>
            </a:r>
          </a:p>
        </p:txBody>
      </p:sp>
      <p:sp>
        <p:nvSpPr>
          <p:cNvPr id="13" name="Rounded Rectangle 12">
            <a:extLst>
              <a:ext uri="{FF2B5EF4-FFF2-40B4-BE49-F238E27FC236}">
                <a16:creationId xmlns:a16="http://schemas.microsoft.com/office/drawing/2014/main" id="{3A1E7FA1-C7B9-9FF0-F353-66B225F33CD4}"/>
              </a:ext>
            </a:extLst>
          </p:cNvPr>
          <p:cNvSpPr/>
          <p:nvPr/>
        </p:nvSpPr>
        <p:spPr>
          <a:xfrm>
            <a:off x="253092" y="1448941"/>
            <a:ext cx="8581600" cy="5279087"/>
          </a:xfrm>
          <a:prstGeom prst="roundRect">
            <a:avLst>
              <a:gd name="adj" fmla="val 2501"/>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a:solidFill>
                <a:schemeClr val="accent5"/>
              </a:solidFill>
            </a:endParaRPr>
          </a:p>
        </p:txBody>
      </p:sp>
      <p:graphicFrame>
        <p:nvGraphicFramePr>
          <p:cNvPr id="6" name="Table 5">
            <a:extLst>
              <a:ext uri="{FF2B5EF4-FFF2-40B4-BE49-F238E27FC236}">
                <a16:creationId xmlns:a16="http://schemas.microsoft.com/office/drawing/2014/main" id="{F41466AA-3A3E-0586-04CD-8B60AA55E18D}"/>
              </a:ext>
            </a:extLst>
          </p:cNvPr>
          <p:cNvGraphicFramePr>
            <a:graphicFrameLocks noGrp="1"/>
          </p:cNvGraphicFramePr>
          <p:nvPr>
            <p:extLst>
              <p:ext uri="{D42A27DB-BD31-4B8C-83A1-F6EECF244321}">
                <p14:modId xmlns:p14="http://schemas.microsoft.com/office/powerpoint/2010/main" val="1940762006"/>
              </p:ext>
            </p:extLst>
          </p:nvPr>
        </p:nvGraphicFramePr>
        <p:xfrm>
          <a:off x="450733" y="3233699"/>
          <a:ext cx="7513500" cy="2085926"/>
        </p:xfrm>
        <a:graphic>
          <a:graphicData uri="http://schemas.openxmlformats.org/drawingml/2006/table">
            <a:tbl>
              <a:tblPr firstRow="1" bandRow="1">
                <a:tableStyleId>{073A0DAA-6AF3-43AB-8588-CEC1D06C72B9}</a:tableStyleId>
              </a:tblPr>
              <a:tblGrid>
                <a:gridCol w="2771176">
                  <a:extLst>
                    <a:ext uri="{9D8B030D-6E8A-4147-A177-3AD203B41FA5}">
                      <a16:colId xmlns:a16="http://schemas.microsoft.com/office/drawing/2014/main" val="3769881985"/>
                    </a:ext>
                  </a:extLst>
                </a:gridCol>
                <a:gridCol w="1430768">
                  <a:extLst>
                    <a:ext uri="{9D8B030D-6E8A-4147-A177-3AD203B41FA5}">
                      <a16:colId xmlns:a16="http://schemas.microsoft.com/office/drawing/2014/main" val="2643918030"/>
                    </a:ext>
                  </a:extLst>
                </a:gridCol>
                <a:gridCol w="1433181">
                  <a:extLst>
                    <a:ext uri="{9D8B030D-6E8A-4147-A177-3AD203B41FA5}">
                      <a16:colId xmlns:a16="http://schemas.microsoft.com/office/drawing/2014/main" val="78090"/>
                    </a:ext>
                  </a:extLst>
                </a:gridCol>
                <a:gridCol w="1878375">
                  <a:extLst>
                    <a:ext uri="{9D8B030D-6E8A-4147-A177-3AD203B41FA5}">
                      <a16:colId xmlns:a16="http://schemas.microsoft.com/office/drawing/2014/main" val="2695640772"/>
                    </a:ext>
                  </a:extLst>
                </a:gridCol>
              </a:tblGrid>
              <a:tr h="370840">
                <a:tc>
                  <a:txBody>
                    <a:bodyPr/>
                    <a:lstStyle/>
                    <a:p>
                      <a:endParaRPr lang="en-CA" sz="1600"/>
                    </a:p>
                  </a:txBody>
                  <a:tcPr/>
                </a:tc>
                <a:tc>
                  <a:txBody>
                    <a:bodyPr/>
                    <a:lstStyle/>
                    <a:p>
                      <a:r>
                        <a:rPr lang="en-US" sz="1600"/>
                        <a:t>Clients</a:t>
                      </a:r>
                      <a:endParaRPr lang="en-CA" sz="1600"/>
                    </a:p>
                  </a:txBody>
                  <a:tcPr/>
                </a:tc>
                <a:tc>
                  <a:txBody>
                    <a:bodyPr/>
                    <a:lstStyle/>
                    <a:p>
                      <a:r>
                        <a:rPr lang="en-US" sz="1600"/>
                        <a:t>Staff</a:t>
                      </a:r>
                      <a:endParaRPr lang="en-CA" sz="1600"/>
                    </a:p>
                  </a:txBody>
                  <a:tcPr/>
                </a:tc>
                <a:tc>
                  <a:txBody>
                    <a:bodyPr/>
                    <a:lstStyle/>
                    <a:p>
                      <a:r>
                        <a:rPr lang="en-US" sz="1600"/>
                        <a:t>Total</a:t>
                      </a:r>
                      <a:endParaRPr lang="en-CA" sz="1600"/>
                    </a:p>
                  </a:txBody>
                  <a:tcPr/>
                </a:tc>
                <a:extLst>
                  <a:ext uri="{0D108BD9-81ED-4DB2-BD59-A6C34878D82A}">
                    <a16:rowId xmlns:a16="http://schemas.microsoft.com/office/drawing/2014/main" val="2617673715"/>
                  </a:ext>
                </a:extLst>
              </a:tr>
              <a:tr h="338406">
                <a:tc>
                  <a:txBody>
                    <a:bodyPr/>
                    <a:lstStyle/>
                    <a:p>
                      <a:r>
                        <a:rPr lang="en-US" sz="1600"/>
                        <a:t>Total Suspects Cases</a:t>
                      </a:r>
                      <a:endParaRPr lang="en-CA" sz="1600"/>
                    </a:p>
                  </a:txBody>
                  <a:tcPr/>
                </a:tc>
                <a:tc>
                  <a:txBody>
                    <a:bodyPr/>
                    <a:lstStyle/>
                    <a:p>
                      <a:endParaRPr lang="en-CA" sz="1600"/>
                    </a:p>
                  </a:txBody>
                  <a:tcPr/>
                </a:tc>
                <a:tc>
                  <a:txBody>
                    <a:bodyPr/>
                    <a:lstStyle/>
                    <a:p>
                      <a:endParaRPr lang="en-CA" sz="1600"/>
                    </a:p>
                  </a:txBody>
                  <a:tcPr/>
                </a:tc>
                <a:tc>
                  <a:txBody>
                    <a:bodyPr/>
                    <a:lstStyle/>
                    <a:p>
                      <a:endParaRPr lang="en-CA" sz="1600"/>
                    </a:p>
                  </a:txBody>
                  <a:tcPr/>
                </a:tc>
                <a:extLst>
                  <a:ext uri="{0D108BD9-81ED-4DB2-BD59-A6C34878D82A}">
                    <a16:rowId xmlns:a16="http://schemas.microsoft.com/office/drawing/2014/main" val="3006315859"/>
                  </a:ext>
                </a:extLst>
              </a:tr>
              <a:tr h="317770">
                <a:tc>
                  <a:txBody>
                    <a:bodyPr/>
                    <a:lstStyle/>
                    <a:p>
                      <a:r>
                        <a:rPr lang="en-US" sz="1600"/>
                        <a:t>Total Probable Cases</a:t>
                      </a:r>
                      <a:endParaRPr lang="en-CA" sz="1600"/>
                    </a:p>
                  </a:txBody>
                  <a:tcPr/>
                </a:tc>
                <a:tc>
                  <a:txBody>
                    <a:bodyPr/>
                    <a:lstStyle/>
                    <a:p>
                      <a:endParaRPr lang="en-CA" sz="1600"/>
                    </a:p>
                  </a:txBody>
                  <a:tcPr/>
                </a:tc>
                <a:tc>
                  <a:txBody>
                    <a:bodyPr/>
                    <a:lstStyle/>
                    <a:p>
                      <a:endParaRPr lang="en-CA" sz="1600"/>
                    </a:p>
                  </a:txBody>
                  <a:tcPr/>
                </a:tc>
                <a:tc>
                  <a:txBody>
                    <a:bodyPr/>
                    <a:lstStyle/>
                    <a:p>
                      <a:endParaRPr lang="en-CA" sz="1600"/>
                    </a:p>
                  </a:txBody>
                  <a:tcPr/>
                </a:tc>
                <a:extLst>
                  <a:ext uri="{0D108BD9-81ED-4DB2-BD59-A6C34878D82A}">
                    <a16:rowId xmlns:a16="http://schemas.microsoft.com/office/drawing/2014/main" val="1982438058"/>
                  </a:ext>
                </a:extLst>
              </a:tr>
              <a:tr h="326201">
                <a:tc>
                  <a:txBody>
                    <a:bodyPr/>
                    <a:lstStyle/>
                    <a:p>
                      <a:r>
                        <a:rPr lang="en-US" sz="1600"/>
                        <a:t>Cumulative Cases</a:t>
                      </a:r>
                      <a:endParaRPr lang="en-CA" sz="1600"/>
                    </a:p>
                  </a:txBody>
                  <a:tcPr/>
                </a:tc>
                <a:tc>
                  <a:txBody>
                    <a:bodyPr/>
                    <a:lstStyle/>
                    <a:p>
                      <a:endParaRPr lang="en-CA" sz="1600"/>
                    </a:p>
                  </a:txBody>
                  <a:tcPr/>
                </a:tc>
                <a:tc>
                  <a:txBody>
                    <a:bodyPr/>
                    <a:lstStyle/>
                    <a:p>
                      <a:endParaRPr lang="en-CA" sz="1600"/>
                    </a:p>
                  </a:txBody>
                  <a:tcPr/>
                </a:tc>
                <a:tc>
                  <a:txBody>
                    <a:bodyPr/>
                    <a:lstStyle/>
                    <a:p>
                      <a:endParaRPr lang="en-CA" sz="1600"/>
                    </a:p>
                  </a:txBody>
                  <a:tcPr/>
                </a:tc>
                <a:extLst>
                  <a:ext uri="{0D108BD9-81ED-4DB2-BD59-A6C34878D82A}">
                    <a16:rowId xmlns:a16="http://schemas.microsoft.com/office/drawing/2014/main" val="3955765100"/>
                  </a:ext>
                </a:extLst>
              </a:tr>
              <a:tr h="295721">
                <a:tc>
                  <a:txBody>
                    <a:bodyPr/>
                    <a:lstStyle/>
                    <a:p>
                      <a:r>
                        <a:rPr lang="en-US" sz="1600"/>
                        <a:t>Hospitalized Cases</a:t>
                      </a:r>
                      <a:endParaRPr lang="en-CA" sz="1600"/>
                    </a:p>
                  </a:txBody>
                  <a:tcPr/>
                </a:tc>
                <a:tc>
                  <a:txBody>
                    <a:bodyPr/>
                    <a:lstStyle/>
                    <a:p>
                      <a:endParaRPr lang="en-CA" sz="1600"/>
                    </a:p>
                  </a:txBody>
                  <a:tcPr/>
                </a:tc>
                <a:tc>
                  <a:txBody>
                    <a:bodyPr/>
                    <a:lstStyle/>
                    <a:p>
                      <a:endParaRPr lang="en-CA" sz="1600"/>
                    </a:p>
                  </a:txBody>
                  <a:tcPr/>
                </a:tc>
                <a:tc>
                  <a:txBody>
                    <a:bodyPr/>
                    <a:lstStyle/>
                    <a:p>
                      <a:endParaRPr lang="en-CA" sz="1600"/>
                    </a:p>
                  </a:txBody>
                  <a:tcPr/>
                </a:tc>
                <a:extLst>
                  <a:ext uri="{0D108BD9-81ED-4DB2-BD59-A6C34878D82A}">
                    <a16:rowId xmlns:a16="http://schemas.microsoft.com/office/drawing/2014/main" val="738596196"/>
                  </a:ext>
                </a:extLst>
              </a:tr>
              <a:tr h="370840">
                <a:tc>
                  <a:txBody>
                    <a:bodyPr/>
                    <a:lstStyle/>
                    <a:p>
                      <a:r>
                        <a:rPr lang="en-US" sz="1600"/>
                        <a:t>Deceased Cases</a:t>
                      </a:r>
                      <a:endParaRPr lang="en-CA" sz="1600"/>
                    </a:p>
                  </a:txBody>
                  <a:tcPr/>
                </a:tc>
                <a:tc>
                  <a:txBody>
                    <a:bodyPr/>
                    <a:lstStyle/>
                    <a:p>
                      <a:endParaRPr lang="en-CA" sz="1600"/>
                    </a:p>
                  </a:txBody>
                  <a:tcPr/>
                </a:tc>
                <a:tc>
                  <a:txBody>
                    <a:bodyPr/>
                    <a:lstStyle/>
                    <a:p>
                      <a:endParaRPr lang="en-CA" sz="1600"/>
                    </a:p>
                  </a:txBody>
                  <a:tcPr/>
                </a:tc>
                <a:tc>
                  <a:txBody>
                    <a:bodyPr/>
                    <a:lstStyle/>
                    <a:p>
                      <a:endParaRPr lang="en-CA" sz="1600"/>
                    </a:p>
                  </a:txBody>
                  <a:tcPr/>
                </a:tc>
                <a:extLst>
                  <a:ext uri="{0D108BD9-81ED-4DB2-BD59-A6C34878D82A}">
                    <a16:rowId xmlns:a16="http://schemas.microsoft.com/office/drawing/2014/main" val="100926432"/>
                  </a:ext>
                </a:extLst>
              </a:tr>
            </a:tbl>
          </a:graphicData>
        </a:graphic>
      </p:graphicFrame>
      <p:sp>
        <p:nvSpPr>
          <p:cNvPr id="12" name="TextBox 11">
            <a:extLst>
              <a:ext uri="{FF2B5EF4-FFF2-40B4-BE49-F238E27FC236}">
                <a16:creationId xmlns:a16="http://schemas.microsoft.com/office/drawing/2014/main" id="{0220A0E2-C140-406A-5F39-ACC29B71D6DC}"/>
              </a:ext>
            </a:extLst>
          </p:cNvPr>
          <p:cNvSpPr txBox="1"/>
          <p:nvPr/>
        </p:nvSpPr>
        <p:spPr>
          <a:xfrm>
            <a:off x="406161" y="1929113"/>
            <a:ext cx="987835" cy="369332"/>
          </a:xfrm>
          <a:prstGeom prst="rect">
            <a:avLst/>
          </a:prstGeom>
          <a:noFill/>
        </p:spPr>
        <p:txBody>
          <a:bodyPr wrap="none" rtlCol="0">
            <a:spAutoFit/>
          </a:bodyPr>
          <a:lstStyle/>
          <a:p>
            <a:r>
              <a:rPr lang="en-US"/>
              <a:t>Created</a:t>
            </a:r>
            <a:endParaRPr lang="en-CA"/>
          </a:p>
        </p:txBody>
      </p:sp>
      <p:sp>
        <p:nvSpPr>
          <p:cNvPr id="14" name="Rectangle 13">
            <a:extLst>
              <a:ext uri="{FF2B5EF4-FFF2-40B4-BE49-F238E27FC236}">
                <a16:creationId xmlns:a16="http://schemas.microsoft.com/office/drawing/2014/main" id="{E730BF44-7771-BE98-EF4E-F9755F2578A3}"/>
              </a:ext>
            </a:extLst>
          </p:cNvPr>
          <p:cNvSpPr/>
          <p:nvPr/>
        </p:nvSpPr>
        <p:spPr>
          <a:xfrm>
            <a:off x="1464086" y="1960240"/>
            <a:ext cx="1108364"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15" name="Graphic 14" descr="Daily calendar outline">
            <a:extLst>
              <a:ext uri="{FF2B5EF4-FFF2-40B4-BE49-F238E27FC236}">
                <a16:creationId xmlns:a16="http://schemas.microsoft.com/office/drawing/2014/main" id="{F7B58087-3BBF-8EBF-9795-D899E5794FB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04015" y="1930661"/>
            <a:ext cx="338586" cy="338586"/>
          </a:xfrm>
          <a:prstGeom prst="rect">
            <a:avLst/>
          </a:prstGeom>
        </p:spPr>
      </p:pic>
      <p:sp>
        <p:nvSpPr>
          <p:cNvPr id="16" name="TextBox 15">
            <a:extLst>
              <a:ext uri="{FF2B5EF4-FFF2-40B4-BE49-F238E27FC236}">
                <a16:creationId xmlns:a16="http://schemas.microsoft.com/office/drawing/2014/main" id="{4AA39186-4996-2D2B-64E9-C5F8ECEF6A0E}"/>
              </a:ext>
            </a:extLst>
          </p:cNvPr>
          <p:cNvSpPr txBox="1"/>
          <p:nvPr/>
        </p:nvSpPr>
        <p:spPr>
          <a:xfrm>
            <a:off x="2658425" y="1929113"/>
            <a:ext cx="1770100" cy="369332"/>
          </a:xfrm>
          <a:prstGeom prst="rect">
            <a:avLst/>
          </a:prstGeom>
          <a:noFill/>
        </p:spPr>
        <p:txBody>
          <a:bodyPr wrap="none" rtlCol="0">
            <a:spAutoFit/>
          </a:bodyPr>
          <a:lstStyle/>
          <a:p>
            <a:r>
              <a:rPr lang="en-US"/>
              <a:t>Outbreak Name</a:t>
            </a:r>
            <a:endParaRPr lang="en-CA"/>
          </a:p>
        </p:txBody>
      </p:sp>
      <p:sp>
        <p:nvSpPr>
          <p:cNvPr id="17" name="Rectangle 16">
            <a:extLst>
              <a:ext uri="{FF2B5EF4-FFF2-40B4-BE49-F238E27FC236}">
                <a16:creationId xmlns:a16="http://schemas.microsoft.com/office/drawing/2014/main" id="{AFEDAE3B-743B-BE3A-FE6F-0C1BB65F9B20}"/>
              </a:ext>
            </a:extLst>
          </p:cNvPr>
          <p:cNvSpPr/>
          <p:nvPr/>
        </p:nvSpPr>
        <p:spPr>
          <a:xfrm>
            <a:off x="4448624" y="1946944"/>
            <a:ext cx="1213674"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CA"/>
          </a:p>
        </p:txBody>
      </p:sp>
      <p:sp>
        <p:nvSpPr>
          <p:cNvPr id="18" name="TextBox 17">
            <a:extLst>
              <a:ext uri="{FF2B5EF4-FFF2-40B4-BE49-F238E27FC236}">
                <a16:creationId xmlns:a16="http://schemas.microsoft.com/office/drawing/2014/main" id="{17A41E8F-B402-E4D5-3EE4-DD1D855D2305}"/>
              </a:ext>
            </a:extLst>
          </p:cNvPr>
          <p:cNvSpPr txBox="1"/>
          <p:nvPr/>
        </p:nvSpPr>
        <p:spPr>
          <a:xfrm>
            <a:off x="403031" y="2733248"/>
            <a:ext cx="1052276" cy="369332"/>
          </a:xfrm>
          <a:prstGeom prst="rect">
            <a:avLst/>
          </a:prstGeom>
          <a:noFill/>
        </p:spPr>
        <p:txBody>
          <a:bodyPr wrap="none" rtlCol="0">
            <a:spAutoFit/>
          </a:bodyPr>
          <a:lstStyle/>
          <a:p>
            <a:r>
              <a:rPr lang="en-US"/>
              <a:t>Location</a:t>
            </a:r>
            <a:endParaRPr lang="en-CA"/>
          </a:p>
        </p:txBody>
      </p:sp>
      <p:sp>
        <p:nvSpPr>
          <p:cNvPr id="19" name="Rectangle 18">
            <a:extLst>
              <a:ext uri="{FF2B5EF4-FFF2-40B4-BE49-F238E27FC236}">
                <a16:creationId xmlns:a16="http://schemas.microsoft.com/office/drawing/2014/main" id="{435BC65B-E9CC-A7AC-FDDD-A4BCD3AF4456}"/>
              </a:ext>
            </a:extLst>
          </p:cNvPr>
          <p:cNvSpPr/>
          <p:nvPr/>
        </p:nvSpPr>
        <p:spPr>
          <a:xfrm>
            <a:off x="1555678" y="2801757"/>
            <a:ext cx="2216196"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CA"/>
          </a:p>
        </p:txBody>
      </p:sp>
      <p:sp>
        <p:nvSpPr>
          <p:cNvPr id="20" name="TextBox 19">
            <a:extLst>
              <a:ext uri="{FF2B5EF4-FFF2-40B4-BE49-F238E27FC236}">
                <a16:creationId xmlns:a16="http://schemas.microsoft.com/office/drawing/2014/main" id="{11D25EDF-4CF1-2A1E-1B43-22AA4C2F8123}"/>
              </a:ext>
            </a:extLst>
          </p:cNvPr>
          <p:cNvSpPr txBox="1"/>
          <p:nvPr/>
        </p:nvSpPr>
        <p:spPr>
          <a:xfrm>
            <a:off x="390649" y="2350430"/>
            <a:ext cx="1859868" cy="369332"/>
          </a:xfrm>
          <a:prstGeom prst="rect">
            <a:avLst/>
          </a:prstGeom>
          <a:noFill/>
        </p:spPr>
        <p:txBody>
          <a:bodyPr wrap="none" rtlCol="0">
            <a:spAutoFit/>
          </a:bodyPr>
          <a:lstStyle/>
          <a:p>
            <a:r>
              <a:rPr lang="en-US"/>
              <a:t>Outbreak Setting</a:t>
            </a:r>
            <a:endParaRPr lang="en-CA"/>
          </a:p>
        </p:txBody>
      </p:sp>
      <p:sp>
        <p:nvSpPr>
          <p:cNvPr id="21" name="Rectangle 20">
            <a:extLst>
              <a:ext uri="{FF2B5EF4-FFF2-40B4-BE49-F238E27FC236}">
                <a16:creationId xmlns:a16="http://schemas.microsoft.com/office/drawing/2014/main" id="{4108E703-13C6-78D7-6118-661D36A630C3}"/>
              </a:ext>
            </a:extLst>
          </p:cNvPr>
          <p:cNvSpPr/>
          <p:nvPr/>
        </p:nvSpPr>
        <p:spPr>
          <a:xfrm>
            <a:off x="2381585" y="2408120"/>
            <a:ext cx="2216196"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CA"/>
          </a:p>
        </p:txBody>
      </p:sp>
      <p:sp>
        <p:nvSpPr>
          <p:cNvPr id="22" name="TextBox 21">
            <a:extLst>
              <a:ext uri="{FF2B5EF4-FFF2-40B4-BE49-F238E27FC236}">
                <a16:creationId xmlns:a16="http://schemas.microsoft.com/office/drawing/2014/main" id="{4BA88069-2AA9-728E-B717-A1E35441EF62}"/>
              </a:ext>
            </a:extLst>
          </p:cNvPr>
          <p:cNvSpPr txBox="1"/>
          <p:nvPr/>
        </p:nvSpPr>
        <p:spPr>
          <a:xfrm>
            <a:off x="5733069" y="1881016"/>
            <a:ext cx="1382173" cy="369332"/>
          </a:xfrm>
          <a:prstGeom prst="rect">
            <a:avLst/>
          </a:prstGeom>
          <a:noFill/>
        </p:spPr>
        <p:txBody>
          <a:bodyPr wrap="none" rtlCol="0">
            <a:spAutoFit/>
          </a:bodyPr>
          <a:lstStyle/>
          <a:p>
            <a:r>
              <a:rPr lang="en-US"/>
              <a:t>Outbreak ID</a:t>
            </a:r>
            <a:endParaRPr lang="en-CA"/>
          </a:p>
        </p:txBody>
      </p:sp>
      <p:sp>
        <p:nvSpPr>
          <p:cNvPr id="23" name="Rectangle 22">
            <a:extLst>
              <a:ext uri="{FF2B5EF4-FFF2-40B4-BE49-F238E27FC236}">
                <a16:creationId xmlns:a16="http://schemas.microsoft.com/office/drawing/2014/main" id="{6894C9B9-9984-283A-DA4F-A37F9459D221}"/>
              </a:ext>
            </a:extLst>
          </p:cNvPr>
          <p:cNvSpPr/>
          <p:nvPr/>
        </p:nvSpPr>
        <p:spPr>
          <a:xfrm>
            <a:off x="7523268" y="1950301"/>
            <a:ext cx="1213674"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CA"/>
          </a:p>
        </p:txBody>
      </p:sp>
      <p:sp>
        <p:nvSpPr>
          <p:cNvPr id="24" name="TextBox 23">
            <a:extLst>
              <a:ext uri="{FF2B5EF4-FFF2-40B4-BE49-F238E27FC236}">
                <a16:creationId xmlns:a16="http://schemas.microsoft.com/office/drawing/2014/main" id="{5A52DB6D-60D4-E8B6-F54B-FCFDF1AC3242}"/>
              </a:ext>
            </a:extLst>
          </p:cNvPr>
          <p:cNvSpPr txBox="1"/>
          <p:nvPr/>
        </p:nvSpPr>
        <p:spPr>
          <a:xfrm>
            <a:off x="4595554" y="2353887"/>
            <a:ext cx="1964320" cy="369332"/>
          </a:xfrm>
          <a:prstGeom prst="rect">
            <a:avLst/>
          </a:prstGeom>
          <a:noFill/>
        </p:spPr>
        <p:txBody>
          <a:bodyPr wrap="none" rtlCol="0">
            <a:spAutoFit/>
          </a:bodyPr>
          <a:lstStyle/>
          <a:p>
            <a:r>
              <a:rPr lang="en-US"/>
              <a:t>Primary Organism</a:t>
            </a:r>
            <a:endParaRPr lang="en-CA"/>
          </a:p>
        </p:txBody>
      </p:sp>
      <p:sp>
        <p:nvSpPr>
          <p:cNvPr id="25" name="Rectangle 24">
            <a:extLst>
              <a:ext uri="{FF2B5EF4-FFF2-40B4-BE49-F238E27FC236}">
                <a16:creationId xmlns:a16="http://schemas.microsoft.com/office/drawing/2014/main" id="{ABB37331-693A-14C1-EE18-B6EE54808106}"/>
              </a:ext>
            </a:extLst>
          </p:cNvPr>
          <p:cNvSpPr/>
          <p:nvPr/>
        </p:nvSpPr>
        <p:spPr>
          <a:xfrm>
            <a:off x="6545076" y="2371445"/>
            <a:ext cx="2216196"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CA"/>
          </a:p>
        </p:txBody>
      </p:sp>
      <p:sp>
        <p:nvSpPr>
          <p:cNvPr id="27" name="TextBox 26">
            <a:extLst>
              <a:ext uri="{FF2B5EF4-FFF2-40B4-BE49-F238E27FC236}">
                <a16:creationId xmlns:a16="http://schemas.microsoft.com/office/drawing/2014/main" id="{A00BAB8D-3A9C-DDA1-B860-259AAC1662E8}"/>
              </a:ext>
            </a:extLst>
          </p:cNvPr>
          <p:cNvSpPr txBox="1"/>
          <p:nvPr/>
        </p:nvSpPr>
        <p:spPr>
          <a:xfrm>
            <a:off x="4208782" y="2775229"/>
            <a:ext cx="2316566" cy="369332"/>
          </a:xfrm>
          <a:prstGeom prst="rect">
            <a:avLst/>
          </a:prstGeom>
          <a:noFill/>
        </p:spPr>
        <p:txBody>
          <a:bodyPr wrap="square" rtlCol="0">
            <a:spAutoFit/>
          </a:bodyPr>
          <a:lstStyle/>
          <a:p>
            <a:pPr algn="r"/>
            <a:r>
              <a:rPr lang="en-US"/>
              <a:t>Secondary Organism</a:t>
            </a:r>
            <a:endParaRPr lang="en-CA"/>
          </a:p>
        </p:txBody>
      </p:sp>
      <p:sp>
        <p:nvSpPr>
          <p:cNvPr id="28" name="Rectangle 27">
            <a:extLst>
              <a:ext uri="{FF2B5EF4-FFF2-40B4-BE49-F238E27FC236}">
                <a16:creationId xmlns:a16="http://schemas.microsoft.com/office/drawing/2014/main" id="{2108D954-8005-FC97-79FD-7AB1CABAAD85}"/>
              </a:ext>
            </a:extLst>
          </p:cNvPr>
          <p:cNvSpPr/>
          <p:nvPr/>
        </p:nvSpPr>
        <p:spPr>
          <a:xfrm>
            <a:off x="6525348" y="2792786"/>
            <a:ext cx="2216196"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CA"/>
          </a:p>
        </p:txBody>
      </p:sp>
      <p:sp>
        <p:nvSpPr>
          <p:cNvPr id="42" name="TextBox 41">
            <a:extLst>
              <a:ext uri="{FF2B5EF4-FFF2-40B4-BE49-F238E27FC236}">
                <a16:creationId xmlns:a16="http://schemas.microsoft.com/office/drawing/2014/main" id="{E5A8577C-9820-F7BB-6C60-1956A853A5C2}"/>
              </a:ext>
            </a:extLst>
          </p:cNvPr>
          <p:cNvSpPr txBox="1"/>
          <p:nvPr/>
        </p:nvSpPr>
        <p:spPr>
          <a:xfrm>
            <a:off x="214461" y="996899"/>
            <a:ext cx="402674" cy="369332"/>
          </a:xfrm>
          <a:prstGeom prst="rect">
            <a:avLst/>
          </a:prstGeom>
          <a:noFill/>
        </p:spPr>
        <p:txBody>
          <a:bodyPr wrap="none" rtlCol="0">
            <a:spAutoFit/>
          </a:bodyPr>
          <a:lstStyle/>
          <a:p>
            <a:r>
              <a:rPr lang="en-US"/>
              <a:t>ID</a:t>
            </a:r>
            <a:endParaRPr lang="en-CA"/>
          </a:p>
        </p:txBody>
      </p:sp>
      <p:sp>
        <p:nvSpPr>
          <p:cNvPr id="43" name="Rectangle 42">
            <a:extLst>
              <a:ext uri="{FF2B5EF4-FFF2-40B4-BE49-F238E27FC236}">
                <a16:creationId xmlns:a16="http://schemas.microsoft.com/office/drawing/2014/main" id="{591383ED-F742-07D8-C2F0-72879EB90B73}"/>
              </a:ext>
            </a:extLst>
          </p:cNvPr>
          <p:cNvSpPr/>
          <p:nvPr/>
        </p:nvSpPr>
        <p:spPr>
          <a:xfrm>
            <a:off x="626260" y="1020763"/>
            <a:ext cx="802439"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4" name="TextBox 43">
            <a:extLst>
              <a:ext uri="{FF2B5EF4-FFF2-40B4-BE49-F238E27FC236}">
                <a16:creationId xmlns:a16="http://schemas.microsoft.com/office/drawing/2014/main" id="{A448C92A-B60A-C416-78DB-A4426453AA65}"/>
              </a:ext>
            </a:extLst>
          </p:cNvPr>
          <p:cNvSpPr txBox="1"/>
          <p:nvPr/>
        </p:nvSpPr>
        <p:spPr>
          <a:xfrm>
            <a:off x="1481726" y="996899"/>
            <a:ext cx="790601" cy="369332"/>
          </a:xfrm>
          <a:prstGeom prst="rect">
            <a:avLst/>
          </a:prstGeom>
          <a:noFill/>
        </p:spPr>
        <p:txBody>
          <a:bodyPr wrap="none" rtlCol="0">
            <a:spAutoFit/>
          </a:bodyPr>
          <a:lstStyle/>
          <a:p>
            <a:r>
              <a:rPr lang="en-US"/>
              <a:t>Name</a:t>
            </a:r>
            <a:endParaRPr lang="en-CA"/>
          </a:p>
        </p:txBody>
      </p:sp>
      <p:sp>
        <p:nvSpPr>
          <p:cNvPr id="45" name="Rectangle 44">
            <a:extLst>
              <a:ext uri="{FF2B5EF4-FFF2-40B4-BE49-F238E27FC236}">
                <a16:creationId xmlns:a16="http://schemas.microsoft.com/office/drawing/2014/main" id="{5970776A-6D77-1F2E-C09A-2A92ED4F0C00}"/>
              </a:ext>
            </a:extLst>
          </p:cNvPr>
          <p:cNvSpPr/>
          <p:nvPr/>
        </p:nvSpPr>
        <p:spPr>
          <a:xfrm>
            <a:off x="2272327" y="1016315"/>
            <a:ext cx="1213674"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CA"/>
          </a:p>
        </p:txBody>
      </p:sp>
      <p:sp>
        <p:nvSpPr>
          <p:cNvPr id="46" name="TextBox 45">
            <a:extLst>
              <a:ext uri="{FF2B5EF4-FFF2-40B4-BE49-F238E27FC236}">
                <a16:creationId xmlns:a16="http://schemas.microsoft.com/office/drawing/2014/main" id="{92FB500B-125B-F960-3740-955F66C52B6E}"/>
              </a:ext>
            </a:extLst>
          </p:cNvPr>
          <p:cNvSpPr txBox="1"/>
          <p:nvPr/>
        </p:nvSpPr>
        <p:spPr>
          <a:xfrm>
            <a:off x="3558399" y="978805"/>
            <a:ext cx="1048172" cy="369332"/>
          </a:xfrm>
          <a:prstGeom prst="rect">
            <a:avLst/>
          </a:prstGeom>
          <a:noFill/>
        </p:spPr>
        <p:txBody>
          <a:bodyPr wrap="none" rtlCol="0">
            <a:spAutoFit/>
          </a:bodyPr>
          <a:lstStyle/>
          <a:p>
            <a:r>
              <a:rPr lang="en-US"/>
              <a:t>Progress</a:t>
            </a:r>
            <a:endParaRPr lang="en-CA"/>
          </a:p>
        </p:txBody>
      </p:sp>
      <p:sp>
        <p:nvSpPr>
          <p:cNvPr id="47" name="Rectangle 46">
            <a:extLst>
              <a:ext uri="{FF2B5EF4-FFF2-40B4-BE49-F238E27FC236}">
                <a16:creationId xmlns:a16="http://schemas.microsoft.com/office/drawing/2014/main" id="{53E88781-FF64-44DA-46F0-FCA4FC19394F}"/>
              </a:ext>
            </a:extLst>
          </p:cNvPr>
          <p:cNvSpPr/>
          <p:nvPr/>
        </p:nvSpPr>
        <p:spPr>
          <a:xfrm>
            <a:off x="4597629" y="1032548"/>
            <a:ext cx="1213674"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CA"/>
          </a:p>
        </p:txBody>
      </p:sp>
      <p:sp>
        <p:nvSpPr>
          <p:cNvPr id="48" name="TextBox 47">
            <a:extLst>
              <a:ext uri="{FF2B5EF4-FFF2-40B4-BE49-F238E27FC236}">
                <a16:creationId xmlns:a16="http://schemas.microsoft.com/office/drawing/2014/main" id="{E8AE29CF-ADD4-6A30-271E-901A033F3CFA}"/>
              </a:ext>
            </a:extLst>
          </p:cNvPr>
          <p:cNvSpPr txBox="1"/>
          <p:nvPr/>
        </p:nvSpPr>
        <p:spPr>
          <a:xfrm>
            <a:off x="5853389" y="988554"/>
            <a:ext cx="1255472" cy="369332"/>
          </a:xfrm>
          <a:prstGeom prst="rect">
            <a:avLst/>
          </a:prstGeom>
          <a:noFill/>
        </p:spPr>
        <p:txBody>
          <a:bodyPr wrap="none" rtlCol="0">
            <a:spAutoFit/>
          </a:bodyPr>
          <a:lstStyle/>
          <a:p>
            <a:r>
              <a:rPr lang="en-US"/>
              <a:t>Resolution</a:t>
            </a:r>
            <a:endParaRPr lang="en-CA"/>
          </a:p>
        </p:txBody>
      </p:sp>
      <p:sp>
        <p:nvSpPr>
          <p:cNvPr id="49" name="Rectangle 48">
            <a:extLst>
              <a:ext uri="{FF2B5EF4-FFF2-40B4-BE49-F238E27FC236}">
                <a16:creationId xmlns:a16="http://schemas.microsoft.com/office/drawing/2014/main" id="{27B0C121-DAE6-31E7-3ED3-B1F8B775A75C}"/>
              </a:ext>
            </a:extLst>
          </p:cNvPr>
          <p:cNvSpPr/>
          <p:nvPr/>
        </p:nvSpPr>
        <p:spPr>
          <a:xfrm>
            <a:off x="7108861" y="998579"/>
            <a:ext cx="1213674" cy="304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CA"/>
          </a:p>
        </p:txBody>
      </p:sp>
      <p:grpSp>
        <p:nvGrpSpPr>
          <p:cNvPr id="50" name="Group 49">
            <a:extLst>
              <a:ext uri="{FF2B5EF4-FFF2-40B4-BE49-F238E27FC236}">
                <a16:creationId xmlns:a16="http://schemas.microsoft.com/office/drawing/2014/main" id="{A96422BA-97A4-3273-ED25-432F56C7D585}"/>
              </a:ext>
            </a:extLst>
          </p:cNvPr>
          <p:cNvGrpSpPr/>
          <p:nvPr/>
        </p:nvGrpSpPr>
        <p:grpSpPr>
          <a:xfrm>
            <a:off x="261875" y="1444108"/>
            <a:ext cx="8568073" cy="378649"/>
            <a:chOff x="314012" y="1028086"/>
            <a:chExt cx="8687316" cy="378649"/>
          </a:xfrm>
        </p:grpSpPr>
        <p:sp>
          <p:nvSpPr>
            <p:cNvPr id="51" name="Rounded Rectangle 6">
              <a:extLst>
                <a:ext uri="{FF2B5EF4-FFF2-40B4-BE49-F238E27FC236}">
                  <a16:creationId xmlns:a16="http://schemas.microsoft.com/office/drawing/2014/main" id="{629A271B-3B97-EDF2-8114-1994E3E82E34}"/>
                </a:ext>
              </a:extLst>
            </p:cNvPr>
            <p:cNvSpPr/>
            <p:nvPr/>
          </p:nvSpPr>
          <p:spPr>
            <a:xfrm>
              <a:off x="314012" y="1028086"/>
              <a:ext cx="2173164" cy="371856"/>
            </a:xfrm>
            <a:prstGeom prst="roundRect">
              <a:avLst/>
            </a:prstGeom>
            <a:solidFill>
              <a:schemeClr val="bg1">
                <a:lumMod val="85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600">
                  <a:solidFill>
                    <a:schemeClr val="tx1"/>
                  </a:solidFill>
                </a:rPr>
                <a:t>Search</a:t>
              </a:r>
            </a:p>
          </p:txBody>
        </p:sp>
        <p:sp>
          <p:nvSpPr>
            <p:cNvPr id="52" name="Rounded Rectangle 7">
              <a:extLst>
                <a:ext uri="{FF2B5EF4-FFF2-40B4-BE49-F238E27FC236}">
                  <a16:creationId xmlns:a16="http://schemas.microsoft.com/office/drawing/2014/main" id="{5C1C9E94-EC8C-2DB3-E840-3DDC3C347851}"/>
                </a:ext>
              </a:extLst>
            </p:cNvPr>
            <p:cNvSpPr/>
            <p:nvPr/>
          </p:nvSpPr>
          <p:spPr>
            <a:xfrm>
              <a:off x="2487176" y="1028086"/>
              <a:ext cx="2173164" cy="371856"/>
            </a:xfrm>
            <a:prstGeom prst="roundRect">
              <a:avLst/>
            </a:prstGeom>
            <a:solidFill>
              <a:schemeClr val="bg1">
                <a:lumMod val="75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600">
                  <a:solidFill>
                    <a:schemeClr val="tx1"/>
                  </a:solidFill>
                </a:rPr>
                <a:t>Investigation</a:t>
              </a:r>
            </a:p>
          </p:txBody>
        </p:sp>
        <p:sp>
          <p:nvSpPr>
            <p:cNvPr id="53" name="Rounded Rectangle 9">
              <a:extLst>
                <a:ext uri="{FF2B5EF4-FFF2-40B4-BE49-F238E27FC236}">
                  <a16:creationId xmlns:a16="http://schemas.microsoft.com/office/drawing/2014/main" id="{C8C15730-9C61-0317-EF08-6399F91C4D20}"/>
                </a:ext>
              </a:extLst>
            </p:cNvPr>
            <p:cNvSpPr/>
            <p:nvPr/>
          </p:nvSpPr>
          <p:spPr>
            <a:xfrm>
              <a:off x="4655001" y="1034879"/>
              <a:ext cx="2173164" cy="371856"/>
            </a:xfrm>
            <a:prstGeom prst="roundRect">
              <a:avLst/>
            </a:prstGeom>
            <a:solidFill>
              <a:schemeClr val="bg1">
                <a:lumMod val="85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600">
                  <a:solidFill>
                    <a:schemeClr val="tx1"/>
                  </a:solidFill>
                </a:rPr>
                <a:t>Tasks</a:t>
              </a:r>
            </a:p>
          </p:txBody>
        </p:sp>
        <p:sp>
          <p:nvSpPr>
            <p:cNvPr id="54" name="Rounded Rectangle 10">
              <a:extLst>
                <a:ext uri="{FF2B5EF4-FFF2-40B4-BE49-F238E27FC236}">
                  <a16:creationId xmlns:a16="http://schemas.microsoft.com/office/drawing/2014/main" id="{A3F60D44-A4F1-67A5-61ED-6D29A4F72881}"/>
                </a:ext>
              </a:extLst>
            </p:cNvPr>
            <p:cNvSpPr/>
            <p:nvPr/>
          </p:nvSpPr>
          <p:spPr>
            <a:xfrm>
              <a:off x="6828164" y="1034879"/>
              <a:ext cx="2173164" cy="371856"/>
            </a:xfrm>
            <a:prstGeom prst="roundRect">
              <a:avLst/>
            </a:prstGeom>
            <a:solidFill>
              <a:schemeClr val="bg1">
                <a:lumMod val="85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600">
                  <a:solidFill>
                    <a:schemeClr val="tx1"/>
                  </a:solidFill>
                </a:rPr>
                <a:t>Case Counts</a:t>
              </a:r>
            </a:p>
          </p:txBody>
        </p:sp>
      </p:grpSp>
      <p:pic>
        <p:nvPicPr>
          <p:cNvPr id="55" name="Graphic 54" descr="User with solid fill">
            <a:extLst>
              <a:ext uri="{FF2B5EF4-FFF2-40B4-BE49-F238E27FC236}">
                <a16:creationId xmlns:a16="http://schemas.microsoft.com/office/drawing/2014/main" id="{61F9D084-B678-35C6-7807-A588B85BEED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499307" y="705097"/>
            <a:ext cx="517187" cy="517187"/>
          </a:xfrm>
          <a:prstGeom prst="rect">
            <a:avLst/>
          </a:prstGeom>
        </p:spPr>
      </p:pic>
      <p:graphicFrame>
        <p:nvGraphicFramePr>
          <p:cNvPr id="8" name="Table 7">
            <a:extLst>
              <a:ext uri="{FF2B5EF4-FFF2-40B4-BE49-F238E27FC236}">
                <a16:creationId xmlns:a16="http://schemas.microsoft.com/office/drawing/2014/main" id="{488E5A7E-CF76-2BD9-9D93-AFE81B5D7D59}"/>
              </a:ext>
            </a:extLst>
          </p:cNvPr>
          <p:cNvGraphicFramePr>
            <a:graphicFrameLocks noGrp="1"/>
          </p:cNvGraphicFramePr>
          <p:nvPr>
            <p:extLst>
              <p:ext uri="{D42A27DB-BD31-4B8C-83A1-F6EECF244321}">
                <p14:modId xmlns:p14="http://schemas.microsoft.com/office/powerpoint/2010/main" val="1537157089"/>
              </p:ext>
            </p:extLst>
          </p:nvPr>
        </p:nvGraphicFramePr>
        <p:xfrm>
          <a:off x="450733" y="5420429"/>
          <a:ext cx="8135872" cy="684061"/>
        </p:xfrm>
        <a:graphic>
          <a:graphicData uri="http://schemas.openxmlformats.org/drawingml/2006/table">
            <a:tbl>
              <a:tblPr bandRow="1">
                <a:tableStyleId>{5C22544A-7EE6-4342-B048-85BDC9FD1C3A}</a:tableStyleId>
              </a:tblPr>
              <a:tblGrid>
                <a:gridCol w="1570597">
                  <a:extLst>
                    <a:ext uri="{9D8B030D-6E8A-4147-A177-3AD203B41FA5}">
                      <a16:colId xmlns:a16="http://schemas.microsoft.com/office/drawing/2014/main" val="1655645303"/>
                    </a:ext>
                  </a:extLst>
                </a:gridCol>
                <a:gridCol w="1200355">
                  <a:extLst>
                    <a:ext uri="{9D8B030D-6E8A-4147-A177-3AD203B41FA5}">
                      <a16:colId xmlns:a16="http://schemas.microsoft.com/office/drawing/2014/main" val="846084802"/>
                    </a:ext>
                  </a:extLst>
                </a:gridCol>
                <a:gridCol w="619850">
                  <a:extLst>
                    <a:ext uri="{9D8B030D-6E8A-4147-A177-3AD203B41FA5}">
                      <a16:colId xmlns:a16="http://schemas.microsoft.com/office/drawing/2014/main" val="2353688133"/>
                    </a:ext>
                  </a:extLst>
                </a:gridCol>
                <a:gridCol w="822327">
                  <a:extLst>
                    <a:ext uri="{9D8B030D-6E8A-4147-A177-3AD203B41FA5}">
                      <a16:colId xmlns:a16="http://schemas.microsoft.com/office/drawing/2014/main" val="3126927980"/>
                    </a:ext>
                  </a:extLst>
                </a:gridCol>
                <a:gridCol w="1307581">
                  <a:extLst>
                    <a:ext uri="{9D8B030D-6E8A-4147-A177-3AD203B41FA5}">
                      <a16:colId xmlns:a16="http://schemas.microsoft.com/office/drawing/2014/main" val="3773361127"/>
                    </a:ext>
                  </a:extLst>
                </a:gridCol>
                <a:gridCol w="1307581">
                  <a:extLst>
                    <a:ext uri="{9D8B030D-6E8A-4147-A177-3AD203B41FA5}">
                      <a16:colId xmlns:a16="http://schemas.microsoft.com/office/drawing/2014/main" val="2921988262"/>
                    </a:ext>
                  </a:extLst>
                </a:gridCol>
                <a:gridCol w="1307581">
                  <a:extLst>
                    <a:ext uri="{9D8B030D-6E8A-4147-A177-3AD203B41FA5}">
                      <a16:colId xmlns:a16="http://schemas.microsoft.com/office/drawing/2014/main" val="2746984410"/>
                    </a:ext>
                  </a:extLst>
                </a:gridCol>
              </a:tblGrid>
              <a:tr h="366999">
                <a:tc>
                  <a:txBody>
                    <a:bodyPr/>
                    <a:lstStyle/>
                    <a:p>
                      <a:pPr rtl="0" fontAlgn="base">
                        <a:lnSpc>
                          <a:spcPts val="900"/>
                        </a:lnSpc>
                        <a:buNone/>
                      </a:pPr>
                      <a:r>
                        <a:rPr lang="en-US" sz="1400" b="1">
                          <a:solidFill>
                            <a:srgbClr val="FFFFFF"/>
                          </a:solidFill>
                          <a:effectLst/>
                          <a:latin typeface="Aptos"/>
                        </a:rPr>
                        <a:t>Demographics</a:t>
                      </a:r>
                    </a:p>
                  </a:txBody>
                  <a:tcPr marL="36786" marR="36786" marT="18393" marB="18393"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5326" cap="flat" cmpd="sng" algn="ctr">
                      <a:solidFill>
                        <a:srgbClr val="FFFFFF"/>
                      </a:solidFill>
                      <a:prstDash val="solid"/>
                      <a:round/>
                      <a:headEnd type="none" w="med" len="med"/>
                      <a:tailEnd type="none" w="med" len="med"/>
                    </a:lnB>
                    <a:solidFill>
                      <a:srgbClr val="000000"/>
                    </a:solidFill>
                  </a:tcPr>
                </a:tc>
                <a:tc>
                  <a:txBody>
                    <a:bodyPr/>
                    <a:lstStyle/>
                    <a:p>
                      <a:pPr rtl="0" fontAlgn="base">
                        <a:lnSpc>
                          <a:spcPts val="900"/>
                        </a:lnSpc>
                        <a:buNone/>
                      </a:pPr>
                      <a:r>
                        <a:rPr lang="en-US" sz="1400" b="1">
                          <a:solidFill>
                            <a:srgbClr val="FFFFFF"/>
                          </a:solidFill>
                          <a:effectLst/>
                          <a:latin typeface="Aptos"/>
                        </a:rPr>
                        <a:t>Symptoms</a:t>
                      </a:r>
                    </a:p>
                  </a:txBody>
                  <a:tcPr marL="36786" marR="36786" marT="18393" marB="18393"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5326" cap="flat" cmpd="sng" algn="ctr">
                      <a:solidFill>
                        <a:srgbClr val="FFFFFF"/>
                      </a:solidFill>
                      <a:prstDash val="solid"/>
                      <a:round/>
                      <a:headEnd type="none" w="med" len="med"/>
                      <a:tailEnd type="none" w="med" len="med"/>
                    </a:lnB>
                    <a:solidFill>
                      <a:srgbClr val="000000"/>
                    </a:solidFill>
                  </a:tcPr>
                </a:tc>
                <a:tc>
                  <a:txBody>
                    <a:bodyPr/>
                    <a:lstStyle/>
                    <a:p>
                      <a:pPr rtl="0" fontAlgn="base">
                        <a:lnSpc>
                          <a:spcPts val="900"/>
                        </a:lnSpc>
                        <a:buNone/>
                      </a:pPr>
                      <a:r>
                        <a:rPr lang="en-US" sz="1400" b="1">
                          <a:solidFill>
                            <a:srgbClr val="FFFFFF"/>
                          </a:solidFill>
                          <a:effectLst/>
                          <a:latin typeface="Aptos" panose="020B0004020202020204" pitchFamily="34" charset="0"/>
                        </a:rPr>
                        <a:t>Lab</a:t>
                      </a:r>
                      <a:endParaRPr lang="en-US" sz="1400" b="1">
                        <a:solidFill>
                          <a:srgbClr val="FFFFFF"/>
                        </a:solidFill>
                        <a:effectLst/>
                      </a:endParaRPr>
                    </a:p>
                  </a:txBody>
                  <a:tcPr marL="36786" marR="36786" marT="18393" marB="18393"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5326" cap="flat" cmpd="sng" algn="ctr">
                      <a:solidFill>
                        <a:srgbClr val="FFFFFF"/>
                      </a:solidFill>
                      <a:prstDash val="solid"/>
                      <a:round/>
                      <a:headEnd type="none" w="med" len="med"/>
                      <a:tailEnd type="none" w="med" len="med"/>
                    </a:lnB>
                    <a:solidFill>
                      <a:srgbClr val="000000"/>
                    </a:solidFill>
                  </a:tcPr>
                </a:tc>
                <a:tc>
                  <a:txBody>
                    <a:bodyPr/>
                    <a:lstStyle/>
                    <a:p>
                      <a:pPr rtl="0" fontAlgn="base">
                        <a:lnSpc>
                          <a:spcPts val="900"/>
                        </a:lnSpc>
                        <a:buNone/>
                      </a:pPr>
                      <a:r>
                        <a:rPr lang="en-US" sz="1400" b="1">
                          <a:solidFill>
                            <a:srgbClr val="FFFFFF"/>
                          </a:solidFill>
                          <a:effectLst/>
                          <a:latin typeface="Aptos" panose="020B0004020202020204" pitchFamily="34" charset="0"/>
                        </a:rPr>
                        <a:t>Result</a:t>
                      </a:r>
                      <a:endParaRPr lang="en-US" sz="1400" b="1">
                        <a:solidFill>
                          <a:srgbClr val="FFFFFF"/>
                        </a:solidFill>
                        <a:effectLst/>
                      </a:endParaRPr>
                    </a:p>
                  </a:txBody>
                  <a:tcPr marL="36786" marR="36786" marT="18393" marB="18393"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5326" cap="flat" cmpd="sng" algn="ctr">
                      <a:solidFill>
                        <a:srgbClr val="FFFFFF"/>
                      </a:solidFill>
                      <a:prstDash val="solid"/>
                      <a:round/>
                      <a:headEnd type="none" w="med" len="med"/>
                      <a:tailEnd type="none" w="med" len="med"/>
                    </a:lnB>
                    <a:solidFill>
                      <a:srgbClr val="000000"/>
                    </a:solidFill>
                  </a:tcPr>
                </a:tc>
                <a:tc>
                  <a:txBody>
                    <a:bodyPr/>
                    <a:lstStyle/>
                    <a:p>
                      <a:pPr rtl="0" fontAlgn="base">
                        <a:lnSpc>
                          <a:spcPts val="900"/>
                        </a:lnSpc>
                        <a:buNone/>
                      </a:pPr>
                      <a:r>
                        <a:rPr lang="en-US" sz="1400" b="1">
                          <a:solidFill>
                            <a:srgbClr val="FFFFFF"/>
                          </a:solidFill>
                          <a:effectLst/>
                          <a:latin typeface="Aptos" panose="020B0004020202020204" pitchFamily="34" charset="0"/>
                        </a:rPr>
                        <a:t>Prophylaxis</a:t>
                      </a:r>
                      <a:endParaRPr lang="en-US" sz="1400" b="1">
                        <a:solidFill>
                          <a:srgbClr val="FFFFFF"/>
                        </a:solidFill>
                        <a:effectLst/>
                      </a:endParaRPr>
                    </a:p>
                  </a:txBody>
                  <a:tcPr marL="36786" marR="36786" marT="18393" marB="18393"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5326" cap="flat" cmpd="sng" algn="ctr">
                      <a:solidFill>
                        <a:srgbClr val="FFFFFF"/>
                      </a:solidFill>
                      <a:prstDash val="solid"/>
                      <a:round/>
                      <a:headEnd type="none" w="med" len="med"/>
                      <a:tailEnd type="none" w="med" len="med"/>
                    </a:lnB>
                    <a:solidFill>
                      <a:srgbClr val="000000"/>
                    </a:solidFill>
                  </a:tcPr>
                </a:tc>
                <a:tc>
                  <a:txBody>
                    <a:bodyPr/>
                    <a:lstStyle/>
                    <a:p>
                      <a:pPr rtl="0" fontAlgn="base">
                        <a:lnSpc>
                          <a:spcPts val="900"/>
                        </a:lnSpc>
                        <a:buNone/>
                      </a:pPr>
                      <a:r>
                        <a:rPr lang="en-US" sz="1400" b="1">
                          <a:solidFill>
                            <a:srgbClr val="FFFFFF"/>
                          </a:solidFill>
                          <a:effectLst/>
                          <a:latin typeface="Aptos" panose="020B0004020202020204" pitchFamily="34" charset="0"/>
                        </a:rPr>
                        <a:t>Vaccinated</a:t>
                      </a:r>
                      <a:endParaRPr lang="en-US" sz="1400" b="1">
                        <a:solidFill>
                          <a:srgbClr val="FFFFFF"/>
                        </a:solidFill>
                        <a:effectLst/>
                      </a:endParaRPr>
                    </a:p>
                  </a:txBody>
                  <a:tcPr marL="36786" marR="36786" marT="18393" marB="18393"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5326" cap="flat" cmpd="sng" algn="ctr">
                      <a:solidFill>
                        <a:srgbClr val="FFFFFF"/>
                      </a:solidFill>
                      <a:prstDash val="solid"/>
                      <a:round/>
                      <a:headEnd type="none" w="med" len="med"/>
                      <a:tailEnd type="none" w="med" len="med"/>
                    </a:lnB>
                    <a:solidFill>
                      <a:srgbClr val="000000"/>
                    </a:solidFill>
                  </a:tcPr>
                </a:tc>
                <a:tc>
                  <a:txBody>
                    <a:bodyPr/>
                    <a:lstStyle/>
                    <a:p>
                      <a:pPr lvl="0">
                        <a:lnSpc>
                          <a:spcPts val="900"/>
                        </a:lnSpc>
                        <a:buNone/>
                      </a:pPr>
                      <a:endParaRPr lang="en-US" sz="1400" b="1">
                        <a:solidFill>
                          <a:srgbClr val="FFFFFF"/>
                        </a:solidFill>
                        <a:effectLst/>
                        <a:latin typeface="Aptos"/>
                      </a:endParaRPr>
                    </a:p>
                  </a:txBody>
                  <a:tcPr marL="36785" marR="36785" marT="18392" marB="18392">
                    <a:lnL w="9525" cap="flat" cmpd="sng" algn="ctr">
                      <a:solidFill>
                        <a:srgbClr val="FFFFFF"/>
                      </a:solidFill>
                      <a:prstDash val="solid"/>
                      <a:round/>
                      <a:headEnd type="none" w="med" len="med"/>
                      <a:tailEnd type="none" w="med" len="med"/>
                    </a:lnL>
                    <a:lnR w="9524">
                      <a:solidFill>
                        <a:srgbClr val="FFFFFF"/>
                      </a:solidFill>
                    </a:lnR>
                    <a:lnT w="9524">
                      <a:solidFill>
                        <a:srgbClr val="FFFFFF"/>
                      </a:solidFill>
                    </a:lnT>
                    <a:lnB w="15325">
                      <a:solidFill>
                        <a:srgbClr val="FFFFFF"/>
                      </a:solidFill>
                    </a:lnB>
                    <a:solidFill>
                      <a:srgbClr val="000000"/>
                    </a:solidFill>
                  </a:tcPr>
                </a:tc>
                <a:extLst>
                  <a:ext uri="{0D108BD9-81ED-4DB2-BD59-A6C34878D82A}">
                    <a16:rowId xmlns:a16="http://schemas.microsoft.com/office/drawing/2014/main" val="1453503411"/>
                  </a:ext>
                </a:extLst>
              </a:tr>
              <a:tr h="317062">
                <a:tc>
                  <a:txBody>
                    <a:bodyPr/>
                    <a:lstStyle/>
                    <a:p>
                      <a:pPr fontAlgn="t">
                        <a:buNone/>
                      </a:pPr>
                      <a:endParaRPr lang="en-US" sz="1600">
                        <a:effectLst/>
                      </a:endParaRPr>
                    </a:p>
                  </a:txBody>
                  <a:tcPr marL="36786" marR="36786" marT="18393" marB="18393">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5326"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BCBCB"/>
                    </a:solidFill>
                  </a:tcPr>
                </a:tc>
                <a:tc>
                  <a:txBody>
                    <a:bodyPr/>
                    <a:lstStyle/>
                    <a:p>
                      <a:pPr fontAlgn="t">
                        <a:buNone/>
                      </a:pPr>
                      <a:endParaRPr lang="en-US" sz="1600">
                        <a:effectLst/>
                      </a:endParaRPr>
                    </a:p>
                  </a:txBody>
                  <a:tcPr marL="36786" marR="36786" marT="18393" marB="18393">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5326"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BCBCB"/>
                    </a:solidFill>
                  </a:tcPr>
                </a:tc>
                <a:tc>
                  <a:txBody>
                    <a:bodyPr/>
                    <a:lstStyle/>
                    <a:p>
                      <a:pPr rtl="0" fontAlgn="base">
                        <a:lnSpc>
                          <a:spcPts val="900"/>
                        </a:lnSpc>
                        <a:buNone/>
                      </a:pPr>
                      <a:r>
                        <a:rPr lang="en-US" sz="1600">
                          <a:effectLst/>
                          <a:latin typeface="Aptos" panose="020B0004020202020204" pitchFamily="34" charset="0"/>
                        </a:rPr>
                        <a:t>Y/N</a:t>
                      </a:r>
                      <a:endParaRPr lang="en-US" sz="1600">
                        <a:effectLst/>
                      </a:endParaRPr>
                    </a:p>
                  </a:txBody>
                  <a:tcPr marL="36786" marR="36786" marT="18393" marB="18393"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5326"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BCBCB"/>
                    </a:solidFill>
                  </a:tcPr>
                </a:tc>
                <a:tc>
                  <a:txBody>
                    <a:bodyPr/>
                    <a:lstStyle/>
                    <a:p>
                      <a:pPr rtl="0" fontAlgn="base">
                        <a:lnSpc>
                          <a:spcPts val="900"/>
                        </a:lnSpc>
                        <a:buNone/>
                      </a:pPr>
                      <a:r>
                        <a:rPr lang="en-US" sz="1600">
                          <a:effectLst/>
                          <a:latin typeface="Aptos" panose="020B0004020202020204" pitchFamily="34" charset="0"/>
                        </a:rPr>
                        <a:t>+/-</a:t>
                      </a:r>
                      <a:endParaRPr lang="en-US" sz="1600">
                        <a:effectLst/>
                      </a:endParaRPr>
                    </a:p>
                  </a:txBody>
                  <a:tcPr marL="36786" marR="36786" marT="18393" marB="18393"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5326"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BCBCB"/>
                    </a:solidFill>
                  </a:tcPr>
                </a:tc>
                <a:tc>
                  <a:txBody>
                    <a:bodyPr/>
                    <a:lstStyle/>
                    <a:p>
                      <a:pPr rtl="0" fontAlgn="base">
                        <a:lnSpc>
                          <a:spcPts val="900"/>
                        </a:lnSpc>
                        <a:buNone/>
                      </a:pPr>
                      <a:r>
                        <a:rPr lang="en-US" sz="1600">
                          <a:effectLst/>
                          <a:latin typeface="Aptos" panose="020B0004020202020204" pitchFamily="34" charset="0"/>
                        </a:rPr>
                        <a:t>Y/N</a:t>
                      </a:r>
                      <a:endParaRPr lang="en-US" sz="1600">
                        <a:effectLst/>
                      </a:endParaRPr>
                    </a:p>
                  </a:txBody>
                  <a:tcPr marL="36786" marR="36786" marT="18393" marB="18393"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5326"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BCBCB"/>
                    </a:solidFill>
                  </a:tcPr>
                </a:tc>
                <a:tc>
                  <a:txBody>
                    <a:bodyPr/>
                    <a:lstStyle/>
                    <a:p>
                      <a:pPr fontAlgn="t">
                        <a:buNone/>
                      </a:pPr>
                      <a:endParaRPr lang="en-US" sz="1600">
                        <a:effectLst/>
                      </a:endParaRPr>
                    </a:p>
                  </a:txBody>
                  <a:tcPr marL="36786" marR="36786" marT="18393" marB="18393">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5326"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BCBCB"/>
                    </a:solidFill>
                  </a:tcPr>
                </a:tc>
                <a:tc>
                  <a:txBody>
                    <a:bodyPr/>
                    <a:lstStyle/>
                    <a:p>
                      <a:pPr lvl="0">
                        <a:buNone/>
                      </a:pPr>
                      <a:endParaRPr lang="en-US" sz="1600">
                        <a:effectLst/>
                      </a:endParaRPr>
                    </a:p>
                  </a:txBody>
                  <a:tcPr marL="36785" marR="36785" marT="18392" marB="18392">
                    <a:lnL w="9525" cap="flat" cmpd="sng" algn="ctr">
                      <a:solidFill>
                        <a:srgbClr val="FFFFFF"/>
                      </a:solidFill>
                      <a:prstDash val="solid"/>
                      <a:round/>
                      <a:headEnd type="none" w="med" len="med"/>
                      <a:tailEnd type="none" w="med" len="med"/>
                    </a:lnL>
                    <a:lnR w="9524">
                      <a:solidFill>
                        <a:srgbClr val="FFFFFF"/>
                      </a:solidFill>
                    </a:lnR>
                    <a:lnT w="15325">
                      <a:solidFill>
                        <a:srgbClr val="FFFFFF"/>
                      </a:solidFill>
                    </a:lnT>
                    <a:lnB w="9524">
                      <a:solidFill>
                        <a:srgbClr val="FFFFFF"/>
                      </a:solidFill>
                    </a:lnB>
                    <a:solidFill>
                      <a:srgbClr val="CBCBCB"/>
                    </a:solidFill>
                  </a:tcPr>
                </a:tc>
                <a:extLst>
                  <a:ext uri="{0D108BD9-81ED-4DB2-BD59-A6C34878D82A}">
                    <a16:rowId xmlns:a16="http://schemas.microsoft.com/office/drawing/2014/main" val="3662207508"/>
                  </a:ext>
                </a:extLst>
              </a:tr>
            </a:tbl>
          </a:graphicData>
        </a:graphic>
      </p:graphicFrame>
      <p:sp>
        <p:nvSpPr>
          <p:cNvPr id="9" name="Rectangle 8">
            <a:extLst>
              <a:ext uri="{FF2B5EF4-FFF2-40B4-BE49-F238E27FC236}">
                <a16:creationId xmlns:a16="http://schemas.microsoft.com/office/drawing/2014/main" id="{766491D9-3F98-FE36-244F-986416F04FA9}"/>
              </a:ext>
            </a:extLst>
          </p:cNvPr>
          <p:cNvSpPr/>
          <p:nvPr/>
        </p:nvSpPr>
        <p:spPr>
          <a:xfrm>
            <a:off x="450733" y="6222228"/>
            <a:ext cx="8135871" cy="3651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Note to add non-people lab results</a:t>
            </a:r>
            <a:endParaRPr lang="en-CA"/>
          </a:p>
        </p:txBody>
      </p:sp>
    </p:spTree>
    <p:extLst>
      <p:ext uri="{BB962C8B-B14F-4D97-AF65-F5344CB8AC3E}">
        <p14:creationId xmlns:p14="http://schemas.microsoft.com/office/powerpoint/2010/main" val="40448256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vert="horz" lIns="91440" tIns="45720" rIns="91440" bIns="45720" rtlCol="0" anchor="t">
            <a:normAutofit/>
          </a:bodyPr>
          <a:lstStyle/>
          <a:p>
            <a:pPr marL="0" indent="0">
              <a:buNone/>
            </a:pPr>
            <a:r>
              <a:rPr lang="en-US" sz="1800" i="1">
                <a:solidFill>
                  <a:schemeClr val="accent5"/>
                </a:solidFill>
              </a:rPr>
              <a:t>Explain the key considerations that need to be actioned on, the high-level plan and next steps.</a:t>
            </a:r>
            <a:endParaRPr lang="en-US" sz="1800">
              <a:solidFill>
                <a:schemeClr val="accent5"/>
              </a:solidFill>
            </a:endParaRPr>
          </a:p>
          <a:p>
            <a:r>
              <a:rPr lang="en-US"/>
              <a:t>Moving from Design to Build</a:t>
            </a:r>
          </a:p>
          <a:p>
            <a:r>
              <a:rPr lang="en-US"/>
              <a:t>Screen-based prototype build specifications</a:t>
            </a:r>
          </a:p>
          <a:p>
            <a:r>
              <a:rPr lang="en-US"/>
              <a:t>Who should participate in the detailed specifications?</a:t>
            </a:r>
          </a:p>
          <a:p>
            <a:r>
              <a:rPr lang="en-US"/>
              <a:t>How can we engage the appropriate subject matter experts?</a:t>
            </a:r>
          </a:p>
          <a:p>
            <a:endParaRPr lang="en-US"/>
          </a:p>
        </p:txBody>
      </p:sp>
      <p:sp>
        <p:nvSpPr>
          <p:cNvPr id="4" name="Text Placeholder 3"/>
          <p:cNvSpPr>
            <a:spLocks noGrp="1"/>
          </p:cNvSpPr>
          <p:nvPr>
            <p:ph type="body" sz="quarter" idx="13"/>
          </p:nvPr>
        </p:nvSpPr>
        <p:spPr/>
        <p:txBody>
          <a:bodyPr>
            <a:normAutofit/>
          </a:bodyPr>
          <a:lstStyle/>
          <a:p>
            <a:r>
              <a:rPr lang="en-US"/>
              <a:t>SBAR – Recommendation</a:t>
            </a:r>
          </a:p>
        </p:txBody>
      </p:sp>
      <p:sp>
        <p:nvSpPr>
          <p:cNvPr id="5" name="Slide Number Placeholder 4"/>
          <p:cNvSpPr>
            <a:spLocks noGrp="1"/>
          </p:cNvSpPr>
          <p:nvPr>
            <p:ph type="sldNum" sz="quarter" idx="4"/>
          </p:nvPr>
        </p:nvSpPr>
        <p:spPr/>
        <p:txBody>
          <a:bodyPr/>
          <a:lstStyle/>
          <a:p>
            <a:fld id="{2639BB91-5DDD-4FF0-AA8B-B54FEC5F3DC9}" type="slidenum">
              <a:rPr lang="en-US" smtClean="0"/>
              <a:t>18</a:t>
            </a:fld>
            <a:endParaRPr lang="en-US"/>
          </a:p>
        </p:txBody>
      </p:sp>
      <p:sp>
        <p:nvSpPr>
          <p:cNvPr id="2" name="Title 1"/>
          <p:cNvSpPr>
            <a:spLocks noGrp="1"/>
          </p:cNvSpPr>
          <p:nvPr>
            <p:ph type="title"/>
          </p:nvPr>
        </p:nvSpPr>
        <p:spPr/>
        <p:txBody>
          <a:bodyPr>
            <a:normAutofit/>
          </a:bodyPr>
          <a:lstStyle/>
          <a:p>
            <a:r>
              <a:rPr lang="en-US"/>
              <a:t>Next Steps</a:t>
            </a:r>
          </a:p>
        </p:txBody>
      </p:sp>
    </p:spTree>
    <p:extLst>
      <p:ext uri="{BB962C8B-B14F-4D97-AF65-F5344CB8AC3E}">
        <p14:creationId xmlns:p14="http://schemas.microsoft.com/office/powerpoint/2010/main" val="26887067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t>Questions?</a:t>
            </a:r>
          </a:p>
        </p:txBody>
      </p:sp>
    </p:spTree>
    <p:extLst>
      <p:ext uri="{BB962C8B-B14F-4D97-AF65-F5344CB8AC3E}">
        <p14:creationId xmlns:p14="http://schemas.microsoft.com/office/powerpoint/2010/main" val="14347040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9689" y="1727900"/>
            <a:ext cx="8198662" cy="4256847"/>
          </a:xfrm>
        </p:spPr>
        <p:txBody>
          <a:bodyPr/>
          <a:lstStyle/>
          <a:p>
            <a:r>
              <a:rPr lang="en-US" i="1">
                <a:solidFill>
                  <a:schemeClr val="accent5"/>
                </a:solidFill>
              </a:rPr>
              <a:t>If required, keep a list of people involved in the consultation – potentially by date consulted.</a:t>
            </a:r>
            <a:endParaRPr lang="en-US">
              <a:solidFill>
                <a:schemeClr val="accent5"/>
              </a:solidFill>
            </a:endParaRPr>
          </a:p>
          <a:p>
            <a:r>
              <a:rPr lang="en-US"/>
              <a:t>[Enter text here]</a:t>
            </a:r>
          </a:p>
        </p:txBody>
      </p:sp>
      <p:sp>
        <p:nvSpPr>
          <p:cNvPr id="4" name="Text Placeholder 3"/>
          <p:cNvSpPr>
            <a:spLocks noGrp="1"/>
          </p:cNvSpPr>
          <p:nvPr>
            <p:ph type="body" sz="quarter" idx="13"/>
          </p:nvPr>
        </p:nvSpPr>
        <p:spPr/>
        <p:txBody>
          <a:bodyPr>
            <a:normAutofit/>
          </a:bodyPr>
          <a:lstStyle/>
          <a:p>
            <a:r>
              <a:rPr lang="en-US"/>
              <a:t>SBAR – People Consulted</a:t>
            </a:r>
          </a:p>
        </p:txBody>
      </p:sp>
      <p:sp>
        <p:nvSpPr>
          <p:cNvPr id="5" name="Slide Number Placeholder 4"/>
          <p:cNvSpPr>
            <a:spLocks noGrp="1"/>
          </p:cNvSpPr>
          <p:nvPr>
            <p:ph type="sldNum" sz="quarter" idx="4"/>
          </p:nvPr>
        </p:nvSpPr>
        <p:spPr/>
        <p:txBody>
          <a:bodyPr/>
          <a:lstStyle/>
          <a:p>
            <a:fld id="{2639BB91-5DDD-4FF0-AA8B-B54FEC5F3DC9}" type="slidenum">
              <a:rPr lang="en-US" smtClean="0"/>
              <a:t>20</a:t>
            </a:fld>
            <a:endParaRPr lang="en-US"/>
          </a:p>
        </p:txBody>
      </p:sp>
      <p:sp>
        <p:nvSpPr>
          <p:cNvPr id="2" name="Title 1"/>
          <p:cNvSpPr>
            <a:spLocks noGrp="1"/>
          </p:cNvSpPr>
          <p:nvPr>
            <p:ph type="title"/>
          </p:nvPr>
        </p:nvSpPr>
        <p:spPr>
          <a:xfrm>
            <a:off x="189689" y="723161"/>
            <a:ext cx="8198662" cy="1214248"/>
          </a:xfrm>
        </p:spPr>
        <p:txBody>
          <a:bodyPr>
            <a:normAutofit fontScale="90000"/>
          </a:bodyPr>
          <a:lstStyle/>
          <a:p>
            <a:r>
              <a:rPr lang="en-US"/>
              <a:t>People who contributed to the SBAR</a:t>
            </a:r>
          </a:p>
        </p:txBody>
      </p:sp>
    </p:spTree>
    <p:extLst>
      <p:ext uri="{BB962C8B-B14F-4D97-AF65-F5344CB8AC3E}">
        <p14:creationId xmlns:p14="http://schemas.microsoft.com/office/powerpoint/2010/main" val="763343127"/>
      </p:ext>
    </p:extLst>
  </p:cSld>
  <p:clrMapOvr>
    <a:masterClrMapping/>
  </p:clrMapOvr>
</p:sld>
</file>

<file path=ppt/theme/theme1.xml><?xml version="1.0" encoding="utf-8"?>
<a:theme xmlns:a="http://schemas.openxmlformats.org/drawingml/2006/main" name="Office Theme">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CD1A0F31277B940A5E0A1A047570F24" ma:contentTypeVersion="8" ma:contentTypeDescription="Create a new document." ma:contentTypeScope="" ma:versionID="5c8e192829681a14dbffadf20f161496">
  <xsd:schema xmlns:xsd="http://www.w3.org/2001/XMLSchema" xmlns:xs="http://www.w3.org/2001/XMLSchema" xmlns:p="http://schemas.microsoft.com/office/2006/metadata/properties" xmlns:ns2="d817561c-509c-4ad8-b6ff-a579fb9fdf70" targetNamespace="http://schemas.microsoft.com/office/2006/metadata/properties" ma:root="true" ma:fieldsID="ea699c4cae5f6b10c9224647ad5f2572" ns2:_="">
    <xsd:import namespace="d817561c-509c-4ad8-b6ff-a579fb9fdf7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GenerationTime" minOccurs="0"/>
                <xsd:element ref="ns2:MediaServiceEventHashCode"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817561c-509c-4ad8-b6ff-a579fb9fdf7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B347D90-7889-4659-BF2D-57F4D1E6B570}">
  <ds:schemaRefs>
    <ds:schemaRef ds:uri="d817561c-509c-4ad8-b6ff-a579fb9fdf7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8245EB98-81D3-4BF2-9C83-452048DCB1B8}">
  <ds:schemaRefs>
    <ds:schemaRef ds:uri="http://schemas.microsoft.com/sharepoint/v3/contenttype/forms"/>
  </ds:schemaRefs>
</ds:datastoreItem>
</file>

<file path=customXml/itemProps3.xml><?xml version="1.0" encoding="utf-8"?>
<ds:datastoreItem xmlns:ds="http://schemas.openxmlformats.org/officeDocument/2006/customXml" ds:itemID="{BD835E52-3E16-47EE-A947-85358620D103}">
  <ds:schemaRefs>
    <ds:schemaRef ds:uri="d817561c-509c-4ad8-b6ff-a579fb9fdf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On-screen Show (4:3)</PresentationFormat>
  <Slides>20</Slides>
  <Notes>16</Notes>
  <HiddenSlides>0</HiddenSlide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Communicable Disease Solution</vt:lpstr>
      <vt:lpstr>CDS Development Lifecycle</vt:lpstr>
      <vt:lpstr>What is a PowerPoint Prototype?</vt:lpstr>
      <vt:lpstr>Alberta Outbreak Management System</vt:lpstr>
      <vt:lpstr>Setting the AOMS Foundation</vt:lpstr>
      <vt:lpstr>AOMS User Maintenance</vt:lpstr>
      <vt:lpstr>AOMS Location Maintenance</vt:lpstr>
      <vt:lpstr>AOMS Disease Maintenance</vt:lpstr>
      <vt:lpstr>Outbreak Value Stream</vt:lpstr>
      <vt:lpstr>AOMS Search</vt:lpstr>
      <vt:lpstr>AOMS Create Outbreak</vt:lpstr>
      <vt:lpstr>AOMS Investigation Details</vt:lpstr>
      <vt:lpstr>AOMS Investigator Case Load</vt:lpstr>
      <vt:lpstr>AOMS Tasks or Activities</vt:lpstr>
      <vt:lpstr>AOMS Create Questionnaire</vt:lpstr>
      <vt:lpstr>AOMS Submit Questionnaire</vt:lpstr>
      <vt:lpstr>AOMS Case Counts</vt:lpstr>
      <vt:lpstr>Next Steps</vt:lpstr>
      <vt:lpstr>Questions?</vt:lpstr>
      <vt:lpstr>People who contributed to the SBAR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Alec Blair</dc:creator>
  <cp:keywords>SBAR;Alternatives</cp:keywords>
  <cp:revision>55</cp:revision>
  <dcterms:created xsi:type="dcterms:W3CDTF">2026-03-03T20:08:19Z</dcterms:created>
  <dcterms:modified xsi:type="dcterms:W3CDTF">2026-06-02T17:45:11Z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0x0101005CD1A0F31277B940A5E0A1A047570F24</vt:lpwstr>
  </property>
  <property fmtid="{D5CDD505-2E9C-101B-9397-08002B2CF9AE}" pid="3" name="Status">
    <vt:lpwstr>Draft</vt:lpwstr>
  </property>
</Properties>
</file>