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37160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1325880"/>
            <a:ext cx="594360" cy="594360"/>
          </a:xfrm>
          <a:prstGeom prst="diamond">
            <a:avLst/>
          </a:prstGeom>
          <a:solidFill>
            <a:srgbClr val="F4B83E"/>
          </a:solidFill>
          <a:ln/>
        </p:spPr>
      </p:sp>
      <p:sp>
        <p:nvSpPr>
          <p:cNvPr id="4" name="Shape 2"/>
          <p:cNvSpPr/>
          <p:nvPr/>
        </p:nvSpPr>
        <p:spPr>
          <a:xfrm>
            <a:off x="11612880" y="96012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0" y="173736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C0492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0" y="1618488"/>
            <a:ext cx="777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292840" y="1618488"/>
            <a:ext cx="320040" cy="-4114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1292840" y="1618488"/>
            <a:ext cx="320040" cy="36576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 Communicable Disease Episode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8368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 Rose Logic Model — decision points, episode tasks &amp; close-reasons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Alberta Health Shared Services  ·  Community Care  ·  Public Health  ·  TB Prevention &amp; Control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Episode Journey —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episode per person. Opening = entry to care; a coloured close = exit. The Active/Latent attribute (set at determination) selects the downstream tasks.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7315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B5A5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71700" y="1074420"/>
            <a:ext cx="1600200" cy="96012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71700" y="107442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0540" y="1074420"/>
            <a:ext cx="1600200" cy="96012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0540" y="107442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23660" y="1051560"/>
            <a:ext cx="1691640" cy="100584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3660" y="10515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0" y="1554480"/>
            <a:ext cx="320040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76472" y="1554480"/>
            <a:ext cx="521208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493008" y="1207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25312" y="1554480"/>
            <a:ext cx="475488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614416" y="1207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19872" y="1444752"/>
            <a:ext cx="521208" cy="-118872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726680" y="1005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0" y="1042416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D8EAE8"/>
          </a:solidFill>
          <a:ln w="15875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32520" y="10424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TB path  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19872" y="1664208"/>
            <a:ext cx="521208" cy="576072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726680" y="22677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686800" y="1956816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D8EAE8"/>
          </a:solidFill>
          <a:ln w="15875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32520" y="19568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TBI path  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71800" y="2039112"/>
            <a:ext cx="0" cy="365760"/>
          </a:xfrm>
          <a:prstGeom prst="line">
            <a:avLst/>
          </a:prstGeom>
          <a:noFill/>
          <a:ln w="15875">
            <a:solidFill>
              <a:srgbClr val="8A99A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724912" y="21214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920240" y="2441448"/>
            <a:ext cx="2103120" cy="530352"/>
          </a:xfrm>
          <a:prstGeom prst="roundRect">
            <a:avLst>
              <a:gd name="adj" fmla="val 8621"/>
            </a:avLst>
          </a:prstGeom>
          <a:solidFill>
            <a:srgbClr val="E8ECEE"/>
          </a:solidFill>
          <a:ln w="15875">
            <a:solidFill>
              <a:srgbClr val="8A9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965960" y="24414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4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meet criteria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2039112"/>
            <a:ext cx="0" cy="365760"/>
          </a:xfrm>
          <a:prstGeom prst="line">
            <a:avLst/>
          </a:prstGeom>
          <a:noFill/>
          <a:ln w="15875">
            <a:solidFill>
              <a:srgbClr val="8A99A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873752" y="21214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69080" y="2441448"/>
            <a:ext cx="2103120" cy="530352"/>
          </a:xfrm>
          <a:prstGeom prst="roundRect">
            <a:avLst>
              <a:gd name="adj" fmla="val 8621"/>
            </a:avLst>
          </a:prstGeom>
          <a:solidFill>
            <a:srgbClr val="E8ECEE"/>
          </a:solidFill>
          <a:ln w="15875">
            <a:solidFill>
              <a:srgbClr val="8A9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114800" y="24414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4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not detected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1500" y="3429000"/>
            <a:ext cx="141732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B5A5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71500" y="34290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TB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0" y="3314700"/>
            <a:ext cx="1463040" cy="86868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560320" y="33147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initiated?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49140" y="3291840"/>
            <a:ext cx="1600200" cy="91440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49140" y="32918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done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tolerated?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675120" y="3314700"/>
            <a:ext cx="1463040" cy="86868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675120" y="33147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outcome?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993392" y="3749040"/>
            <a:ext cx="566928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023360" y="3749040"/>
            <a:ext cx="521208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3730752" y="34198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53912" y="3749040"/>
            <a:ext cx="521208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5852160" y="34198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138160" y="3657600"/>
            <a:ext cx="960120" cy="-201168"/>
          </a:xfrm>
          <a:prstGeom prst="line">
            <a:avLst/>
          </a:prstGeom>
          <a:noFill/>
          <a:ln w="17780">
            <a:solidFill>
              <a:srgbClr val="2E7D5B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138160" y="3840480"/>
            <a:ext cx="960120" cy="274320"/>
          </a:xfrm>
          <a:prstGeom prst="line">
            <a:avLst/>
          </a:prstGeom>
          <a:noFill/>
          <a:ln w="17780">
            <a:solidFill>
              <a:srgbClr val="C0492F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144000" y="3182112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DBEFE3"/>
          </a:solidFill>
          <a:ln w="15875">
            <a:solidFill>
              <a:srgbClr val="2E7D5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189720" y="31821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Cured / completed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144000" y="3831336"/>
            <a:ext cx="2651760" cy="566928"/>
          </a:xfrm>
          <a:prstGeom prst="roundRect">
            <a:avLst>
              <a:gd name="adj" fmla="val 8065"/>
            </a:avLst>
          </a:prstGeom>
          <a:solidFill>
            <a:srgbClr val="F8E2DD"/>
          </a:solidFill>
          <a:ln w="15875">
            <a:solidFill>
              <a:srgbClr val="C0492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189720" y="38313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Died · failed · LTFU · moved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TBI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71500" y="4800600"/>
            <a:ext cx="141732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B5A5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71500" y="4800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TBI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971800" y="4686300"/>
            <a:ext cx="1554480" cy="86868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971800" y="46863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accepted?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440680" y="4686300"/>
            <a:ext cx="1554480" cy="86868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440680" y="46863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completed?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993392" y="5120640"/>
            <a:ext cx="978408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526280" y="5120640"/>
            <a:ext cx="914400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4434840" y="47914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95160" y="5029200"/>
            <a:ext cx="2103120" cy="-228600"/>
          </a:xfrm>
          <a:prstGeom prst="line">
            <a:avLst/>
          </a:prstGeom>
          <a:noFill/>
          <a:ln w="17780">
            <a:solidFill>
              <a:srgbClr val="2E7D5B"/>
            </a:solidFill>
            <a:prstDash val="solid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7040880" y="46817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95160" y="5212080"/>
            <a:ext cx="2103120" cy="246888"/>
          </a:xfrm>
          <a:prstGeom prst="line">
            <a:avLst/>
          </a:prstGeom>
          <a:noFill/>
          <a:ln w="17780">
            <a:solidFill>
              <a:srgbClr val="C0492F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9144000" y="452628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DBEFE3"/>
          </a:solidFill>
          <a:ln w="15875">
            <a:solidFill>
              <a:srgbClr val="2E7D5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9189720" y="4526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TPT completed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144000" y="5184648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F8E2DD"/>
          </a:solidFill>
          <a:ln w="15875">
            <a:solidFill>
              <a:srgbClr val="C0492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189720" y="51846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/ not completed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" y="6355080"/>
            <a:ext cx="256032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1" name="Text 69"/>
          <p:cNvSpPr/>
          <p:nvPr/>
        </p:nvSpPr>
        <p:spPr>
          <a:xfrm>
            <a:off x="768096" y="63002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/ start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861718" y="6336792"/>
            <a:ext cx="219456" cy="219456"/>
          </a:xfrm>
          <a:prstGeom prst="diamond">
            <a:avLst/>
          </a:prstGeom>
          <a:solidFill>
            <a:srgbClr val="F4B83E"/>
          </a:solidFill>
          <a:ln/>
        </p:spPr>
      </p:sp>
      <p:sp>
        <p:nvSpPr>
          <p:cNvPr id="73" name="Text 71"/>
          <p:cNvSpPr/>
          <p:nvPr/>
        </p:nvSpPr>
        <p:spPr>
          <a:xfrm>
            <a:off x="2172614" y="63002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332074" y="63550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2E7D5B"/>
          </a:solidFill>
          <a:ln/>
        </p:spPr>
      </p:sp>
      <p:sp>
        <p:nvSpPr>
          <p:cNvPr id="75" name="Text 73"/>
          <p:cNvSpPr/>
          <p:nvPr/>
        </p:nvSpPr>
        <p:spPr>
          <a:xfrm>
            <a:off x="3642970" y="63002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close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934102" y="63550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8A99A0"/>
          </a:solidFill>
          <a:ln/>
        </p:spPr>
      </p:sp>
      <p:sp>
        <p:nvSpPr>
          <p:cNvPr id="77" name="Text 75"/>
          <p:cNvSpPr/>
          <p:nvPr/>
        </p:nvSpPr>
        <p:spPr>
          <a:xfrm>
            <a:off x="5244998" y="63002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exit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536131" y="63550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C0492F"/>
          </a:solidFill>
          <a:ln/>
        </p:spPr>
      </p:sp>
      <p:sp>
        <p:nvSpPr>
          <p:cNvPr id="79" name="Text 77"/>
          <p:cNvSpPr/>
          <p:nvPr/>
        </p:nvSpPr>
        <p:spPr>
          <a:xfrm>
            <a:off x="6847027" y="63002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attrition (cascade loss)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&amp; Determination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contact identification to the Active-vs-Latent decision. Cards above the spine are the tasks that move the episode to the next decision point.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3040380"/>
            <a:ext cx="1554480" cy="7772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B5A5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30403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03220" y="2903220"/>
            <a:ext cx="1691640" cy="105156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03220" y="29032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09260" y="2903220"/>
            <a:ext cx="1691640" cy="105156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09260" y="29032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infection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92440" y="2880360"/>
            <a:ext cx="1737360" cy="109728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92440" y="2880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20240" y="3429000"/>
            <a:ext cx="978408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99432" y="3429000"/>
            <a:ext cx="905256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503420" y="31181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05472" y="3429000"/>
            <a:ext cx="886968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109460" y="31181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257300" y="1234440"/>
            <a:ext cx="2377440" cy="1325880"/>
          </a:xfrm>
          <a:prstGeom prst="roundRect">
            <a:avLst>
              <a:gd name="adj" fmla="val 4138"/>
            </a:avLst>
          </a:prstGeom>
          <a:solidFill>
            <a:srgbClr val="E9F4F2"/>
          </a:solidFill>
          <a:ln w="12700">
            <a:solidFill>
              <a:srgbClr val="5AA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67028" y="1307592"/>
            <a:ext cx="217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episode on the contact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exposure &amp; risk factors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Source Care Abstract 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63340" y="1234440"/>
            <a:ext cx="2377440" cy="1325880"/>
          </a:xfrm>
          <a:prstGeom prst="roundRect">
            <a:avLst>
              <a:gd name="adj" fmla="val 4138"/>
            </a:avLst>
          </a:prstGeom>
          <a:solidFill>
            <a:srgbClr val="E9F4F2"/>
          </a:solidFill>
          <a:ln w="12700">
            <a:solidFill>
              <a:srgbClr val="5AA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73068" y="1307592"/>
            <a:ext cx="217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administer TST / IGRA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symptom screen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&amp; record result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69380" y="1234440"/>
            <a:ext cx="2377440" cy="1325880"/>
          </a:xfrm>
          <a:prstGeom prst="roundRect">
            <a:avLst>
              <a:gd name="adj" fmla="val 4138"/>
            </a:avLst>
          </a:prstGeom>
          <a:solidFill>
            <a:srgbClr val="E9F4F2"/>
          </a:solidFill>
          <a:ln w="12700">
            <a:solidFill>
              <a:srgbClr val="5AA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79108" y="1307592"/>
            <a:ext cx="217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evaluation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sputum if indicated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46020" y="2560320"/>
            <a:ext cx="0" cy="850392"/>
          </a:xfrm>
          <a:prstGeom prst="line">
            <a:avLst/>
          </a:prstGeom>
          <a:noFill/>
          <a:ln w="15875">
            <a:solidFill>
              <a:srgbClr val="5AA9A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52060" y="2560320"/>
            <a:ext cx="0" cy="850392"/>
          </a:xfrm>
          <a:prstGeom prst="line">
            <a:avLst/>
          </a:prstGeom>
          <a:noFill/>
          <a:ln w="15875">
            <a:solidFill>
              <a:srgbClr val="5AA9A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658100" y="2560320"/>
            <a:ext cx="0" cy="850392"/>
          </a:xfrm>
          <a:prstGeom prst="line">
            <a:avLst/>
          </a:prstGeom>
          <a:noFill/>
          <a:ln w="15875">
            <a:solidFill>
              <a:srgbClr val="5AA9A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749040" y="3977640"/>
            <a:ext cx="0" cy="932688"/>
          </a:xfrm>
          <a:prstGeom prst="line">
            <a:avLst/>
          </a:prstGeom>
          <a:noFill/>
          <a:ln w="15875">
            <a:solidFill>
              <a:srgbClr val="8A99A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520440" y="40599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68880" y="482346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E8ECEE"/>
          </a:solidFill>
          <a:ln w="15875">
            <a:solidFill>
              <a:srgbClr val="8A9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8234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4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closes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3E4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meet criteria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55080" y="3977640"/>
            <a:ext cx="0" cy="932688"/>
          </a:xfrm>
          <a:prstGeom prst="line">
            <a:avLst/>
          </a:prstGeom>
          <a:noFill/>
          <a:ln w="15875">
            <a:solidFill>
              <a:srgbClr val="8A99A0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126480" y="40599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52060" y="4823460"/>
            <a:ext cx="2606040" cy="777240"/>
          </a:xfrm>
          <a:prstGeom prst="roundRect">
            <a:avLst>
              <a:gd name="adj" fmla="val 5882"/>
            </a:avLst>
          </a:prstGeom>
          <a:solidFill>
            <a:srgbClr val="E8ECEE"/>
          </a:solidFill>
          <a:ln w="15875">
            <a:solidFill>
              <a:srgbClr val="8A9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97780" y="48234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4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not detected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3E4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at 8 wks if recent exposure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829800" y="3246120"/>
            <a:ext cx="1143000" cy="-914400"/>
          </a:xfrm>
          <a:prstGeom prst="line">
            <a:avLst/>
          </a:prstGeom>
          <a:noFill/>
          <a:ln w="22225">
            <a:solidFill>
              <a:srgbClr val="C0492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829800" y="3611880"/>
            <a:ext cx="1143000" cy="914400"/>
          </a:xfrm>
          <a:prstGeom prst="line">
            <a:avLst/>
          </a:prstGeom>
          <a:noFill/>
          <a:ln w="22225">
            <a:solidFill>
              <a:srgbClr val="0B5A5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418320" y="1911096"/>
            <a:ext cx="2651760" cy="841248"/>
          </a:xfrm>
          <a:prstGeom prst="roundRect">
            <a:avLst>
              <a:gd name="adj" fmla="val 5435"/>
            </a:avLst>
          </a:prstGeom>
          <a:solidFill>
            <a:srgbClr val="D8EAE8"/>
          </a:solidFill>
          <a:ln w="15875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464040" y="1911096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TB path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0B4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attribute = Active TB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418320" y="4105656"/>
            <a:ext cx="2651760" cy="841248"/>
          </a:xfrm>
          <a:prstGeom prst="roundRect">
            <a:avLst>
              <a:gd name="adj" fmla="val 5435"/>
            </a:avLst>
          </a:prstGeom>
          <a:solidFill>
            <a:srgbClr val="D8EAE8"/>
          </a:solidFill>
          <a:ln w="15875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464040" y="4105656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TB path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0B4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attribute = Latent TBI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 TB Infection — Preventive Treatment Path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attribute = Latent TBI drives this task set. Two decision points; loss before completion is the cascade attrition to watch.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2994660"/>
            <a:ext cx="1737360" cy="8686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B5A5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29946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TBI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000500" y="2903220"/>
            <a:ext cx="1783080" cy="105156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00500" y="29032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29500" y="2903220"/>
            <a:ext cx="1783080" cy="105156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29500" y="29032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03120" y="3429000"/>
            <a:ext cx="1892808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788152" y="3429000"/>
            <a:ext cx="1636776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057900" y="31181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217152" y="3429000"/>
            <a:ext cx="1618488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509760" y="31181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37360" y="123444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E9F4F2"/>
          </a:solidFill>
          <a:ln w="12700">
            <a:solidFill>
              <a:srgbClr val="5AA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47088" y="1307592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TPT eligibility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LFTs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 &amp; offer TPT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regimen (3HP / 4R / 9H)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80660" y="123444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E9F4F2"/>
          </a:solidFill>
          <a:ln w="12700">
            <a:solidFill>
              <a:srgbClr val="5AA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0388" y="1307592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TPT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doses (self-admin / DOT / VOT)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adherence &amp; hepatotoxicity monitoring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adverse events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63240" y="2560320"/>
            <a:ext cx="0" cy="850392"/>
          </a:xfrm>
          <a:prstGeom prst="line">
            <a:avLst/>
          </a:prstGeom>
          <a:noFill/>
          <a:ln w="15875">
            <a:solidFill>
              <a:srgbClr val="5AA9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606540" y="2560320"/>
            <a:ext cx="0" cy="850392"/>
          </a:xfrm>
          <a:prstGeom prst="line">
            <a:avLst/>
          </a:prstGeom>
          <a:noFill/>
          <a:ln w="15875">
            <a:solidFill>
              <a:srgbClr val="5AA9A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675620" y="2971800"/>
            <a:ext cx="1417320" cy="914400"/>
          </a:xfrm>
          <a:prstGeom prst="roundRect">
            <a:avLst>
              <a:gd name="adj" fmla="val 5000"/>
            </a:avLst>
          </a:prstGeom>
          <a:solidFill>
            <a:srgbClr val="DBEFE3"/>
          </a:solidFill>
          <a:ln w="15875">
            <a:solidFill>
              <a:srgbClr val="2E7D5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21340" y="29718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TPT completed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3977640"/>
            <a:ext cx="0" cy="932688"/>
          </a:xfrm>
          <a:prstGeom prst="line">
            <a:avLst/>
          </a:prstGeom>
          <a:noFill/>
          <a:ln w="15875">
            <a:solidFill>
              <a:srgbClr val="C0492F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636008" y="40599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03320" y="4837176"/>
            <a:ext cx="2377440" cy="749808"/>
          </a:xfrm>
          <a:prstGeom prst="roundRect">
            <a:avLst>
              <a:gd name="adj" fmla="val 6098"/>
            </a:avLst>
          </a:prstGeom>
          <a:solidFill>
            <a:srgbClr val="F8E2DD"/>
          </a:solidFill>
          <a:ln w="15875">
            <a:solidFill>
              <a:srgbClr val="C0492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49040" y="4837176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TPT declined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21040" y="3977640"/>
            <a:ext cx="0" cy="932688"/>
          </a:xfrm>
          <a:prstGeom prst="line">
            <a:avLst/>
          </a:prstGeom>
          <a:noFill/>
          <a:ln w="15875">
            <a:solidFill>
              <a:srgbClr val="C0492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065008" y="40599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4837176"/>
            <a:ext cx="2834640" cy="749808"/>
          </a:xfrm>
          <a:prstGeom prst="roundRect">
            <a:avLst>
              <a:gd name="adj" fmla="val 6098"/>
            </a:avLst>
          </a:prstGeom>
          <a:solidFill>
            <a:srgbClr val="F8E2DD"/>
          </a:solidFill>
          <a:ln w="15875">
            <a:solidFill>
              <a:srgbClr val="C0492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49440" y="483717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completed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7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 / lost to follow-up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TB Disease — Case Management Path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attribute = Active TB. Notifiable under the Public Health Act; confirming the case spawns a Contact Episode for each contact, linked back via the Abstract ID.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2994660"/>
            <a:ext cx="1645920" cy="8686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B5A5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29946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80360" y="2926080"/>
            <a:ext cx="1645920" cy="100584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80360" y="29260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initiated?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17820" y="2903220"/>
            <a:ext cx="1691640" cy="105156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17820" y="29032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done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tolerated?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78140" y="2926080"/>
            <a:ext cx="1691640" cy="1005840"/>
          </a:xfrm>
          <a:prstGeom prst="diamond">
            <a:avLst/>
          </a:prstGeom>
          <a:solidFill>
            <a:srgbClr val="F4B83E"/>
          </a:solidFill>
          <a:ln w="12700">
            <a:solidFill>
              <a:srgbClr val="C98A1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78140" y="29260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65960" y="3429000"/>
            <a:ext cx="914400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26280" y="3429000"/>
            <a:ext cx="886968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434840" y="31181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14032" y="3429000"/>
            <a:ext cx="859536" cy="0"/>
          </a:xfrm>
          <a:prstGeom prst="line">
            <a:avLst/>
          </a:prstGeom>
          <a:noFill/>
          <a:ln w="22225">
            <a:solidFill>
              <a:srgbClr val="0F2E3D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995160" y="31181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88720" y="1234440"/>
            <a:ext cx="2468880" cy="1325880"/>
          </a:xfrm>
          <a:prstGeom prst="roundRect">
            <a:avLst>
              <a:gd name="adj" fmla="val 4138"/>
            </a:avLst>
          </a:prstGeom>
          <a:solidFill>
            <a:srgbClr val="E9F4F2"/>
          </a:solidFill>
          <a:ln w="12700">
            <a:solidFill>
              <a:srgbClr val="5AA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98448" y="1307592"/>
            <a:ext cx="22677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dx — smear / culture, NAAT, DST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&amp; case classification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public health (Public Health Act)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Contact Episodes (link via Abstract ID)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94760" y="1234440"/>
            <a:ext cx="2377440" cy="1325880"/>
          </a:xfrm>
          <a:prstGeom prst="roundRect">
            <a:avLst>
              <a:gd name="adj" fmla="val 4138"/>
            </a:avLst>
          </a:prstGeom>
          <a:solidFill>
            <a:srgbClr val="E9F4F2"/>
          </a:solidFill>
          <a:ln w="12700">
            <a:solidFill>
              <a:srgbClr val="5AA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04488" y="1307592"/>
            <a:ext cx="217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regimen — intensive phase (RIPE)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observed therapy (DOT)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labs &amp; vision (ethambutol)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control / isolation as needed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1234440"/>
            <a:ext cx="2377440" cy="1325880"/>
          </a:xfrm>
          <a:prstGeom prst="roundRect">
            <a:avLst>
              <a:gd name="adj" fmla="val 4138"/>
            </a:avLst>
          </a:prstGeom>
          <a:solidFill>
            <a:srgbClr val="E9F4F2"/>
          </a:solidFill>
          <a:ln w="12700">
            <a:solidFill>
              <a:srgbClr val="5AA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64808" y="1307592"/>
            <a:ext cx="217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phase under DOT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cultures &amp; monitoring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contact follow-through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2560320"/>
            <a:ext cx="0" cy="850392"/>
          </a:xfrm>
          <a:prstGeom prst="line">
            <a:avLst/>
          </a:prstGeom>
          <a:noFill/>
          <a:ln w="15875">
            <a:solidFill>
              <a:srgbClr val="5AA9A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983480" y="2560320"/>
            <a:ext cx="0" cy="850392"/>
          </a:xfrm>
          <a:prstGeom prst="line">
            <a:avLst/>
          </a:prstGeom>
          <a:noFill/>
          <a:ln w="15875">
            <a:solidFill>
              <a:srgbClr val="5AA9A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43800" y="2560320"/>
            <a:ext cx="0" cy="850392"/>
          </a:xfrm>
          <a:prstGeom prst="line">
            <a:avLst/>
          </a:prstGeom>
          <a:noFill/>
          <a:ln w="15875">
            <a:solidFill>
              <a:srgbClr val="5AA9A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74352" y="3319272"/>
            <a:ext cx="1161288" cy="-347472"/>
          </a:xfrm>
          <a:prstGeom prst="line">
            <a:avLst/>
          </a:prstGeom>
          <a:noFill/>
          <a:ln w="19050">
            <a:solidFill>
              <a:srgbClr val="2E7D5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74352" y="3538728"/>
            <a:ext cx="1161288" cy="667512"/>
          </a:xfrm>
          <a:prstGeom prst="line">
            <a:avLst/>
          </a:prstGeom>
          <a:noFill/>
          <a:ln w="19050">
            <a:solidFill>
              <a:srgbClr val="C0492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584180" y="2651760"/>
            <a:ext cx="1508760" cy="640080"/>
          </a:xfrm>
          <a:prstGeom prst="roundRect">
            <a:avLst>
              <a:gd name="adj" fmla="val 7143"/>
            </a:avLst>
          </a:prstGeom>
          <a:solidFill>
            <a:srgbClr val="DBEFE3"/>
          </a:solidFill>
          <a:ln w="15875">
            <a:solidFill>
              <a:srgbClr val="2E7D5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629900" y="26517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Cured / completed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561320" y="381762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8E2DD"/>
          </a:solidFill>
          <a:ln w="15875">
            <a:solidFill>
              <a:srgbClr val="C0492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607040" y="38176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Died · failed · LTFU · moved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03320" y="3977640"/>
            <a:ext cx="0" cy="932688"/>
          </a:xfrm>
          <a:prstGeom prst="line">
            <a:avLst/>
          </a:prstGeom>
          <a:noFill/>
          <a:ln w="15875">
            <a:solidFill>
              <a:srgbClr val="C0492F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447288" y="40599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14600" y="4837176"/>
            <a:ext cx="2377440" cy="749808"/>
          </a:xfrm>
          <a:prstGeom prst="roundRect">
            <a:avLst>
              <a:gd name="adj" fmla="val 6098"/>
            </a:avLst>
          </a:prstGeom>
          <a:solidFill>
            <a:srgbClr val="F8E2DD"/>
          </a:solidFill>
          <a:ln w="15875">
            <a:solidFill>
              <a:srgbClr val="C0492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560320" y="4837176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not initiated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7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/ lost / deceased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3977640"/>
            <a:ext cx="0" cy="932688"/>
          </a:xfrm>
          <a:prstGeom prst="line">
            <a:avLst/>
          </a:prstGeom>
          <a:noFill/>
          <a:ln w="15875">
            <a:solidFill>
              <a:srgbClr val="C98A1E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099048" y="40599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74920" y="4837176"/>
            <a:ext cx="2377440" cy="749808"/>
          </a:xfrm>
          <a:prstGeom prst="roundRect">
            <a:avLst>
              <a:gd name="adj" fmla="val 6098"/>
            </a:avLst>
          </a:prstGeom>
          <a:solidFill>
            <a:srgbClr val="E8ECEE"/>
          </a:solidFill>
          <a:ln w="15875">
            <a:solidFill>
              <a:srgbClr val="8A9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120640" y="4837176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4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AEs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3E4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DST-guided regimen change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Conventions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logic model maps onto Compass Rose — the rules that make the cascade measurable.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877824"/>
          </a:xfrm>
          <a:prstGeom prst="roundRect">
            <a:avLst>
              <a:gd name="adj" fmla="val 5208"/>
            </a:avLst>
          </a:prstGeom>
          <a:solidFill>
            <a:srgbClr val="E9F4F2"/>
          </a:solidFill>
          <a:ln w="12700">
            <a:solidFill>
              <a:srgbClr val="5AA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27048"/>
            <a:ext cx="475488" cy="47548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380744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as enrolment   </a:t>
            </a:r>
            <a:pPr indent="0" marL="0">
              <a:buNone/>
            </a:pPr>
            <a:r>
              <a:rPr lang="en-US" sz="1150" dirty="0">
                <a:solidFill>
                  <a:srgbClr val="33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registry. Opening the episode is entry to care; closing it with a reason is the exit. The episode itself is the unit of the cascade.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1247120" cy="877824"/>
          </a:xfrm>
          <a:prstGeom prst="roundRect">
            <a:avLst>
              <a:gd name="adj" fmla="val 5208"/>
            </a:avLst>
          </a:prstGeom>
          <a:solidFill>
            <a:srgbClr val="F1F7F6"/>
          </a:solidFill>
          <a:ln w="12700">
            <a:solidFill>
              <a:srgbClr val="5AA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532888"/>
            <a:ext cx="475488" cy="47548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386584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Latent attribute   </a:t>
            </a:r>
            <a:pPr indent="0" marL="0">
              <a:buNone/>
            </a:pPr>
            <a:r>
              <a:rPr lang="en-US" sz="1150" dirty="0">
                <a:solidFill>
                  <a:srgbClr val="33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during determination and drives the task set &amp; targets. Mutable mid-episode (e.g. LTBI reactivation) with a logged change-reason, so it stays one thread.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11247120" cy="877824"/>
          </a:xfrm>
          <a:prstGeom prst="roundRect">
            <a:avLst>
              <a:gd name="adj" fmla="val 5208"/>
            </a:avLst>
          </a:prstGeom>
          <a:solidFill>
            <a:srgbClr val="E9F4F2"/>
          </a:solidFill>
          <a:ln w="12700">
            <a:solidFill>
              <a:srgbClr val="5AA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538728"/>
            <a:ext cx="475488" cy="47548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38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392424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Close-reason taxonomy   </a:t>
            </a:r>
            <a:pPr indent="0" marL="0">
              <a:buNone/>
            </a:pPr>
            <a:r>
              <a:rPr lang="en-US" sz="1150" dirty="0">
                <a:solidFill>
                  <a:srgbClr val="33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Success (cured / completed) · Appropriate exit (does not meet criteria) · True attrition (declined, lost to follow-up). Only the last is cascade loss.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11247120" cy="877824"/>
          </a:xfrm>
          <a:prstGeom prst="roundRect">
            <a:avLst>
              <a:gd name="adj" fmla="val 5208"/>
            </a:avLst>
          </a:prstGeom>
          <a:solidFill>
            <a:srgbClr val="F1F7F6"/>
          </a:solidFill>
          <a:ln w="12700">
            <a:solidFill>
              <a:srgbClr val="5AA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4544568"/>
            <a:ext cx="475488" cy="47548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544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398264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linkage   </a:t>
            </a:r>
            <a:pPr indent="0" marL="0">
              <a:buNone/>
            </a:pPr>
            <a:r>
              <a:rPr lang="en-US" sz="1150" dirty="0">
                <a:solidFill>
                  <a:srgbClr val="33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identified contact is its own episode. The Source Care Abstract ID stored on the Contact Abstract enables contact-investigation cascades &amp; transmission analysis.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11247120" cy="877824"/>
          </a:xfrm>
          <a:prstGeom prst="roundRect">
            <a:avLst>
              <a:gd name="adj" fmla="val 5208"/>
            </a:avLst>
          </a:prstGeom>
          <a:solidFill>
            <a:srgbClr val="E9F4F2"/>
          </a:solidFill>
          <a:ln w="12700">
            <a:solidFill>
              <a:srgbClr val="5AA9A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5550408"/>
            <a:ext cx="475488" cy="47548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550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404104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reporting   </a:t>
            </a:r>
            <a:pPr indent="0" marL="0">
              <a:buNone/>
            </a:pPr>
            <a:r>
              <a:rPr lang="en-US" sz="1150" dirty="0">
                <a:solidFill>
                  <a:srgbClr val="33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 funnel is simply the episode-status report; attrition is movement into the 'true attrition' close-reasons, sliceable by cohort, site or risk group.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 Communicable Disease Episode — Compass Rose Logic Model</dc:title>
  <dc:subject>PptxGenJS Presentation</dc:subject>
  <dc:creator>Alec Blair</dc:creator>
  <cp:lastModifiedBy>Alec Blair</cp:lastModifiedBy>
  <cp:revision>1</cp:revision>
  <dcterms:created xsi:type="dcterms:W3CDTF">2026-06-22T22:38:24Z</dcterms:created>
  <dcterms:modified xsi:type="dcterms:W3CDTF">2026-06-22T22:38:24Z</dcterms:modified>
</cp:coreProperties>
</file>