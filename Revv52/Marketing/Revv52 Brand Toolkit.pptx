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News Cycle"/>
      <p:regular r:id="rId31"/>
      <p:bold r:id="rId32"/>
    </p:embeddedFont>
    <p:embeddedFont>
      <p:font typeface="Pathway Gothic One"/>
      <p:regular r:id="rId33"/>
    </p:embeddedFont>
    <p:embeddedFont>
      <p:font typeface="Lato Black"/>
      <p:bold r:id="rId34"/>
      <p:boldItalic r:id="rId35"/>
    </p:embeddedFont>
    <p:embeddedFont>
      <p:font typeface="Lexen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8B68E6-0337-48F5-9DB1-D2E8D2B76E42}">
  <a:tblStyle styleId="{0A8B68E6-0337-48F5-9DB1-D2E8D2B76E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wsCycle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33" Type="http://schemas.openxmlformats.org/officeDocument/2006/relationships/font" Target="fonts/PathwayGothicOne-regular.fntdata"/><Relationship Id="rId10" Type="http://schemas.openxmlformats.org/officeDocument/2006/relationships/slide" Target="slides/slide5.xml"/><Relationship Id="rId32" Type="http://schemas.openxmlformats.org/officeDocument/2006/relationships/font" Target="fonts/NewsCycle-bold.fntdata"/><Relationship Id="rId13" Type="http://schemas.openxmlformats.org/officeDocument/2006/relationships/slide" Target="slides/slide8.xml"/><Relationship Id="rId35" Type="http://schemas.openxmlformats.org/officeDocument/2006/relationships/font" Target="fonts/LatoBlack-boldItalic.fntdata"/><Relationship Id="rId12" Type="http://schemas.openxmlformats.org/officeDocument/2006/relationships/slide" Target="slides/slide7.xml"/><Relationship Id="rId34" Type="http://schemas.openxmlformats.org/officeDocument/2006/relationships/font" Target="fonts/LatoBlack-bold.fntdata"/><Relationship Id="rId15" Type="http://schemas.openxmlformats.org/officeDocument/2006/relationships/slide" Target="slides/slide10.xml"/><Relationship Id="rId37" Type="http://schemas.openxmlformats.org/officeDocument/2006/relationships/font" Target="fonts/Lexend-bold.fntdata"/><Relationship Id="rId14" Type="http://schemas.openxmlformats.org/officeDocument/2006/relationships/slide" Target="slides/slide9.xml"/><Relationship Id="rId36" Type="http://schemas.openxmlformats.org/officeDocument/2006/relationships/font" Target="fonts/Lexen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Revision History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First draft shared with the Revv52 Marketing committee on November 28, 2022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8e7e3ff92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8e7e3ff92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a99bd7714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9a99bd7714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9a99bd771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9a99bd771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9a99bd7714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9a99bd7714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f23f5930b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f23f5930b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3151df4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f3151df4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8e7e3ff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8e7e3ff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9a99bd771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9a99bd771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a40e3d10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a40e3d10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a40e3d104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a40e3d10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48fd13cc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748fd13cc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4aa64793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4aa64793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b30f60ce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b30f60ce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a40e3d104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a40e3d104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9a99bd7714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9a99bd7714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9a99bd7714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9a99bd7714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254765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36414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2075" y="519455"/>
            <a:ext cx="4438991" cy="1616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60950" y="304800"/>
            <a:ext cx="6040800" cy="43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650" y="304800"/>
            <a:ext cx="1667890" cy="176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43434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33377" y="63525"/>
            <a:ext cx="2338875" cy="101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43434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46428" y="173100"/>
            <a:ext cx="2203550" cy="9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" name="Google Shape;4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8940" y="16350"/>
            <a:ext cx="1383317" cy="6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B7B7B7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43434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334225" y="2693194"/>
            <a:ext cx="8222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latin typeface="Lato Black"/>
                <a:ea typeface="Lato Black"/>
                <a:cs typeface="Lato Black"/>
                <a:sym typeface="Lato Black"/>
              </a:rPr>
              <a:t>Revv</a:t>
            </a:r>
            <a:r>
              <a:rPr lang="en" sz="3700">
                <a:latin typeface="Lato Black"/>
                <a:ea typeface="Lato Black"/>
                <a:cs typeface="Lato Black"/>
                <a:sym typeface="Lato Black"/>
              </a:rPr>
              <a:t>52 </a:t>
            </a:r>
            <a:r>
              <a:rPr lang="en" sz="3700">
                <a:latin typeface="Lato Black"/>
                <a:ea typeface="Lato Black"/>
                <a:cs typeface="Lato Black"/>
                <a:sym typeface="Lato Black"/>
              </a:rPr>
              <a:t>Brand Toolkit</a:t>
            </a:r>
            <a:endParaRPr sz="3700"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460950" y="405115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Guidance on how to best express Revv52 to our fans</a:t>
            </a:r>
            <a:endParaRPr b="1"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60950" y="304800"/>
            <a:ext cx="6223800" cy="18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Giving people a deeper understanding of </a:t>
            </a:r>
            <a:r>
              <a:rPr b="1" lang="en" sz="4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Revv</a:t>
            </a:r>
            <a:r>
              <a:rPr b="1" lang="en" sz="3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52</a:t>
            </a:r>
            <a:endParaRPr b="1" sz="1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14"/>
          <p:cNvSpPr txBox="1"/>
          <p:nvPr>
            <p:ph idx="4294967295" type="subTitle"/>
          </p:nvPr>
        </p:nvSpPr>
        <p:spPr>
          <a:xfrm>
            <a:off x="460950" y="2397725"/>
            <a:ext cx="8151600" cy="22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ato"/>
              <a:buChar char="●"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A brand is experiential. 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athway Gothic One"/>
              <a:buChar char="●"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It’s what people think of when </a:t>
            </a:r>
            <a:r>
              <a:rPr b="1" lang="en" sz="1900">
                <a:latin typeface="Lato"/>
                <a:ea typeface="Lato"/>
                <a:cs typeface="Lato"/>
                <a:sym typeface="Lato"/>
              </a:rPr>
              <a:t>Revv</a:t>
            </a:r>
            <a:r>
              <a:rPr lang="en" sz="1400">
                <a:latin typeface="Lato"/>
                <a:ea typeface="Lato"/>
                <a:cs typeface="Lato"/>
                <a:sym typeface="Lato"/>
              </a:rPr>
              <a:t>52</a:t>
            </a:r>
            <a:r>
              <a:rPr lang="en" sz="1900">
                <a:latin typeface="Lato"/>
                <a:ea typeface="Lato"/>
                <a:cs typeface="Lato"/>
                <a:sym typeface="Lato"/>
              </a:rPr>
              <a:t> is seen or mentioned. 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ato"/>
              <a:buChar char="●"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Our brand is the perception people have about what we do and how we do it.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Pathway Gothic One"/>
              <a:buChar char="●"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" sz="1900">
                <a:latin typeface="Lato"/>
                <a:ea typeface="Lato"/>
                <a:cs typeface="Lato"/>
                <a:sym typeface="Lato"/>
              </a:rPr>
              <a:t>Revv</a:t>
            </a:r>
            <a:r>
              <a:rPr lang="en" sz="1400">
                <a:latin typeface="Lato"/>
                <a:ea typeface="Lato"/>
                <a:cs typeface="Lato"/>
                <a:sym typeface="Lato"/>
              </a:rPr>
              <a:t>52</a:t>
            </a:r>
            <a:r>
              <a:rPr lang="en" sz="1900">
                <a:latin typeface="Lato"/>
                <a:ea typeface="Lato"/>
                <a:cs typeface="Lato"/>
                <a:sym typeface="Lato"/>
              </a:rPr>
              <a:t> mission, vision and values are expressed in our brand 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>
              <a:latin typeface="News Cycle"/>
              <a:ea typeface="News Cycle"/>
              <a:cs typeface="News Cycle"/>
              <a:sym typeface="News Cyc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45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52 Mission and Vision</a:t>
            </a:r>
            <a:endParaRPr sz="45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381000" rtl="0" algn="l">
              <a:lnSpc>
                <a:spcPct val="120375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Mission (DRAFT)</a:t>
            </a:r>
            <a:endParaRPr b="1" sz="24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Revv52 unites exceptional voices in fearless pursuit of </a:t>
            </a:r>
            <a:r>
              <a:rPr lang="en" sz="1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innovative</a:t>
            </a:r>
            <a:r>
              <a:rPr lang="en" sz="1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vocal artistry to deliver electrifying performances that energize audiences. </a:t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5"/>
          <p:cNvSpPr txBox="1"/>
          <p:nvPr>
            <p:ph idx="2" type="body"/>
          </p:nvPr>
        </p:nvSpPr>
        <p:spPr>
          <a:xfrm>
            <a:off x="46941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381000" rtl="0" algn="l">
              <a:lnSpc>
                <a:spcPct val="120375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Vision</a:t>
            </a:r>
            <a:endParaRPr b="1" sz="24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Canada's leader in innovative vocal arts</a:t>
            </a:r>
            <a:endParaRPr i="1" sz="3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2"/>
                </a:solidFill>
                <a:latin typeface="Lato Black"/>
                <a:ea typeface="Lato Black"/>
                <a:cs typeface="Lato Black"/>
                <a:sym typeface="Lato Black"/>
              </a:rPr>
              <a:t>Revv</a:t>
            </a:r>
            <a:r>
              <a:rPr lang="en" sz="2100">
                <a:solidFill>
                  <a:schemeClr val="lt2"/>
                </a:solidFill>
                <a:latin typeface="Lato Black"/>
                <a:ea typeface="Lato Black"/>
                <a:cs typeface="Lato Black"/>
                <a:sym typeface="Lato Black"/>
              </a:rPr>
              <a:t>52</a:t>
            </a:r>
            <a:r>
              <a:rPr lang="en" sz="2700">
                <a:solidFill>
                  <a:schemeClr val="lt2"/>
                </a:solidFill>
                <a:latin typeface="Lato Black"/>
                <a:ea typeface="Lato Black"/>
                <a:cs typeface="Lato Black"/>
                <a:sym typeface="Lato Black"/>
              </a:rPr>
              <a:t> Core Values</a:t>
            </a:r>
            <a:endParaRPr sz="2700">
              <a:solidFill>
                <a:schemeClr val="lt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As a group we value creativity, diversity, excellence, collaboration and community.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782575" y="148700"/>
            <a:ext cx="1371600" cy="137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We are artistically agile</a:t>
            </a:r>
            <a:endParaRPr sz="1600">
              <a:solidFill>
                <a:schemeClr val="lt2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341625" y="614050"/>
            <a:ext cx="1371600" cy="137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Our brand is widely recognized</a:t>
            </a:r>
            <a:endParaRPr sz="1600">
              <a:solidFill>
                <a:schemeClr val="lt2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985075" y="2087150"/>
            <a:ext cx="1371600" cy="137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We understand the evolving landscape</a:t>
            </a:r>
            <a:endParaRPr sz="16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910125" y="3560250"/>
            <a:ext cx="1371600" cy="137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The audience experience is dazzling</a:t>
            </a:r>
            <a:endParaRPr sz="16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585825" y="3560250"/>
            <a:ext cx="1371600" cy="137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Our structure is sustainable</a:t>
            </a:r>
            <a:endParaRPr sz="16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7631300" y="2087150"/>
            <a:ext cx="1371600" cy="137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We cherish our sense of fun</a:t>
            </a:r>
            <a:endParaRPr sz="16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7223525" y="614050"/>
            <a:ext cx="1371600" cy="137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We are mindful of our </a:t>
            </a:r>
            <a:r>
              <a:rPr b="1" lang="en" sz="1600">
                <a:solidFill>
                  <a:schemeClr val="lt2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1300">
                <a:solidFill>
                  <a:schemeClr val="lt2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52</a:t>
            </a:r>
            <a:r>
              <a:rPr lang="en" sz="1600">
                <a:solidFill>
                  <a:schemeClr val="lt2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family</a:t>
            </a:r>
            <a:endParaRPr sz="1600">
              <a:solidFill>
                <a:schemeClr val="lt2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913" y="1847854"/>
            <a:ext cx="1371600" cy="1447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226075" y="357800"/>
            <a:ext cx="2808000" cy="12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29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52 Strategic Goals and Initiatives</a:t>
            </a:r>
            <a:endParaRPr sz="29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226075" y="1694825"/>
            <a:ext cx="2808000" cy="29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The following strategic initiatives were developed as part of the 2022 Strategic Planning Sessions</a:t>
            </a:r>
            <a:endParaRPr sz="18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Note - there is a new Strategic Plan in the process of being finalized</a:t>
            </a:r>
            <a:endParaRPr i="1" sz="18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592650" y="357800"/>
            <a:ext cx="53079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rabicPeriod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Increasing diversification and discovery</a:t>
            </a:r>
            <a:endParaRPr b="1"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Internal and external diversification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Increased collaboration with different cultural communities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Have a diversity and inclusion committee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rabicPeriod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Enhancing </a:t>
            </a: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collaboration</a:t>
            </a: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and relationships</a:t>
            </a:r>
            <a:endParaRPr b="1"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Form a relationship team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Actively seek out relationships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Inter-group collaboration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rabicPeriod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Member development</a:t>
            </a:r>
            <a:endParaRPr b="1"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Enhance vocal coaching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Introduce workshops and master classes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AutoNum type="alphaLcPeriod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Enhance communication and connection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265500" y="1398000"/>
            <a:ext cx="4045200" cy="23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00"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5200">
                <a:latin typeface="Pathway Gothic One"/>
                <a:ea typeface="Pathway Gothic One"/>
                <a:cs typeface="Pathway Gothic One"/>
                <a:sym typeface="Pathway Gothic One"/>
              </a:rPr>
              <a:t>52 Logo, Font, colours and voice</a:t>
            </a:r>
            <a:endParaRPr sz="52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13" name="Google Shape;113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Creating consistency where we can with our Internet presence.</a:t>
            </a:r>
            <a:endParaRPr i="1" sz="33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4865400" y="2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Logo usage guidelines</a:t>
            </a:r>
            <a:endParaRPr b="1" sz="4500">
              <a:solidFill>
                <a:schemeClr val="lt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19" name="Google Shape;119;p19"/>
          <p:cNvSpPr txBox="1"/>
          <p:nvPr>
            <p:ph idx="4294967295" type="body"/>
          </p:nvPr>
        </p:nvSpPr>
        <p:spPr>
          <a:xfrm>
            <a:off x="4694250" y="1919075"/>
            <a:ext cx="3999900" cy="29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Pathway Gothic One"/>
              <a:buChar char="●"/>
            </a:pPr>
            <a:r>
              <a:rPr lang="en">
                <a:solidFill>
                  <a:srgbClr val="D9D9D9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Default logo colour is solid black</a:t>
            </a:r>
            <a:endParaRPr>
              <a:solidFill>
                <a:srgbClr val="D9D9D9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Pathway Gothic One"/>
              <a:buChar char="●"/>
            </a:pPr>
            <a:r>
              <a:rPr lang="en">
                <a:solidFill>
                  <a:srgbClr val="D9D9D9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A minimum clearance measuring half the </a:t>
            </a:r>
            <a:r>
              <a:rPr lang="en">
                <a:solidFill>
                  <a:srgbClr val="D9D9D9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height</a:t>
            </a:r>
            <a:r>
              <a:rPr lang="en">
                <a:solidFill>
                  <a:srgbClr val="D9D9D9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of the logo’s lower case letters is recommended</a:t>
            </a:r>
            <a:endParaRPr>
              <a:solidFill>
                <a:srgbClr val="D9D9D9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Pathway Gothic One"/>
              <a:buChar char="●"/>
            </a:pPr>
            <a:r>
              <a:rPr lang="en">
                <a:solidFill>
                  <a:srgbClr val="D9D9D9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The tagline “Canada’s Vocal Energy” should be included whenever possible</a:t>
            </a:r>
            <a:endParaRPr>
              <a:solidFill>
                <a:srgbClr val="D9D9D9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Pathway Gothic One"/>
              <a:buChar char="●"/>
            </a:pPr>
            <a:r>
              <a:rPr lang="en">
                <a:solidFill>
                  <a:srgbClr val="D9D9D9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Omit the tagline if the logo is smaller than 1” wide</a:t>
            </a:r>
            <a:endParaRPr>
              <a:solidFill>
                <a:srgbClr val="D9D9D9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00" y="277650"/>
            <a:ext cx="4237949" cy="44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3900">
                <a:latin typeface="Pathway Gothic One"/>
                <a:ea typeface="Pathway Gothic One"/>
                <a:cs typeface="Pathway Gothic One"/>
                <a:sym typeface="Pathway Gothic One"/>
              </a:rPr>
              <a:t>52 Brand Voice </a:t>
            </a:r>
            <a:endParaRPr sz="39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71900" y="1919075"/>
            <a:ext cx="81708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Pathway Gothic One"/>
                <a:ea typeface="Pathway Gothic One"/>
                <a:cs typeface="Pathway Gothic One"/>
                <a:sym typeface="Pathway Gothic One"/>
              </a:rPr>
              <a:t>Words to describe </a:t>
            </a:r>
            <a:r>
              <a:rPr b="1" lang="en" sz="3100"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2600">
                <a:latin typeface="Pathway Gothic One"/>
                <a:ea typeface="Pathway Gothic One"/>
                <a:cs typeface="Pathway Gothic One"/>
                <a:sym typeface="Pathway Gothic One"/>
              </a:rPr>
              <a:t>52</a:t>
            </a:r>
            <a:endParaRPr sz="26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graphicFrame>
        <p:nvGraphicFramePr>
          <p:cNvPr id="127" name="Google Shape;127;p20"/>
          <p:cNvGraphicFramePr/>
          <p:nvPr/>
        </p:nvGraphicFramePr>
        <p:xfrm>
          <a:off x="390000" y="271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{0A8B68E6-0337-48F5-9DB1-D2E8D2B76E42}</a:tableStyleId>
              </a:tblPr>
              <a:tblGrid>
                <a:gridCol w="2795300"/>
                <a:gridCol w="2795300"/>
                <a:gridCol w="2795300"/>
              </a:tblGrid>
              <a:tr h="59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Inspiring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Energized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Entertaining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Professional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Fun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Calgary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Singers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Performers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Pathway Gothic One"/>
                          <a:ea typeface="Pathway Gothic One"/>
                          <a:cs typeface="Pathway Gothic One"/>
                          <a:sym typeface="Pathway Gothic One"/>
                        </a:rPr>
                        <a:t>Popular Music</a:t>
                      </a:r>
                      <a:endParaRPr sz="3000">
                        <a:latin typeface="Pathway Gothic One"/>
                        <a:ea typeface="Pathway Gothic One"/>
                        <a:cs typeface="Pathway Gothic One"/>
                        <a:sym typeface="Pathway Gothic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3400">
                <a:latin typeface="Pathway Gothic One"/>
                <a:ea typeface="Pathway Gothic One"/>
                <a:cs typeface="Pathway Gothic One"/>
                <a:sym typeface="Pathway Gothic One"/>
              </a:rPr>
              <a:t>52</a:t>
            </a:r>
            <a:r>
              <a:rPr lang="en">
                <a:latin typeface="Pathway Gothic One"/>
                <a:ea typeface="Pathway Gothic One"/>
                <a:cs typeface="Pathway Gothic One"/>
                <a:sym typeface="Pathway Gothic One"/>
              </a:rPr>
              <a:t> Fonts</a:t>
            </a:r>
            <a:endParaRPr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71900" y="1919075"/>
            <a:ext cx="3999900" cy="29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Lato Normal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Pathway Gothic One"/>
              <a:buChar char="●"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Revv</a:t>
            </a:r>
            <a:r>
              <a:rPr lang="en" sz="1300">
                <a:latin typeface="Lato"/>
                <a:ea typeface="Lato"/>
                <a:cs typeface="Lato"/>
                <a:sym typeface="Lato"/>
              </a:rPr>
              <a:t>52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 (shrinking numbers) - used within text to avoid line spacing issues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Pathway Gothic One"/>
              <a:buChar char="●"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Revv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52 (enlarging letters) - should only be done at the beginning of a paragraph or in a title.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The Revv52 logo was created using the Trade Gothic Bold font available through Adobe where we want to align text with the logo specifically.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Font typeface="Lexend"/>
              <a:buChar char="●"/>
            </a:pPr>
            <a:r>
              <a:rPr lang="en" sz="1900">
                <a:latin typeface="Lato"/>
                <a:ea typeface="Lato"/>
                <a:cs typeface="Lato"/>
                <a:sym typeface="Lato"/>
              </a:rPr>
              <a:t>Using </a:t>
            </a:r>
            <a:r>
              <a:rPr b="1" i="1" lang="en" sz="1900">
                <a:latin typeface="Lato"/>
                <a:ea typeface="Lato"/>
                <a:cs typeface="Lato"/>
                <a:sym typeface="Lato"/>
              </a:rPr>
              <a:t>Google Fonts </a:t>
            </a:r>
            <a:r>
              <a:rPr lang="en" sz="1900">
                <a:latin typeface="Lato"/>
                <a:ea typeface="Lato"/>
                <a:cs typeface="Lato"/>
                <a:sym typeface="Lato"/>
              </a:rPr>
              <a:t>for open-source </a:t>
            </a:r>
            <a:r>
              <a:rPr lang="en" sz="1900">
                <a:latin typeface="Lato"/>
                <a:ea typeface="Lato"/>
                <a:cs typeface="Lato"/>
                <a:sym typeface="Lato"/>
              </a:rPr>
              <a:t>Truetype</a:t>
            </a:r>
            <a:r>
              <a:rPr lang="en" sz="1900">
                <a:latin typeface="Lato"/>
                <a:ea typeface="Lato"/>
                <a:cs typeface="Lato"/>
                <a:sym typeface="Lato"/>
              </a:rPr>
              <a:t> Fonts Pathway Gothic One</a:t>
            </a:r>
            <a:endParaRPr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4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52 Colour </a:t>
            </a:r>
            <a:r>
              <a:rPr lang="en" sz="4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Palette</a:t>
            </a:r>
            <a:endParaRPr sz="41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471900" y="1919075"/>
            <a:ext cx="4969500" cy="18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The colour palette for each Revv show can change quite dramatically (see 70th Anniversary posters on the right). Because of that, the standard </a:t>
            </a: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1600">
                <a:latin typeface="Pathway Gothic One"/>
                <a:ea typeface="Pathway Gothic One"/>
                <a:cs typeface="Pathway Gothic One"/>
                <a:sym typeface="Pathway Gothic One"/>
              </a:rPr>
              <a:t>52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colour palette is black and white with shades of grey with an accent red that matches our logo</a:t>
            </a:r>
            <a:endParaRPr sz="2000">
              <a:solidFill>
                <a:schemeClr val="dk2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471900" y="3916800"/>
            <a:ext cx="1245900" cy="76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R:245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G:245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B:245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#F0F0F0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1718088" y="3916800"/>
            <a:ext cx="1245900" cy="7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R:220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G:220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B:220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Hex:#DCDCDC</a:t>
            </a:r>
            <a:endParaRPr sz="1200"/>
          </a:p>
        </p:txBody>
      </p:sp>
      <p:sp>
        <p:nvSpPr>
          <p:cNvPr id="143" name="Google Shape;143;p22"/>
          <p:cNvSpPr/>
          <p:nvPr/>
        </p:nvSpPr>
        <p:spPr>
          <a:xfrm>
            <a:off x="2964276" y="3916800"/>
            <a:ext cx="1245900" cy="76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R:120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G:120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B:120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Hex: #787878</a:t>
            </a:r>
            <a:endParaRPr sz="1200"/>
          </a:p>
        </p:txBody>
      </p:sp>
      <p:sp>
        <p:nvSpPr>
          <p:cNvPr id="144" name="Google Shape;144;p22"/>
          <p:cNvSpPr/>
          <p:nvPr/>
        </p:nvSpPr>
        <p:spPr>
          <a:xfrm>
            <a:off x="4210464" y="3916800"/>
            <a:ext cx="1245900" cy="76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R:40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G:40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B:40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Hex: #282828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6450" y="1919075"/>
            <a:ext cx="1861199" cy="186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5456655" y="3916800"/>
            <a:ext cx="1245900" cy="76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R:199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G:29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B:34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Hex: #C71D22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4882375" y="18306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lt1"/>
                </a:solidFill>
              </a:rPr>
              <a:t>Revv</a:t>
            </a:r>
            <a:r>
              <a:rPr lang="en">
                <a:solidFill>
                  <a:schemeClr val="lt1"/>
                </a:solidFill>
              </a:rPr>
              <a:t>52 Brand on the Internet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25" y="247125"/>
            <a:ext cx="2184925" cy="8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825" y="3162406"/>
            <a:ext cx="1500688" cy="63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6314" y="2440475"/>
            <a:ext cx="2333780" cy="585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6075" y="911527"/>
            <a:ext cx="1253926" cy="125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5125" y="4177180"/>
            <a:ext cx="2914675" cy="6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0850" y="1260568"/>
            <a:ext cx="1253924" cy="1463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4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52 Social Media Image Sizes</a:t>
            </a:r>
            <a:endParaRPr sz="41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graphicFrame>
        <p:nvGraphicFramePr>
          <p:cNvPr id="163" name="Google Shape;163;p24"/>
          <p:cNvGraphicFramePr/>
          <p:nvPr/>
        </p:nvGraphicFramePr>
        <p:xfrm>
          <a:off x="743125" y="213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{0A8B68E6-0337-48F5-9DB1-D2E8D2B76E42}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Instagram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Facebook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LinkedIn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TikTok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Profile photo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320 x 320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170 x 170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400 x 400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400 x 400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 x 200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Landscape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556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1200 x 630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1024 x 512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1200 x 627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1920 x 1080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Portrait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1350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630 x 1200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1350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627 x 1200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1920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Square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1080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1200 x 1200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1080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1080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1080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1920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1920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1080 x 1920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Cover Photo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851 x 315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1500 x 1500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1128 x 191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4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52 Social Media Image Sizes</a:t>
            </a:r>
            <a:endParaRPr sz="41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Square (1:1) - works for most posts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Landscape (16:9) - Max 1,920 x 1,080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Portrait (9:16) - Max 1,080 x 1,920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FB Banner - 1,200 x 628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YT Banner - 1,280 x 1,152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Facebook is changing from a branding perspective as they make changes to mirror other social media channels. Need to stay on top of changes. </a:t>
            </a:r>
            <a:endParaRPr sz="18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3818125" y="1000625"/>
            <a:ext cx="28701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athway Gothic One"/>
                <a:ea typeface="Pathway Gothic One"/>
                <a:cs typeface="Pathway Gothic One"/>
                <a:sym typeface="Pathway Gothic One"/>
              </a:rPr>
              <a:t>Image Sizes</a:t>
            </a:r>
            <a:endParaRPr b="1"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athway Gothic One"/>
              <a:buChar char="●"/>
            </a:pPr>
            <a:r>
              <a:rPr lang="en" sz="1800">
                <a:latin typeface="Pathway Gothic One"/>
                <a:ea typeface="Pathway Gothic One"/>
                <a:cs typeface="Pathway Gothic One"/>
                <a:sym typeface="Pathway Gothic One"/>
              </a:rPr>
              <a:t>Profile Photo - 170 x 170</a:t>
            </a:r>
            <a:endParaRPr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athway Gothic One"/>
              <a:buChar char="●"/>
            </a:pPr>
            <a:r>
              <a:rPr lang="en" sz="1800">
                <a:latin typeface="Pathway Gothic One"/>
                <a:ea typeface="Pathway Gothic One"/>
                <a:cs typeface="Pathway Gothic One"/>
                <a:sym typeface="Pathway Gothic One"/>
              </a:rPr>
              <a:t>Cover Photo - 1200 x 628</a:t>
            </a:r>
            <a:endParaRPr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athway Gothic One"/>
                <a:ea typeface="Pathway Gothic One"/>
                <a:cs typeface="Pathway Gothic One"/>
                <a:sym typeface="Pathway Gothic One"/>
              </a:rPr>
              <a:t>Use of Logo</a:t>
            </a:r>
            <a:endParaRPr b="1"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athway Gothic One"/>
              <a:buChar char="●"/>
            </a:pPr>
            <a:r>
              <a:rPr lang="en" sz="1800">
                <a:latin typeface="Pathway Gothic One"/>
                <a:ea typeface="Pathway Gothic One"/>
                <a:cs typeface="Pathway Gothic One"/>
                <a:sym typeface="Pathway Gothic One"/>
              </a:rPr>
              <a:t>Watermark on photos where they are Revv pictures</a:t>
            </a:r>
            <a:endParaRPr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athway Gothic One"/>
                <a:ea typeface="Pathway Gothic One"/>
                <a:cs typeface="Pathway Gothic One"/>
                <a:sym typeface="Pathway Gothic One"/>
              </a:rPr>
              <a:t>Tags</a:t>
            </a:r>
            <a:endParaRPr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athway Gothic One"/>
                <a:ea typeface="Pathway Gothic One"/>
                <a:cs typeface="Pathway Gothic One"/>
                <a:sym typeface="Pathway Gothic One"/>
              </a:rPr>
              <a:t>Links</a:t>
            </a:r>
            <a:endParaRPr sz="18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25" y="247125"/>
            <a:ext cx="2808000" cy="1055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With Instagram being a part of Meta, there is much overlap with Facebook. Instagram is oriented more to images and videos - especially with Instagram Television (IGTV).</a:t>
            </a:r>
            <a:endParaRPr sz="18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3548225" y="213075"/>
            <a:ext cx="5066100" cy="47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Image Sizes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Profile Picture - 320 x 320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Post images - 1,080 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wide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with height as follows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○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Square (1:1) - 1,080 </a:t>
            </a:r>
            <a:r>
              <a:rPr i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(preferred)</a:t>
            </a:r>
            <a:endParaRPr i="1"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○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Portrait (4:5) - 1,350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○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Landscape (1.91:1) - 566 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Use of Logo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Watermark on photos where possible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Content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Images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- Mirrors the FB posts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Videos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- usually 20-30 second clips.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Stories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- 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Tags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112" y="213077"/>
            <a:ext cx="1253926" cy="125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Youtube is the primary channel for the Revv52 to be seen outside of in person performances. Largely videos, but may need to work on </a:t>
            </a: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consistency</a:t>
            </a: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for video thumbnails.</a:t>
            </a:r>
            <a:endParaRPr sz="18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3633475" y="291800"/>
            <a:ext cx="50661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Image Sizes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Profile Photo - 800 x 800 px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Banners - 2,048 x 1,152 px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Video thumbnail - 1,280 x 720 resolution using 16:9 aspect ratio. Needs to be less than 2MB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Use of Logo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Logo on video. Usually white stacked logo bottom right. Size =  1,280 x 720 (16:9 ratio)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Pathway Gothic One"/>
                <a:ea typeface="Pathway Gothic One"/>
                <a:cs typeface="Pathway Gothic One"/>
                <a:sym typeface="Pathway Gothic One"/>
              </a:rPr>
              <a:t>Fonts</a:t>
            </a:r>
            <a:endParaRPr b="1" sz="26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We want to stay consistent between videos within a playlist. 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Tags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Default tags - 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50" y="291795"/>
            <a:ext cx="2703626" cy="1136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226088" y="1173300"/>
            <a:ext cx="28080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The </a:t>
            </a:r>
            <a:r>
              <a:rPr b="1"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Revv</a:t>
            </a:r>
            <a:r>
              <a:rPr lang="en" sz="1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52</a:t>
            </a: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website is </a:t>
            </a: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where</a:t>
            </a:r>
            <a:r>
              <a:rPr lang="en" sz="18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most of the brand elements for the internet are combined into one.</a:t>
            </a:r>
            <a:endParaRPr sz="18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3624025" y="170550"/>
            <a:ext cx="5066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Image Sizes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Home Page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- A group image of as much of the cast as possible. Usually from the prior show. 2,000 x 900 and less than 800kb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Upcoming Shows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- 2,000 x 480 for the banner and square for the page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b="1"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Member Photos</a:t>
            </a: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- prefer square, but can be rectangular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rPr lang="en" sz="2000">
                <a:latin typeface="Pathway Gothic One"/>
                <a:ea typeface="Pathway Gothic One"/>
                <a:cs typeface="Pathway Gothic One"/>
                <a:sym typeface="Pathway Gothic One"/>
              </a:rPr>
              <a:t>  </a:t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athway Gothic One"/>
                <a:ea typeface="Pathway Gothic One"/>
                <a:cs typeface="Pathway Gothic One"/>
                <a:sym typeface="Pathway Gothic One"/>
              </a:rPr>
              <a:t>Use of logo, colour palette, etc.</a:t>
            </a: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thway Gothic One"/>
              <a:buChar char="●"/>
            </a:pPr>
            <a:r>
              <a:t/>
            </a:r>
            <a:endParaRPr sz="20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38" y="284155"/>
            <a:ext cx="2914675" cy="6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vv52">
  <a:themeElements>
    <a:clrScheme name="Material">
      <a:dk1>
        <a:srgbClr val="F0F0F0"/>
      </a:dk1>
      <a:lt1>
        <a:srgbClr val="DCDCDC"/>
      </a:lt1>
      <a:dk2>
        <a:srgbClr val="787878"/>
      </a:dk2>
      <a:lt2>
        <a:srgbClr val="282828"/>
      </a:lt2>
      <a:accent1>
        <a:srgbClr val="C71D22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